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0"/>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2000" cy="6858000" type="screen16x9"/>
  <p:notesSz cx="6858000" cy="9144000"/>
  <p:defaultTextStyle>
    <a:defPPr>
      <a:defRPr lang="ja-JP"/>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  <Relationship Id="rId20"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ja-JP"/>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ja-JP"/>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ja-JP"/>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ja-JP"/>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ja-JP"/>
          </a:p>
        </p:txBody>
      </p:sp>
    </p:spTree>
  </p:cSld>
  <p:clrMap bg1="lt1" tx1="dk1" bg2="lt2" tx2="dk2" accent1="accent1" accent2="accent2" accent3="accent3" accent4="accent4" accent5="accent5" accent6="accent6" hlink="hlink" folHlink="folHlink"/>
  <p:hf/>
  <p:notesStyle>
    <a:lvl1pPr marL="0" algn="l">
      <a:defRPr sz="1200" lang="ja-JP"/>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研究題目は「3次元動作制御に基づく食物画像編集」です。本研究は FoodStateEdit と呼ぶ、食物画像編集のための生成研究です。特に、麺やスープ、炒飯のように形が変わりやすい食物を、道具との接触から持ち上げまで一貫して制御することを目指します。本日は、相対三次元動作制御の考え方、現時点の実験結果、そして論文化までに残る検証を説明します。</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本研究の目的は、普通の食物写真に、食べる直前の視覚的な臨場感を加えることです。箸でつまむ、スプーンですくう、フォークで取り分けるといった操作状態を生成することで、見る人が味や食感、動きを想像しやすい画像表現を目指します。食品メニューや広告、レシピ、食育、デジタル創作への応用を想定しています。ここで扱うのは視覚表現であり、味覚刺激そのものを生成する研究ではありません。右のケーキは限定的な最終静止画成功例で、合成補助例です。</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既存の生成型画像編集では、箸と持ち上げる麺だけを変更したい場合でも、画像全体を再構成することがあります。この例では、右の出力は写真らしい一方、元画像と比べて画角、背景、器の位置、麺全体まで変化しています。そのため、編集結果と原画像の対応が崩れ、必要のない部分まで別の写真に見えてしまいます。本研究では、操作に必要な領域だけを変更し、背景、容器、構図などは原画像のまま保持することを目指します。これは同一入力・seed一の内部例であり、すべての画像編集モデルに対する一般的な結論ではありません。</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本研究では厳密成功を四つの観点で考えます。第一に正しい道具、第二に食物との接触、第三に食物が道具に追従して持ち上がること、第四に背景や容器が保たれることです。最終画像に箸やスプーンが描かれていても、この連鎖が崩れていれば操作成功とは言えません。そのため、接近、接触、持ち上げ、停留を段階として明示します。</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既存手法には異なる強みがあります。Qwen Image は静止画の写真品質、VACE は時間的に連続した生成、GeoEdit 系は幾何制御、SAM は対象領域の抽出に利用できます。本研究はこれらの基盤モデルそのものを置き換えるものではありません。食物、容器、道具の相対関係を表す代理制御と段階動作、さらに非編集領域の保持評価を追加する位置付けです。</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ここには二頁報告の図一を変更せず、そのまま拡大して示しています。左の入力は元画像、操作と材料の指定、編集マスクです。上段の赤い部分では、接触位置と相対深度を持つ三次元代理を作り、透視投影と可視性処理を経て、スープ、炒飯、ケーキに応じた制御系列へ変換します。下段では条件エンコーダから凍結したWan二・二 Fun A十四Bへ制御を渡します。今回の三材料比較ではLoRAとTTMを使用していません。最後に支持領域内だけを元画像へ合成し、編集出力を得ます。</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相対三次元代理は新しい拡散モデルではなく、FoodStateEditの前段に置く制御信号生成部です。入力画像から接触点、道具と食物の相対深度、接近から持ち上げまでの段階を設定し、透視投影によって二十一フレームの制御動画へ変換します。現在のedit maskはSAM出力ではありません。二十一フレームすべてについて、元画像から変化した代理画素を和集合し、その領域を膨張して境界を羽化したedit alphaを作ります。runnerは元画像をvace reference image、制御動画をvace video、edit alphaを全フレームへ複製したものをvace video maskとして、テキスト条件と一緒に凍結したWan二・二 VACEへ渡します。制御動画が「どこを、いつ、どう動かすか」、マスクが「どこを変更してよいか」を指定し、支持領域外は最終合成でも元画像に固定します。SAMは将来、食品や容器領域の初期候補を自動取得する補助として利用できますが、現行の生成経路には入っていません。</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ここでは同じスープ入力を三枚並べます。左が入力参照、中央がQwen Image、右がFoodStateEditです。目標動作を撮影した実画像の正解、つまりGround Truthは存在しないため、左は正解画像ではなく入力参照と明記しています。Qwenは写真らしいスプーンを生成しましたが、画角や背景も大きく再構成しました。FoodStateEditはスプーンですくう状態を追加し、支持領域外を保持しました。ただし、これは選択済み合成一例、seed一の内部比較であり、統計的優位性や実画像への一般化を示すものではありません。</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この頁は、以前の多例比較を戻したものです。上からラーメン、スープ、ケーキで、各行をInput、ChordEdit、Qwen Image、FoodStateEditの同じ順序で並べています。Qwen Imageは大きな操作状態を写真らしく作れる一方で、入力全体を再構成しやすい傾向があります。FoodStateEditは操作対象領域の変更と入力保持を両立させる方向ですが、ラーメンを含め品質はまだ均一ではありません。これらは選択済みseed一の内部定性比較で、目標動作の実画像Ground Truthはなく、統計的優位性や一般化を示すものではありません。</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公平な比較のため、同じ入力、同じシード、同じ生成条件で五つの条件を比較しました。対象は四つの食物ケース、シードは三つで、合計六十セルです。条件には原生入力、二次元平面代理、固定相対三次元、材質適応相対三次元などを含みます。評価は動作、写真品質、非編集領域保持、そして三つを同時に満たす厳密成功です。</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同じ入力に対する従来画像指標です。緑色の星付き最下段がFoodStateEditの提案手法です。Native VACEはPSNRとSSIMが最高ですが、これは編集量が小さいためであり、動作成功を示しません。FoodStateEditは比較したVACE系条件の中で編集領域内の変化量が最大で、領域外は完全に保持しました。Qwen Imageは写真らしい一方、画像全体を再構成するため領域外の平均誤差が大きくなりました。変化量そのものは動作成功率ではなく、選択済み開発データの入力保持と変更量の診断です。</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この頁は提案手法内部の消融実験だけを示します。四食物例、三種子で、各条件十二出力です。緑色の星付き行が材質適応relative3D、つまり提案手法です。提案手法は領域外を完全に保持しながら編集領域内の変化量が最大でした。一方、PSNRやSSIM、変更量だけでは道具の接触や持ち上げの正しさは判断できません。内部レビューではrelative3Dがplanarを安定して上回る結果や、材質適応が固定スケールを上回る結果はまだ得られていません。したがって、現時点の主張は明示制御の必要性と局所保持までに限定します。</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現状の課題と今後の予定をまとめます。成功例は選択済み合成画像に偏っており、実画像への一般化は未検証、動作・写真評価も内部非盲検で、接近から持ち上げまでの時系列接触も未確立です。既知のクリアブロス一サンプルは、制御付きベースVACEの静止状態成功であり、時系列成功や実画像への一般化を示すものではありません。次の目標は、held-out実画像四十件を同条件・複数seedで生成し、二〜三名でAction・Photo・Preservationを盲評して、bootstrap信頼区間と失敗分類から材質制御を修正することです。</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foodstateedit_nakamizo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ja-JP" smtClean="0"/>
              <a:t>1/27/13</a:t>
            </a:fld>
            <a:endParaRPr lang="ja-JP"/>
          </a:p>
        </p:txBody>
      </p:sp>
      <p:sp>
        <p:nvSpPr>
          <p:cNvPr id="3" name="Footer Placeholder 2"/>
          <p:cNvSpPr>
            <a:spLocks noGrp="1"/>
          </p:cNvSpPr>
          <p:nvPr>
            <p:ph type="ftr" sz="quarter" idx="11"/>
          </p:nvPr>
        </p:nvSpPr>
        <p:spPr/>
        <p:txBody>
          <a:bodyPr/>
          <a:lstStyle/>
          <a:p>
            <a:endParaRPr lang="ja-JP"/>
          </a:p>
        </p:txBody>
      </p:sp>
      <p:sp>
        <p:nvSpPr>
          <p:cNvPr id="4" name="Slide Number Placeholder 3"/>
          <p:cNvSpPr>
            <a:spLocks noGrp="1"/>
          </p:cNvSpPr>
          <p:nvPr>
            <p:ph type="sldNum" sz="quarter" idx="12"/>
          </p:nvPr>
        </p:nvSpPr>
        <p:spPr/>
        <p:txBody>
          <a:bodyPr/>
          <a:lstStyle/>
          <a:p>
            <a:fld id="{C1FF6DA9-008F-8B48-92A6-B652298478BF}" type="slidenum">
              <a:rPr lang="ja-JP" smtClean="0"/>
              <a:t>‹#›</a:t>
            </a:fld>
            <a:endParaRPr lang="ja-JP"/>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foodstateedit_nakamizo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ja-JP" smtClean="0"/>
              <a:t>1/27/13</a:t>
            </a:fld>
            <a:endParaRPr lang="ja-JP"/>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ja-JP"/>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ja-JP" smtClean="0"/>
              <a:t>‹#›</a:t>
            </a:fld>
            <a:endParaRPr lang="ja-JP"/>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9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8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7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4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3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2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1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00" kern="1200">
          <a:solidFill>
            <a:schemeClr val="tx1"/>
          </a:solidFill>
          <a:latin typeface="+mn-lt"/>
          <a:ea typeface="+mn-ea"/>
          <a:cs typeface="+mn-cs"/>
        </a:defRPr>
      </a:lvl9pPr>
    </p:bodyStyle>
    <p:otherStyle>
      <a:defPPr>
        <a:defRPr lang="ja-JP"/>
      </a:defPPr>
      <a:lvl1pPr marL="0" algn="l" defTabSz="457200" rtl="0" eaLnBrk="1" latinLnBrk="0" hangingPunct="1">
        <a:defRPr sz="1950" kern="1200">
          <a:solidFill>
            <a:schemeClr val="tx1"/>
          </a:solidFill>
          <a:latin typeface="+mn-lt"/>
          <a:ea typeface="+mn-ea"/>
          <a:cs typeface="+mn-cs"/>
        </a:defRPr>
      </a:lvl1pPr>
      <a:lvl2pPr marL="457200" algn="l" defTabSz="457200" rtl="0" eaLnBrk="1" latinLnBrk="0" hangingPunct="1">
        <a:defRPr sz="1850" kern="1200">
          <a:solidFill>
            <a:schemeClr val="tx1"/>
          </a:solidFill>
          <a:latin typeface="+mn-lt"/>
          <a:ea typeface="+mn-ea"/>
          <a:cs typeface="+mn-cs"/>
        </a:defRPr>
      </a:lvl2pPr>
      <a:lvl3pPr marL="914400" algn="l" defTabSz="457200" rtl="0" eaLnBrk="1" latinLnBrk="0" hangingPunct="1">
        <a:defRPr sz="1700" kern="1200">
          <a:solidFill>
            <a:schemeClr val="tx1"/>
          </a:solidFill>
          <a:latin typeface="+mn-lt"/>
          <a:ea typeface="+mn-ea"/>
          <a:cs typeface="+mn-cs"/>
        </a:defRPr>
      </a:lvl3pPr>
      <a:lvl4pPr marL="1371600" algn="l" defTabSz="457200" rtl="0" eaLnBrk="1" latinLnBrk="0" hangingPunct="1">
        <a:defRPr sz="1600" kern="1200">
          <a:solidFill>
            <a:schemeClr val="tx1"/>
          </a:solidFill>
          <a:latin typeface="+mn-lt"/>
          <a:ea typeface="+mn-ea"/>
          <a:cs typeface="+mn-cs"/>
        </a:defRPr>
      </a:lvl4pPr>
      <a:lvl5pPr marL="1828800" algn="l" defTabSz="457200" rtl="0" eaLnBrk="1" latinLnBrk="0" hangingPunct="1">
        <a:defRPr sz="1450" kern="1200">
          <a:solidFill>
            <a:schemeClr val="tx1"/>
          </a:solidFill>
          <a:latin typeface="+mn-lt"/>
          <a:ea typeface="+mn-ea"/>
          <a:cs typeface="+mn-cs"/>
        </a:defRPr>
      </a:lvl5pPr>
      <a:lvl6pPr marL="2286000" algn="l" defTabSz="457200" rtl="0" eaLnBrk="1" latinLnBrk="0" hangingPunct="1">
        <a:defRPr sz="135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100" kern="1200">
          <a:solidFill>
            <a:schemeClr val="tx1"/>
          </a:solidFill>
          <a:latin typeface="+mn-lt"/>
          <a:ea typeface="+mn-ea"/>
          <a:cs typeface="+mn-cs"/>
        </a:defRPr>
      </a:lvl8pPr>
      <a:lvl9pPr marL="3657600" algn="l" defTabSz="457200" rtl="0" eaLnBrk="1" latinLnBrk="0" hangingPunct="1">
        <a:defRPr sz="1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13d99667ae45bc9.png"/>
  <Relationship Id="rId3" Type="http://schemas.openxmlformats.org/officeDocument/2006/relationships/image" Target="../media/image_ea0fab6a3d2712bd.png"/>
  <Relationship Id="rId4"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68d239f64848a81a.png"/>
  <Relationship Id="rId3" Type="http://schemas.openxmlformats.org/officeDocument/2006/relationships/image" Target="../media/image_9adaf0365c9c06ee.png"/>
  <Relationship Id="rId4"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2d0d9eae1eb2e4a.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a3401e0aee9a3e8.png"/>
  <Relationship Id="rId3" Type="http://schemas.openxmlformats.org/officeDocument/2006/relationships/image" Target="../media/image_e3498b0648254233.png"/>
  <Relationship Id="rId4" Type="http://schemas.openxmlformats.org/officeDocument/2006/relationships/image" Target="../media/image_d4523663e4a2e3a9.png"/>
  <Relationship Id="rId5"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320d9474b61bd05.png"/>
  <Relationship Id="rId3" Type="http://schemas.openxmlformats.org/officeDocument/2006/relationships/image" Target="../media/image_85f1b6762c4b14e3.png"/>
  <Relationship Id="rId4" Type="http://schemas.openxmlformats.org/officeDocument/2006/relationships/image" Target="../media/image_72558c4e0247c083.png"/>
  <Relationship Id="rId5"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cover-main"/>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266700" cy="6858000"/>
            </a:xfrm>
            <a:prstGeom prst="rect">
              <a:avLst/>
            </a:prstGeom>
            <a:solidFill>
              <a:schemeClr val="accent1"/>
            </a:solidFill>
            <a:ln>
              <a:noFill/>
            </a:ln>
          </p:spPr>
        </p:sp>
        <p:sp>
          <p:nvSpPr>
            <p:cNvPr id="4" name="Line 4"/>
            <p:cNvSpPr/>
            <p:nvPr/>
          </p:nvSpPr>
          <p:spPr>
            <a:xfrm>
              <a:off x="857250" y="800100"/>
              <a:ext cx="10496550" cy="9525"/>
            </a:xfrm>
            <a:custGeom>
              <a:avLst/>
              <a:gdLst/>
              <a:ahLst/>
              <a:cxnLst/>
              <a:rect l="l" t="t" r="r" b="b"/>
              <a:pathLst>
                <a:path w="10496550" h="9525">
                  <a:moveTo>
                    <a:pt x="0" y="0"/>
                  </a:moveTo>
                  <a:lnTo>
                    <a:pt x="10496550" y="0"/>
                  </a:lnTo>
                </a:path>
              </a:pathLst>
            </a:custGeom>
            <a:noFill/>
            <a:ln w="19050">
              <a:solidFill>
                <a:srgbClr val="D8DDE3"/>
              </a:solidFill>
            </a:ln>
          </p:spPr>
        </p:sp>
        <p:sp>
          <p:nvSpPr>
            <p:cNvPr id="5" name="TextBox 5"/>
            <p:cNvSpPr txBox="1"/>
            <p:nvPr/>
          </p:nvSpPr>
          <p:spPr>
            <a:xfrm>
              <a:off x="850392" y="1159192"/>
              <a:ext cx="1684117" cy="264033"/>
            </a:xfrm>
            <a:prstGeom prst="rect">
              <a:avLst/>
            </a:prstGeom>
            <a:noFill/>
            <a:ln>
              <a:noFill/>
            </a:ln>
          </p:spPr>
          <p:txBody>
            <a:bodyPr wrap="none" lIns="0" tIns="0" rIns="0" bIns="0" anchor="t" anchorCtr="0">
              <a:spAutoFit/>
            </a:bodyPr>
            <a:lstStyle/>
            <a:p>
              <a:pPr algn="l"/>
              <a:r>
                <a:rPr lang="ja-JP" sz="1350" b="1" spc="150" dirty="0">
                  <a:solidFill>
                    <a:schemeClr val="accent1"/>
                  </a:solidFill>
                  <a:latin typeface="+mn-lt"/>
                  <a:ea typeface="+mn-ea"/>
                  <a:cs typeface="+mn-cs"/>
                </a:rPr>
                <a:t>修士研究 予備発表</a:t>
              </a:r>
            </a:p>
          </p:txBody>
        </p:sp>
        <p:sp>
          <p:nvSpPr>
            <p:cNvPr id="6" name="TextBox 6"/>
            <p:cNvSpPr txBox="1"/>
            <p:nvPr/>
          </p:nvSpPr>
          <p:spPr>
            <a:xfrm>
              <a:off x="838200" y="1867852"/>
              <a:ext cx="5805069" cy="790575"/>
            </a:xfrm>
            <a:prstGeom prst="rect">
              <a:avLst/>
            </a:prstGeom>
            <a:noFill/>
            <a:ln>
              <a:noFill/>
            </a:ln>
          </p:spPr>
          <p:txBody>
            <a:bodyPr wrap="none" lIns="0" tIns="0" rIns="0" bIns="0" anchor="t" anchorCtr="0">
              <a:spAutoFit/>
            </a:bodyPr>
            <a:lstStyle/>
            <a:p>
              <a:pPr algn="l"/>
              <a:r>
                <a:rPr lang="ja-JP" sz="4050" b="1" dirty="0">
                  <a:solidFill>
                    <a:schemeClr val="dk1"/>
                  </a:solidFill>
                  <a:latin typeface="+mn-lt"/>
                  <a:ea typeface="+mn-ea"/>
                  <a:cs typeface="+mn-cs"/>
                </a:rPr>
                <a:t>3次元動作制御に基づく</a:t>
              </a:r>
            </a:p>
          </p:txBody>
        </p:sp>
        <p:sp>
          <p:nvSpPr>
            <p:cNvPr id="7" name="TextBox 7"/>
            <p:cNvSpPr txBox="1"/>
            <p:nvPr/>
          </p:nvSpPr>
          <p:spPr>
            <a:xfrm>
              <a:off x="838200" y="2526221"/>
              <a:ext cx="3309366" cy="790575"/>
            </a:xfrm>
            <a:prstGeom prst="rect">
              <a:avLst/>
            </a:prstGeom>
            <a:noFill/>
            <a:ln>
              <a:noFill/>
            </a:ln>
          </p:spPr>
          <p:txBody>
            <a:bodyPr wrap="none" lIns="0" tIns="0" rIns="0" bIns="0" anchor="t" anchorCtr="0">
              <a:spAutoFit/>
            </a:bodyPr>
            <a:lstStyle/>
            <a:p>
              <a:pPr algn="l"/>
              <a:r>
                <a:rPr lang="ja-JP" sz="4050" b="1" dirty="0">
                  <a:solidFill>
                    <a:schemeClr val="dk1"/>
                  </a:solidFill>
                  <a:latin typeface="+mn-lt"/>
                  <a:ea typeface="+mn-ea"/>
                  <a:cs typeface="+mn-cs"/>
                </a:rPr>
                <a:t>食物画像編集</a:t>
              </a:r>
            </a:p>
          </p:txBody>
        </p:sp>
        <p:sp>
          <p:nvSpPr>
            <p:cNvPr id="8" name="TextBox 8"/>
            <p:cNvSpPr txBox="1"/>
            <p:nvPr/>
          </p:nvSpPr>
          <p:spPr>
            <a:xfrm>
              <a:off x="867156" y="3596640"/>
              <a:ext cx="5287057" cy="352044"/>
            </a:xfrm>
            <a:prstGeom prst="rect">
              <a:avLst/>
            </a:prstGeom>
            <a:noFill/>
            <a:ln>
              <a:noFill/>
            </a:ln>
          </p:spPr>
          <p:txBody>
            <a:bodyPr wrap="none" lIns="0" tIns="0" rIns="0" bIns="0" anchor="t" anchorCtr="0">
              <a:spAutoFit/>
            </a:bodyPr>
            <a:lstStyle/>
            <a:p>
              <a:pPr algn="l"/>
              <a:r>
                <a:rPr lang="ja-JP" sz="1800" dirty="0">
                  <a:solidFill>
                    <a:schemeClr val="accent6"/>
                  </a:solidFill>
                  <a:latin typeface="+mn-lt"/>
                  <a:ea typeface="+mn-ea"/>
                  <a:cs typeface="+mn-cs"/>
                </a:rPr>
                <a:t>Food Image Editing Based on 3D Motion Control</a:t>
              </a:r>
            </a:p>
          </p:txBody>
        </p:sp>
        <p:sp>
          <p:nvSpPr>
            <p:cNvPr id="9" name="Rectangle 9"/>
            <p:cNvSpPr/>
            <p:nvPr/>
          </p:nvSpPr>
          <p:spPr>
            <a:xfrm>
              <a:off x="857250" y="4191000"/>
              <a:ext cx="1695450" cy="57150"/>
            </a:xfrm>
            <a:prstGeom prst="rect">
              <a:avLst/>
            </a:prstGeom>
            <a:solidFill>
              <a:schemeClr val="accent2"/>
            </a:solidFill>
            <a:ln>
              <a:noFill/>
            </a:ln>
          </p:spPr>
        </p:sp>
        <p:sp>
          <p:nvSpPr>
            <p:cNvPr id="10" name="TextBox 10"/>
            <p:cNvSpPr txBox="1"/>
            <p:nvPr/>
          </p:nvSpPr>
          <p:spPr>
            <a:xfrm>
              <a:off x="845058" y="4455795"/>
              <a:ext cx="2242618" cy="469392"/>
            </a:xfrm>
            <a:prstGeom prst="rect">
              <a:avLst/>
            </a:prstGeom>
            <a:noFill/>
            <a:ln>
              <a:noFill/>
            </a:ln>
          </p:spPr>
          <p:txBody>
            <a:bodyPr wrap="none" lIns="0" tIns="0" rIns="0" bIns="0" anchor="t" anchorCtr="0">
              <a:spAutoFit/>
            </a:bodyPr>
            <a:lstStyle/>
            <a:p>
              <a:pPr algn="l"/>
              <a:r>
                <a:rPr lang="ja-JP" sz="2400" b="1" dirty="0">
                  <a:solidFill>
                    <a:schemeClr val="accent1"/>
                  </a:solidFill>
                  <a:latin typeface="+mn-lt"/>
                  <a:ea typeface="+mn-ea"/>
                  <a:cs typeface="+mn-cs"/>
                </a:rPr>
                <a:t>FoodStateEdit</a:t>
              </a:r>
            </a:p>
          </p:txBody>
        </p:sp>
        <p:sp>
          <p:nvSpPr>
            <p:cNvPr id="11" name="TextBox 11"/>
            <p:cNvSpPr txBox="1"/>
            <p:nvPr/>
          </p:nvSpPr>
          <p:spPr>
            <a:xfrm>
              <a:off x="8050530" y="4810125"/>
              <a:ext cx="1428750" cy="293370"/>
            </a:xfrm>
            <a:prstGeom prst="rect">
              <a:avLst/>
            </a:prstGeom>
            <a:noFill/>
            <a:ln>
              <a:noFill/>
            </a:ln>
          </p:spPr>
          <p:txBody>
            <a:bodyPr wrap="none" lIns="0" tIns="0" rIns="0" bIns="0" anchor="t" anchorCtr="0">
              <a:spAutoFit/>
            </a:bodyPr>
            <a:lstStyle/>
            <a:p>
              <a:pPr algn="l"/>
              <a:r>
                <a:rPr lang="ja-JP" sz="1500" dirty="0">
                  <a:solidFill>
                    <a:schemeClr val="dk1"/>
                  </a:solidFill>
                  <a:latin typeface="+mn-lt"/>
                  <a:ea typeface="+mn-ea"/>
                  <a:cs typeface="+mn-cs"/>
                </a:rPr>
                <a:t>メディア情報学</a:t>
              </a:r>
            </a:p>
          </p:txBody>
        </p:sp>
        <p:sp>
          <p:nvSpPr>
            <p:cNvPr id="12" name="TextBox 12"/>
            <p:cNvSpPr txBox="1"/>
            <p:nvPr/>
          </p:nvSpPr>
          <p:spPr>
            <a:xfrm>
              <a:off x="8050530" y="5105400"/>
              <a:ext cx="2509457" cy="293370"/>
            </a:xfrm>
            <a:prstGeom prst="rect">
              <a:avLst/>
            </a:prstGeom>
            <a:noFill/>
            <a:ln>
              <a:noFill/>
            </a:ln>
          </p:spPr>
          <p:txBody>
            <a:bodyPr wrap="none" lIns="0" tIns="0" rIns="0" bIns="0" anchor="t" anchorCtr="0">
              <a:spAutoFit/>
            </a:bodyPr>
            <a:lstStyle/>
            <a:p>
              <a:pPr algn="l"/>
              <a:r>
                <a:rPr lang="ja-JP" sz="1500" dirty="0">
                  <a:solidFill>
                    <a:schemeClr val="dk1"/>
                  </a:solidFill>
                  <a:latin typeface="+mn-lt"/>
                  <a:ea typeface="+mn-ea"/>
                  <a:cs typeface="+mn-cs"/>
                </a:rPr>
                <a:t>GUO ZHENGPENG　2530030</a:t>
              </a:r>
            </a:p>
          </p:txBody>
        </p:sp>
        <p:sp>
          <p:nvSpPr>
            <p:cNvPr id="13" name="TextBox 13"/>
            <p:cNvSpPr txBox="1"/>
            <p:nvPr/>
          </p:nvSpPr>
          <p:spPr>
            <a:xfrm>
              <a:off x="8050530" y="5400675"/>
              <a:ext cx="3771138" cy="293370"/>
            </a:xfrm>
            <a:prstGeom prst="rect">
              <a:avLst/>
            </a:prstGeom>
            <a:noFill/>
            <a:ln>
              <a:noFill/>
            </a:ln>
          </p:spPr>
          <p:txBody>
            <a:bodyPr wrap="none" lIns="0" tIns="0" rIns="0" bIns="0" anchor="t" anchorCtr="0">
              <a:spAutoFit/>
            </a:bodyPr>
            <a:lstStyle/>
            <a:p>
              <a:pPr algn="l"/>
              <a:r>
                <a:rPr lang="ja-JP" sz="1500" dirty="0">
                  <a:solidFill>
                    <a:schemeClr val="dk1"/>
                  </a:solidFill>
                  <a:latin typeface="+mn-lt"/>
                  <a:ea typeface="+mn-ea"/>
                  <a:cs typeface="+mn-cs"/>
                </a:rPr>
                <a:t>主指導：柳井 啓司　　副指導：高橋 裕樹</a:t>
              </a:r>
            </a:p>
          </p:txBody>
        </p:sp>
        <p:sp>
          <p:nvSpPr>
            <p:cNvPr id="14" name="TextBox 14"/>
            <p:cNvSpPr txBox="1"/>
            <p:nvPr/>
          </p:nvSpPr>
          <p:spPr>
            <a:xfrm>
              <a:off x="10539144" y="6309360"/>
              <a:ext cx="820752" cy="234696"/>
            </a:xfrm>
            <a:prstGeom prst="rect">
              <a:avLst/>
            </a:prstGeom>
            <a:noFill/>
            <a:ln>
              <a:noFill/>
            </a:ln>
          </p:spPr>
          <p:txBody>
            <a:bodyPr wrap="none" lIns="0" tIns="0" rIns="0" bIns="0" anchor="t" anchorCtr="0">
              <a:spAutoFit/>
            </a:bodyPr>
            <a:lstStyle/>
            <a:p>
              <a:pPr algn="r"/>
              <a:r>
                <a:rPr lang="ja-JP" sz="1200" dirty="0">
                  <a:solidFill>
                    <a:schemeClr val="accent6"/>
                  </a:solidFill>
                  <a:latin typeface="+mn-lt"/>
                  <a:ea typeface="+mn-ea"/>
                  <a:cs typeface="+mn-cs"/>
                </a:rPr>
                <a:t>2026.09.13</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400050"/>
            <a:ext cx="10820400" cy="9525"/>
          </a:xfrm>
          <a:custGeom>
            <a:avLst/>
            <a:gdLst/>
            <a:ahLst/>
            <a:cxnLst/>
            <a:rect l="l" t="t" r="r" b="b"/>
            <a:pathLst>
              <a:path w="10820400" h="9525">
                <a:moveTo>
                  <a:pt x="0" y="0"/>
                </a:moveTo>
                <a:lnTo>
                  <a:pt x="10820400" y="0"/>
                </a:lnTo>
              </a:path>
            </a:pathLst>
          </a:custGeom>
          <a:noFill/>
          <a:ln w="19050">
            <a:solidFill>
              <a:srgbClr val="D8DDE3"/>
            </a:solidFill>
          </a:ln>
        </p:spPr>
      </p:sp>
      <p:sp>
        <p:nvSpPr>
          <p:cNvPr id="3" name="TextBox 3"/>
          <p:cNvSpPr txBox="1"/>
          <p:nvPr/>
        </p:nvSpPr>
        <p:spPr>
          <a:xfrm>
            <a:off x="679704" y="594360"/>
            <a:ext cx="853257" cy="234696"/>
          </a:xfrm>
          <a:prstGeom prst="rect">
            <a:avLst/>
          </a:prstGeom>
          <a:noFill/>
          <a:ln>
            <a:noFill/>
          </a:ln>
        </p:spPr>
        <p:txBody>
          <a:bodyPr wrap="none" lIns="0" tIns="0" rIns="0" bIns="0" anchor="t" anchorCtr="0">
            <a:spAutoFit/>
          </a:bodyPr>
          <a:lstStyle/>
          <a:p>
            <a:pPr algn="l"/>
            <a:r>
              <a:rPr lang="ja-JP" sz="1200" b="1" spc="135" dirty="0">
                <a:solidFill>
                  <a:schemeClr val="accent1"/>
                </a:solidFill>
                <a:latin typeface="+mn-lt"/>
                <a:ea typeface="+mn-ea"/>
                <a:cs typeface="+mn-cs"/>
              </a:rPr>
              <a:t>PURPOSE</a:t>
            </a:r>
          </a:p>
        </p:txBody>
      </p:sp>
      <p:sp>
        <p:nvSpPr>
          <p:cNvPr id="4" name="TextBox 4"/>
          <p:cNvSpPr txBox="1"/>
          <p:nvPr/>
        </p:nvSpPr>
        <p:spPr>
          <a:xfrm>
            <a:off x="669798" y="831533"/>
            <a:ext cx="7664958" cy="616077"/>
          </a:xfrm>
          <a:prstGeom prst="rect">
            <a:avLst/>
          </a:prstGeom>
          <a:noFill/>
          <a:ln>
            <a:noFill/>
          </a:ln>
        </p:spPr>
        <p:txBody>
          <a:bodyPr wrap="none" lIns="0" tIns="0" rIns="0" bIns="0" anchor="t" anchorCtr="0">
            <a:spAutoFit/>
          </a:bodyPr>
          <a:lstStyle/>
          <a:p>
            <a:pPr algn="l"/>
            <a:r>
              <a:rPr lang="ja-JP" sz="3150" b="1" dirty="0">
                <a:solidFill>
                  <a:schemeClr val="dk1"/>
                </a:solidFill>
                <a:latin typeface="+mn-lt"/>
                <a:ea typeface="+mn-ea"/>
                <a:cs typeface="+mn-cs"/>
              </a:rPr>
              <a:t>研究目的：食べる瞬間を感じる食物画像</a:t>
            </a:r>
          </a:p>
        </p:txBody>
      </p:sp>
      <p:sp>
        <p:nvSpPr>
          <p:cNvPr id="5" name="Rectangle 5"/>
          <p:cNvSpPr/>
          <p:nvPr/>
        </p:nvSpPr>
        <p:spPr>
          <a:xfrm>
            <a:off x="685800" y="1352550"/>
            <a:ext cx="704850" cy="38100"/>
          </a:xfrm>
          <a:prstGeom prst="rect">
            <a:avLst/>
          </a:prstGeom>
          <a:solidFill>
            <a:schemeClr val="accent1"/>
          </a:solidFill>
          <a:ln>
            <a:noFill/>
          </a:ln>
        </p:spPr>
      </p:sp>
      <p:sp>
        <p:nvSpPr>
          <p:cNvPr id="6" name="TextBox 6"/>
          <p:cNvSpPr txBox="1"/>
          <p:nvPr/>
        </p:nvSpPr>
        <p:spPr>
          <a:xfrm>
            <a:off x="680466" y="6420802"/>
            <a:ext cx="2129538" cy="205359"/>
          </a:xfrm>
          <a:prstGeom prst="rect">
            <a:avLst/>
          </a:prstGeom>
          <a:noFill/>
          <a:ln>
            <a:noFill/>
          </a:ln>
        </p:spPr>
        <p:txBody>
          <a:bodyPr wrap="none" lIns="0" tIns="0" rIns="0" bIns="0" anchor="t" anchorCtr="0">
            <a:spAutoFit/>
          </a:bodyPr>
          <a:lstStyle/>
          <a:p>
            <a:pPr algn="l"/>
            <a:r>
              <a:rPr lang="ja-JP" sz="1050" dirty="0">
                <a:solidFill>
                  <a:schemeClr val="accent6"/>
                </a:solidFill>
                <a:latin typeface="+mn-lt"/>
                <a:ea typeface="+mn-ea"/>
                <a:cs typeface="+mn-cs"/>
              </a:rPr>
              <a:t>FoodStateEdit｜メディア情報学</a:t>
            </a:r>
          </a:p>
        </p:txBody>
      </p:sp>
      <p:sp>
        <p:nvSpPr>
          <p:cNvPr id="7" name="TextBox 7"/>
          <p:cNvSpPr txBox="1"/>
          <p:nvPr/>
        </p:nvSpPr>
        <p:spPr>
          <a:xfrm>
            <a:off x="11320402" y="6404610"/>
            <a:ext cx="191894" cy="234696"/>
          </a:xfrm>
          <a:prstGeom prst="rect">
            <a:avLst/>
          </a:prstGeom>
          <a:noFill/>
          <a:ln>
            <a:noFill/>
          </a:ln>
        </p:spPr>
        <p:txBody>
          <a:bodyPr wrap="none" lIns="0" tIns="0" rIns="0" bIns="0" anchor="t" anchorCtr="0">
            <a:spAutoFit/>
          </a:bodyPr>
          <a:lstStyle/>
          <a:p>
            <a:pPr algn="r"/>
            <a:r>
              <a:rPr lang="ja-JP" sz="1200" b="1" dirty="0">
                <a:solidFill>
                  <a:schemeClr val="accent1"/>
                </a:solidFill>
                <a:latin typeface="+mn-lt"/>
                <a:ea typeface="+mn-ea"/>
                <a:cs typeface="+mn-cs"/>
              </a:rPr>
              <a:t>02</a:t>
            </a:r>
          </a:p>
        </p:txBody>
      </p:sp>
      <p:grpSp>
        <p:nvGrpSpPr>
          <p:cNvPr id="32" name="slide-content"/>
          <p:cNvGrpSpPr/>
          <p:nvPr/>
        </p:nvGrpSpPr>
        <p:grpSpPr>
          <a:xfrm>
            <a:off x="712089" y="1680686"/>
            <a:ext cx="10832211" cy="4154901"/>
            <a:chOff x="712089" y="1680686"/>
            <a:chExt cx="10832211" cy="4154901"/>
          </a:xfrm>
        </p:grpSpPr>
        <p:sp>
          <p:nvSpPr>
            <p:cNvPr id="8" name="TextBox 8"/>
            <p:cNvSpPr txBox="1"/>
            <p:nvPr/>
          </p:nvSpPr>
          <p:spPr>
            <a:xfrm>
              <a:off x="715137" y="1680686"/>
              <a:ext cx="943712" cy="337376"/>
            </a:xfrm>
            <a:prstGeom prst="rect">
              <a:avLst/>
            </a:prstGeom>
            <a:noFill/>
            <a:ln>
              <a:noFill/>
            </a:ln>
          </p:spPr>
          <p:txBody>
            <a:bodyPr wrap="none" lIns="0" tIns="0" rIns="0" bIns="0" anchor="t" anchorCtr="0">
              <a:spAutoFit/>
            </a:bodyPr>
            <a:lstStyle/>
            <a:p>
              <a:pPr algn="l"/>
              <a:r>
                <a:rPr lang="ja-JP" sz="1720" b="1" dirty="0">
                  <a:solidFill>
                    <a:schemeClr val="accent1"/>
                  </a:solidFill>
                  <a:latin typeface="+mn-lt"/>
                  <a:ea typeface="+mn-ea"/>
                  <a:cs typeface="+mn-cs"/>
                </a:rPr>
                <a:t>研究目的</a:t>
              </a:r>
            </a:p>
          </p:txBody>
        </p:sp>
        <p:sp>
          <p:nvSpPr>
            <p:cNvPr id="9" name="TextBox 9"/>
            <p:cNvSpPr txBox="1"/>
            <p:nvPr/>
          </p:nvSpPr>
          <p:spPr>
            <a:xfrm>
              <a:off x="712089" y="2054066"/>
              <a:ext cx="2834488" cy="454724"/>
            </a:xfrm>
            <a:prstGeom prst="rect">
              <a:avLst/>
            </a:prstGeom>
            <a:noFill/>
            <a:ln>
              <a:noFill/>
            </a:ln>
          </p:spPr>
          <p:txBody>
            <a:bodyPr wrap="none" lIns="0" tIns="0" rIns="0" bIns="0" anchor="t" anchorCtr="0">
              <a:spAutoFit/>
            </a:bodyPr>
            <a:lstStyle/>
            <a:p>
              <a:pPr algn="l"/>
              <a:r>
                <a:rPr lang="ja-JP" sz="2320" b="1" dirty="0">
                  <a:solidFill>
                    <a:schemeClr val="dk1"/>
                  </a:solidFill>
                  <a:latin typeface="+mn-lt"/>
                  <a:ea typeface="+mn-ea"/>
                  <a:cs typeface="+mn-cs"/>
                </a:rPr>
                <a:t>普通の食物写真に、</a:t>
              </a:r>
            </a:p>
          </p:txBody>
        </p:sp>
        <p:sp>
          <p:nvSpPr>
            <p:cNvPr id="10" name="TextBox 10"/>
            <p:cNvSpPr txBox="1"/>
            <p:nvPr/>
          </p:nvSpPr>
          <p:spPr>
            <a:xfrm>
              <a:off x="712089" y="2452688"/>
              <a:ext cx="4708398" cy="454724"/>
            </a:xfrm>
            <a:prstGeom prst="rect">
              <a:avLst/>
            </a:prstGeom>
            <a:noFill/>
            <a:ln>
              <a:noFill/>
            </a:ln>
          </p:spPr>
          <p:txBody>
            <a:bodyPr wrap="none" lIns="0" tIns="0" rIns="0" bIns="0" anchor="t" anchorCtr="0">
              <a:spAutoFit/>
            </a:bodyPr>
            <a:lstStyle/>
            <a:p>
              <a:pPr algn="l"/>
              <a:r>
                <a:rPr lang="ja-JP" sz="2320" b="1" dirty="0">
                  <a:solidFill>
                    <a:schemeClr val="dk1"/>
                  </a:solidFill>
                  <a:latin typeface="+mn-lt"/>
                  <a:ea typeface="+mn-ea"/>
                  <a:cs typeface="+mn-cs"/>
                </a:rPr>
                <a:t>「食べる直前」の臨場感を加える</a:t>
              </a:r>
            </a:p>
          </p:txBody>
        </p:sp>
        <p:sp>
          <p:nvSpPr>
            <p:cNvPr id="11" name="TextBox 11"/>
            <p:cNvSpPr txBox="1"/>
            <p:nvPr/>
          </p:nvSpPr>
          <p:spPr>
            <a:xfrm>
              <a:off x="716280" y="3076575"/>
              <a:ext cx="3246120" cy="293370"/>
            </a:xfrm>
            <a:prstGeom prst="rect">
              <a:avLst/>
            </a:prstGeom>
            <a:noFill/>
            <a:ln>
              <a:noFill/>
            </a:ln>
          </p:spPr>
          <p:txBody>
            <a:bodyPr wrap="none" lIns="0" tIns="0" rIns="0" bIns="0" anchor="t" anchorCtr="0">
              <a:spAutoFit/>
            </a:bodyPr>
            <a:lstStyle/>
            <a:p>
              <a:pPr algn="l"/>
              <a:r>
                <a:rPr lang="ja-JP" sz="1500" dirty="0">
                  <a:solidFill>
                    <a:schemeClr val="dk1"/>
                  </a:solidFill>
                  <a:latin typeface="+mn-lt"/>
                  <a:ea typeface="+mn-ea"/>
                  <a:cs typeface="+mn-cs"/>
                </a:rPr>
                <a:t>道具で食物を動かす状態を生成し、</a:t>
              </a:r>
            </a:p>
          </p:txBody>
        </p:sp>
        <p:sp>
          <p:nvSpPr>
            <p:cNvPr id="12" name="TextBox 12"/>
            <p:cNvSpPr txBox="1"/>
            <p:nvPr/>
          </p:nvSpPr>
          <p:spPr>
            <a:xfrm>
              <a:off x="716280" y="3381375"/>
              <a:ext cx="3448050" cy="293370"/>
            </a:xfrm>
            <a:prstGeom prst="rect">
              <a:avLst/>
            </a:prstGeom>
            <a:noFill/>
            <a:ln>
              <a:noFill/>
            </a:ln>
          </p:spPr>
          <p:txBody>
            <a:bodyPr wrap="none" lIns="0" tIns="0" rIns="0" bIns="0" anchor="t" anchorCtr="0">
              <a:spAutoFit/>
            </a:bodyPr>
            <a:lstStyle/>
            <a:p>
              <a:pPr algn="l"/>
              <a:r>
                <a:rPr lang="ja-JP" sz="1500" dirty="0">
                  <a:solidFill>
                    <a:schemeClr val="dk1"/>
                  </a:solidFill>
                  <a:latin typeface="+mn-lt"/>
                  <a:ea typeface="+mn-ea"/>
                  <a:cs typeface="+mn-cs"/>
                </a:rPr>
                <a:t>見る人が味・食感・動きを想像できる</a:t>
              </a:r>
            </a:p>
          </p:txBody>
        </p:sp>
        <p:sp>
          <p:nvSpPr>
            <p:cNvPr id="13" name="TextBox 13"/>
            <p:cNvSpPr txBox="1"/>
            <p:nvPr/>
          </p:nvSpPr>
          <p:spPr>
            <a:xfrm>
              <a:off x="716280" y="3686175"/>
              <a:ext cx="1630680" cy="293370"/>
            </a:xfrm>
            <a:prstGeom prst="rect">
              <a:avLst/>
            </a:prstGeom>
            <a:noFill/>
            <a:ln>
              <a:noFill/>
            </a:ln>
          </p:spPr>
          <p:txBody>
            <a:bodyPr wrap="none" lIns="0" tIns="0" rIns="0" bIns="0" anchor="t" anchorCtr="0">
              <a:spAutoFit/>
            </a:bodyPr>
            <a:lstStyle/>
            <a:p>
              <a:pPr algn="l"/>
              <a:r>
                <a:rPr lang="ja-JP" sz="1500" dirty="0">
                  <a:solidFill>
                    <a:schemeClr val="dk1"/>
                  </a:solidFill>
                  <a:latin typeface="+mn-lt"/>
                  <a:ea typeface="+mn-ea"/>
                  <a:cs typeface="+mn-cs"/>
                </a:rPr>
                <a:t>視覚表現を目指す</a:t>
              </a:r>
            </a:p>
          </p:txBody>
        </p:sp>
        <p:sp>
          <p:nvSpPr>
            <p:cNvPr id="14" name="Line 14"/>
            <p:cNvSpPr/>
            <p:nvPr/>
          </p:nvSpPr>
          <p:spPr>
            <a:xfrm>
              <a:off x="723900" y="4362450"/>
              <a:ext cx="4248150" cy="9525"/>
            </a:xfrm>
            <a:custGeom>
              <a:avLst/>
              <a:gdLst/>
              <a:ahLst/>
              <a:cxnLst/>
              <a:rect l="l" t="t" r="r" b="b"/>
              <a:pathLst>
                <a:path w="4248150" h="9525">
                  <a:moveTo>
                    <a:pt x="0" y="0"/>
                  </a:moveTo>
                  <a:lnTo>
                    <a:pt x="4248150" y="0"/>
                  </a:lnTo>
                </a:path>
              </a:pathLst>
            </a:custGeom>
            <a:noFill/>
            <a:ln w="19050">
              <a:solidFill>
                <a:srgbClr val="D8DDE3"/>
              </a:solidFill>
            </a:ln>
          </p:spPr>
        </p:sp>
        <p:sp>
          <p:nvSpPr>
            <p:cNvPr id="15" name="TextBox 15"/>
            <p:cNvSpPr txBox="1"/>
            <p:nvPr/>
          </p:nvSpPr>
          <p:spPr>
            <a:xfrm>
              <a:off x="715137" y="4576286"/>
              <a:ext cx="943712" cy="337376"/>
            </a:xfrm>
            <a:prstGeom prst="rect">
              <a:avLst/>
            </a:prstGeom>
            <a:noFill/>
            <a:ln>
              <a:noFill/>
            </a:ln>
          </p:spPr>
          <p:txBody>
            <a:bodyPr wrap="none" lIns="0" tIns="0" rIns="0" bIns="0" anchor="t" anchorCtr="0">
              <a:spAutoFit/>
            </a:bodyPr>
            <a:lstStyle/>
            <a:p>
              <a:pPr algn="l"/>
              <a:r>
                <a:rPr lang="ja-JP" sz="1720" b="1" dirty="0">
                  <a:solidFill>
                    <a:schemeClr val="accent1"/>
                  </a:solidFill>
                  <a:latin typeface="+mn-lt"/>
                  <a:ea typeface="+mn-ea"/>
                  <a:cs typeface="+mn-cs"/>
                </a:rPr>
                <a:t>利用場面</a:t>
              </a:r>
            </a:p>
          </p:txBody>
        </p:sp>
        <p:sp>
          <p:nvSpPr>
            <p:cNvPr id="16" name="TextBox 16"/>
            <p:cNvSpPr txBox="1"/>
            <p:nvPr/>
          </p:nvSpPr>
          <p:spPr>
            <a:xfrm>
              <a:off x="868680" y="4981575"/>
              <a:ext cx="1832610" cy="293370"/>
            </a:xfrm>
            <a:prstGeom prst="rect">
              <a:avLst/>
            </a:prstGeom>
            <a:noFill/>
            <a:ln>
              <a:noFill/>
            </a:ln>
          </p:spPr>
          <p:txBody>
            <a:bodyPr wrap="none" lIns="0" tIns="0" rIns="0" bIns="0" anchor="t" anchorCtr="0">
              <a:spAutoFit/>
            </a:bodyPr>
            <a:lstStyle/>
            <a:p>
              <a:pPr algn="l"/>
              <a:r>
                <a:rPr lang="ja-JP" sz="1500" b="1" dirty="0">
                  <a:solidFill>
                    <a:schemeClr val="accent6"/>
                  </a:solidFill>
                  <a:latin typeface="+mn-lt"/>
                  <a:ea typeface="+mn-ea"/>
                  <a:cs typeface="+mn-cs"/>
                </a:rPr>
                <a:t>食品メニュー・広告</a:t>
              </a:r>
            </a:p>
          </p:txBody>
        </p:sp>
        <p:sp>
          <p:nvSpPr>
            <p:cNvPr id="17" name="TextBox 17"/>
            <p:cNvSpPr txBox="1"/>
            <p:nvPr/>
          </p:nvSpPr>
          <p:spPr>
            <a:xfrm>
              <a:off x="868680" y="5286375"/>
              <a:ext cx="2640330" cy="293370"/>
            </a:xfrm>
            <a:prstGeom prst="rect">
              <a:avLst/>
            </a:prstGeom>
            <a:noFill/>
            <a:ln>
              <a:noFill/>
            </a:ln>
          </p:spPr>
          <p:txBody>
            <a:bodyPr wrap="none" lIns="0" tIns="0" rIns="0" bIns="0" anchor="t" anchorCtr="0">
              <a:spAutoFit/>
            </a:bodyPr>
            <a:lstStyle/>
            <a:p>
              <a:pPr algn="l"/>
              <a:r>
                <a:rPr lang="ja-JP" sz="1500" b="1" dirty="0">
                  <a:solidFill>
                    <a:schemeClr val="accent6"/>
                  </a:solidFill>
                  <a:latin typeface="+mn-lt"/>
                  <a:ea typeface="+mn-ea"/>
                  <a:cs typeface="+mn-cs"/>
                </a:rPr>
                <a:t>レシピ・食育・デジタル創作</a:t>
              </a:r>
            </a:p>
          </p:txBody>
        </p:sp>
        <p:sp>
          <p:nvSpPr>
            <p:cNvPr id="18" name="Rectangle 18"/>
            <p:cNvSpPr/>
            <p:nvPr/>
          </p:nvSpPr>
          <p:spPr>
            <a:xfrm>
              <a:off x="5657850" y="1828800"/>
              <a:ext cx="2628900" cy="2647950"/>
            </a:xfrm>
            <a:prstGeom prst="roundRect">
              <a:avLst>
                <a:gd name="adj" fmla="val 2174"/>
              </a:avLst>
            </a:prstGeom>
            <a:solidFill>
              <a:srgbClr val="F7F9FB"/>
            </a:solidFill>
            <a:ln w="19050">
              <a:solidFill>
                <a:srgbClr val="D8DDE3"/>
              </a:solidFill>
            </a:ln>
          </p:spPr>
        </p:sp>
        <p:pic>
          <p:nvPicPr>
            <p:cNvPr id="19" name="Image 19"/>
            <p:cNvPicPr>
              <a:picLocks noChangeAspect="1"/>
            </p:cNvPicPr>
            <p:nvPr/>
          </p:nvPicPr>
          <p:blipFill>
            <a:blip r:embed="rId2"/>
            <a:stretch>
              <a:fillRect/>
            </a:stretch>
          </p:blipFill>
          <p:spPr>
            <a:xfrm>
              <a:off x="5715000" y="2217110"/>
              <a:ext cx="2514600" cy="1871330"/>
            </a:xfrm>
            <a:prstGeom prst="rect">
              <a:avLst/>
            </a:prstGeom>
          </p:spPr>
        </p:pic>
        <p:sp>
          <p:nvSpPr>
            <p:cNvPr id="20" name="Rectangle 20"/>
            <p:cNvSpPr/>
            <p:nvPr/>
          </p:nvSpPr>
          <p:spPr>
            <a:xfrm>
              <a:off x="5657850" y="1828800"/>
              <a:ext cx="2628900" cy="323850"/>
            </a:xfrm>
            <a:prstGeom prst="roundRect">
              <a:avLst>
                <a:gd name="adj" fmla="val 17647"/>
              </a:avLst>
            </a:prstGeom>
            <a:solidFill>
              <a:schemeClr val="accent1"/>
            </a:solidFill>
            <a:ln>
              <a:noFill/>
            </a:ln>
          </p:spPr>
        </p:sp>
        <p:sp>
          <p:nvSpPr>
            <p:cNvPr id="21" name="TextBox 21"/>
            <p:cNvSpPr txBox="1"/>
            <p:nvPr/>
          </p:nvSpPr>
          <p:spPr>
            <a:xfrm>
              <a:off x="5784723" y="1919764"/>
              <a:ext cx="1219149" cy="249364"/>
            </a:xfrm>
            <a:prstGeom prst="rect">
              <a:avLst/>
            </a:prstGeom>
            <a:noFill/>
            <a:ln>
              <a:noFill/>
            </a:ln>
          </p:spPr>
          <p:txBody>
            <a:bodyPr wrap="none" lIns="0" tIns="0" rIns="0" bIns="0" anchor="t" anchorCtr="0">
              <a:spAutoFit/>
            </a:bodyPr>
            <a:lstStyle/>
            <a:p>
              <a:pPr algn="l"/>
              <a:r>
                <a:rPr lang="ja-JP" sz="1280" b="1" dirty="0">
                  <a:solidFill>
                    <a:srgbClr val="FFFFFF"/>
                  </a:solidFill>
                  <a:latin typeface="+mn-lt"/>
                  <a:ea typeface="+mn-ea"/>
                  <a:cs typeface="+mn-cs"/>
                </a:rPr>
                <a:t>普通の食物写真</a:t>
              </a:r>
            </a:p>
          </p:txBody>
        </p:sp>
        <p:sp>
          <p:nvSpPr>
            <p:cNvPr id="22" name="Line 22"/>
            <p:cNvSpPr/>
            <p:nvPr/>
          </p:nvSpPr>
          <p:spPr>
            <a:xfrm>
              <a:off x="8372475" y="3152775"/>
              <a:ext cx="314325" cy="9525"/>
            </a:xfrm>
            <a:custGeom>
              <a:avLst/>
              <a:gdLst/>
              <a:ahLst/>
              <a:cxnLst/>
              <a:rect l="l" t="t" r="r" b="b"/>
              <a:pathLst>
                <a:path w="314325" h="9525">
                  <a:moveTo>
                    <a:pt x="0" y="0"/>
                  </a:moveTo>
                  <a:lnTo>
                    <a:pt x="314325" y="0"/>
                  </a:lnTo>
                </a:path>
              </a:pathLst>
            </a:custGeom>
            <a:noFill/>
            <a:ln w="38100">
              <a:solidFill>
                <a:schemeClr val="accent2"/>
              </a:solidFill>
            </a:ln>
          </p:spPr>
        </p:sp>
        <p:sp>
          <p:nvSpPr>
            <p:cNvPr id="23" name="Polygon 23"/>
            <p:cNvSpPr/>
            <p:nvPr/>
          </p:nvSpPr>
          <p:spPr>
            <a:xfrm>
              <a:off x="8686800" y="3076575"/>
              <a:ext cx="114300" cy="152400"/>
            </a:xfrm>
            <a:custGeom>
              <a:avLst/>
              <a:gdLst/>
              <a:ahLst/>
              <a:cxnLst/>
              <a:rect l="l" t="t" r="r" b="b"/>
              <a:pathLst>
                <a:path w="114300" h="152400">
                  <a:moveTo>
                    <a:pt x="0" y="0"/>
                  </a:moveTo>
                  <a:lnTo>
                    <a:pt x="114300" y="76200"/>
                  </a:lnTo>
                  <a:lnTo>
                    <a:pt x="0" y="152400"/>
                  </a:lnTo>
                  <a:close/>
                </a:path>
              </a:pathLst>
            </a:custGeom>
            <a:solidFill>
              <a:schemeClr val="accent2"/>
            </a:solidFill>
            <a:ln>
              <a:noFill/>
            </a:ln>
          </p:spPr>
        </p:sp>
        <p:sp>
          <p:nvSpPr>
            <p:cNvPr id="24" name="Rectangle 24"/>
            <p:cNvSpPr/>
            <p:nvPr/>
          </p:nvSpPr>
          <p:spPr>
            <a:xfrm>
              <a:off x="8915400" y="1828800"/>
              <a:ext cx="2628900" cy="2647950"/>
            </a:xfrm>
            <a:prstGeom prst="roundRect">
              <a:avLst>
                <a:gd name="adj" fmla="val 2174"/>
              </a:avLst>
            </a:prstGeom>
            <a:solidFill>
              <a:srgbClr val="F7F9FB"/>
            </a:solidFill>
            <a:ln w="19050">
              <a:solidFill>
                <a:srgbClr val="D8DDE3"/>
              </a:solidFill>
            </a:ln>
          </p:spPr>
        </p:sp>
        <p:pic>
          <p:nvPicPr>
            <p:cNvPr id="25" name="Image 25"/>
            <p:cNvPicPr>
              <a:picLocks noChangeAspect="1"/>
            </p:cNvPicPr>
            <p:nvPr/>
          </p:nvPicPr>
          <p:blipFill>
            <a:blip r:embed="rId3"/>
            <a:stretch>
              <a:fillRect/>
            </a:stretch>
          </p:blipFill>
          <p:spPr>
            <a:xfrm>
              <a:off x="8972550" y="2217110"/>
              <a:ext cx="2514600" cy="1871330"/>
            </a:xfrm>
            <a:prstGeom prst="rect">
              <a:avLst/>
            </a:prstGeom>
          </p:spPr>
        </p:pic>
        <p:sp>
          <p:nvSpPr>
            <p:cNvPr id="26" name="Rectangle 26"/>
            <p:cNvSpPr/>
            <p:nvPr/>
          </p:nvSpPr>
          <p:spPr>
            <a:xfrm>
              <a:off x="8915400" y="1828800"/>
              <a:ext cx="2628900" cy="323850"/>
            </a:xfrm>
            <a:prstGeom prst="roundRect">
              <a:avLst>
                <a:gd name="adj" fmla="val 17647"/>
              </a:avLst>
            </a:prstGeom>
            <a:solidFill>
              <a:schemeClr val="accent2"/>
            </a:solidFill>
            <a:ln>
              <a:noFill/>
            </a:ln>
          </p:spPr>
        </p:sp>
        <p:sp>
          <p:nvSpPr>
            <p:cNvPr id="27" name="TextBox 27"/>
            <p:cNvSpPr txBox="1"/>
            <p:nvPr/>
          </p:nvSpPr>
          <p:spPr>
            <a:xfrm>
              <a:off x="9042273" y="1919764"/>
              <a:ext cx="1219149" cy="249364"/>
            </a:xfrm>
            <a:prstGeom prst="rect">
              <a:avLst/>
            </a:prstGeom>
            <a:noFill/>
            <a:ln>
              <a:noFill/>
            </a:ln>
          </p:spPr>
          <p:txBody>
            <a:bodyPr wrap="none" lIns="0" tIns="0" rIns="0" bIns="0" anchor="t" anchorCtr="0">
              <a:spAutoFit/>
            </a:bodyPr>
            <a:lstStyle/>
            <a:p>
              <a:pPr algn="l"/>
              <a:r>
                <a:rPr lang="ja-JP" sz="1280" b="1" dirty="0">
                  <a:solidFill>
                    <a:srgbClr val="FFFFFF"/>
                  </a:solidFill>
                  <a:latin typeface="+mn-lt"/>
                  <a:ea typeface="+mn-ea"/>
                  <a:cs typeface="+mn-cs"/>
                </a:rPr>
                <a:t>操作状態を生成</a:t>
              </a:r>
            </a:p>
          </p:txBody>
        </p:sp>
        <p:sp>
          <p:nvSpPr>
            <p:cNvPr id="28" name="Rectangle 28"/>
            <p:cNvSpPr/>
            <p:nvPr/>
          </p:nvSpPr>
          <p:spPr>
            <a:xfrm>
              <a:off x="5657850" y="4762500"/>
              <a:ext cx="5886450" cy="742950"/>
            </a:xfrm>
            <a:prstGeom prst="roundRect">
              <a:avLst>
                <a:gd name="adj" fmla="val 7692"/>
              </a:avLst>
            </a:prstGeom>
            <a:solidFill>
              <a:schemeClr val="accent5"/>
            </a:solidFill>
            <a:ln>
              <a:noFill/>
            </a:ln>
          </p:spPr>
        </p:sp>
        <p:sp>
          <p:nvSpPr>
            <p:cNvPr id="29" name="TextBox 29"/>
            <p:cNvSpPr txBox="1"/>
            <p:nvPr/>
          </p:nvSpPr>
          <p:spPr>
            <a:xfrm>
              <a:off x="7199579" y="4883944"/>
              <a:ext cx="2802992" cy="366712"/>
            </a:xfrm>
            <a:prstGeom prst="rect">
              <a:avLst/>
            </a:prstGeom>
            <a:noFill/>
            <a:ln>
              <a:noFill/>
            </a:ln>
          </p:spPr>
          <p:txBody>
            <a:bodyPr wrap="none" lIns="0" tIns="0" rIns="0" bIns="0" anchor="t" anchorCtr="0">
              <a:spAutoFit/>
            </a:bodyPr>
            <a:lstStyle/>
            <a:p>
              <a:pPr algn="ctr"/>
              <a:r>
                <a:rPr lang="ja-JP" sz="1880" b="1" dirty="0">
                  <a:solidFill>
                    <a:schemeClr val="dk1"/>
                  </a:solidFill>
                  <a:latin typeface="+mn-lt"/>
                  <a:ea typeface="+mn-ea"/>
                  <a:cs typeface="+mn-cs"/>
                </a:rPr>
                <a:t>静止した料理写真から、</a:t>
              </a:r>
            </a:p>
          </p:txBody>
        </p:sp>
        <p:sp>
          <p:nvSpPr>
            <p:cNvPr id="30" name="TextBox 30"/>
            <p:cNvSpPr txBox="1"/>
            <p:nvPr/>
          </p:nvSpPr>
          <p:spPr>
            <a:xfrm>
              <a:off x="6819951" y="5179219"/>
              <a:ext cx="3562248" cy="366712"/>
            </a:xfrm>
            <a:prstGeom prst="rect">
              <a:avLst/>
            </a:prstGeom>
            <a:noFill/>
            <a:ln>
              <a:noFill/>
            </a:ln>
          </p:spPr>
          <p:txBody>
            <a:bodyPr wrap="none" lIns="0" tIns="0" rIns="0" bIns="0" anchor="t" anchorCtr="0">
              <a:spAutoFit/>
            </a:bodyPr>
            <a:lstStyle/>
            <a:p>
              <a:pPr algn="ctr"/>
              <a:r>
                <a:rPr lang="ja-JP" sz="1880" b="1" dirty="0">
                  <a:solidFill>
                    <a:schemeClr val="accent1"/>
                  </a:solidFill>
                  <a:latin typeface="+mn-lt"/>
                  <a:ea typeface="+mn-ea"/>
                  <a:cs typeface="+mn-cs"/>
                </a:rPr>
                <a:t>食べる場面を想像できる画像へ</a:t>
              </a:r>
            </a:p>
          </p:txBody>
        </p:sp>
        <p:sp>
          <p:nvSpPr>
            <p:cNvPr id="31" name="TextBox 31"/>
            <p:cNvSpPr txBox="1"/>
            <p:nvPr/>
          </p:nvSpPr>
          <p:spPr>
            <a:xfrm>
              <a:off x="6698104" y="5630228"/>
              <a:ext cx="3805942" cy="205359"/>
            </a:xfrm>
            <a:prstGeom prst="rect">
              <a:avLst/>
            </a:prstGeom>
            <a:noFill/>
            <a:ln>
              <a:noFill/>
            </a:ln>
          </p:spPr>
          <p:txBody>
            <a:bodyPr wrap="none" lIns="0" tIns="0" rIns="0" bIns="0" anchor="t" anchorCtr="0">
              <a:spAutoFit/>
            </a:bodyPr>
            <a:lstStyle/>
            <a:p>
              <a:pPr algn="ctr"/>
              <a:r>
                <a:rPr lang="ja-JP" sz="1050" dirty="0">
                  <a:solidFill>
                    <a:schemeClr val="accent6"/>
                  </a:solidFill>
                  <a:latin typeface="+mn-lt"/>
                  <a:ea typeface="+mn-ea"/>
                  <a:cs typeface="+mn-cs"/>
                </a:rPr>
                <a:t>※ 視覚的な臨場感を対象とし、味覚刺激そのものは扱わない</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400050"/>
            <a:ext cx="10820400" cy="9525"/>
          </a:xfrm>
          <a:custGeom>
            <a:avLst/>
            <a:gdLst/>
            <a:ahLst/>
            <a:cxnLst/>
            <a:rect l="l" t="t" r="r" b="b"/>
            <a:pathLst>
              <a:path w="10820400" h="9525">
                <a:moveTo>
                  <a:pt x="0" y="0"/>
                </a:moveTo>
                <a:lnTo>
                  <a:pt x="10820400" y="0"/>
                </a:lnTo>
              </a:path>
            </a:pathLst>
          </a:custGeom>
          <a:noFill/>
          <a:ln w="19050">
            <a:solidFill>
              <a:srgbClr val="D8DDE3"/>
            </a:solidFill>
          </a:ln>
        </p:spPr>
      </p:sp>
      <p:sp>
        <p:nvSpPr>
          <p:cNvPr id="3" name="TextBox 3"/>
          <p:cNvSpPr txBox="1"/>
          <p:nvPr/>
        </p:nvSpPr>
        <p:spPr>
          <a:xfrm>
            <a:off x="679704" y="594360"/>
            <a:ext cx="889102" cy="234696"/>
          </a:xfrm>
          <a:prstGeom prst="rect">
            <a:avLst/>
          </a:prstGeom>
          <a:noFill/>
          <a:ln>
            <a:noFill/>
          </a:ln>
        </p:spPr>
        <p:txBody>
          <a:bodyPr wrap="none" lIns="0" tIns="0" rIns="0" bIns="0" anchor="t" anchorCtr="0">
            <a:spAutoFit/>
          </a:bodyPr>
          <a:lstStyle/>
          <a:p>
            <a:pPr algn="l"/>
            <a:r>
              <a:rPr lang="ja-JP" sz="1200" b="1" spc="135" dirty="0">
                <a:solidFill>
                  <a:schemeClr val="accent1"/>
                </a:solidFill>
                <a:latin typeface="+mn-lt"/>
                <a:ea typeface="+mn-ea"/>
                <a:cs typeface="+mn-cs"/>
              </a:rPr>
              <a:t>PROBLEM</a:t>
            </a:r>
          </a:p>
        </p:txBody>
      </p:sp>
      <p:sp>
        <p:nvSpPr>
          <p:cNvPr id="4" name="TextBox 4"/>
          <p:cNvSpPr txBox="1"/>
          <p:nvPr/>
        </p:nvSpPr>
        <p:spPr>
          <a:xfrm>
            <a:off x="669798" y="831533"/>
            <a:ext cx="8937117" cy="616077"/>
          </a:xfrm>
          <a:prstGeom prst="rect">
            <a:avLst/>
          </a:prstGeom>
          <a:noFill/>
          <a:ln>
            <a:noFill/>
          </a:ln>
        </p:spPr>
        <p:txBody>
          <a:bodyPr wrap="none" lIns="0" tIns="0" rIns="0" bIns="0" anchor="t" anchorCtr="0">
            <a:spAutoFit/>
          </a:bodyPr>
          <a:lstStyle/>
          <a:p>
            <a:pPr algn="l"/>
            <a:r>
              <a:rPr lang="ja-JP" sz="3150" b="1" dirty="0">
                <a:solidFill>
                  <a:schemeClr val="dk1"/>
                </a:solidFill>
                <a:latin typeface="+mn-lt"/>
                <a:ea typeface="+mn-ea"/>
                <a:cs typeface="+mn-cs"/>
              </a:rPr>
              <a:t>既存画像編集の問題：不要な領域まで変化する</a:t>
            </a:r>
          </a:p>
        </p:txBody>
      </p:sp>
      <p:sp>
        <p:nvSpPr>
          <p:cNvPr id="5" name="Rectangle 5"/>
          <p:cNvSpPr/>
          <p:nvPr/>
        </p:nvSpPr>
        <p:spPr>
          <a:xfrm>
            <a:off x="685800" y="1352550"/>
            <a:ext cx="704850" cy="38100"/>
          </a:xfrm>
          <a:prstGeom prst="rect">
            <a:avLst/>
          </a:prstGeom>
          <a:solidFill>
            <a:schemeClr val="accent1"/>
          </a:solidFill>
          <a:ln>
            <a:noFill/>
          </a:ln>
        </p:spPr>
      </p:sp>
      <p:sp>
        <p:nvSpPr>
          <p:cNvPr id="6" name="TextBox 6"/>
          <p:cNvSpPr txBox="1"/>
          <p:nvPr/>
        </p:nvSpPr>
        <p:spPr>
          <a:xfrm>
            <a:off x="680466" y="6420802"/>
            <a:ext cx="2129538" cy="205359"/>
          </a:xfrm>
          <a:prstGeom prst="rect">
            <a:avLst/>
          </a:prstGeom>
          <a:noFill/>
          <a:ln>
            <a:noFill/>
          </a:ln>
        </p:spPr>
        <p:txBody>
          <a:bodyPr wrap="none" lIns="0" tIns="0" rIns="0" bIns="0" anchor="t" anchorCtr="0">
            <a:spAutoFit/>
          </a:bodyPr>
          <a:lstStyle/>
          <a:p>
            <a:pPr algn="l"/>
            <a:r>
              <a:rPr lang="ja-JP" sz="1050" dirty="0">
                <a:solidFill>
                  <a:schemeClr val="accent6"/>
                </a:solidFill>
                <a:latin typeface="+mn-lt"/>
                <a:ea typeface="+mn-ea"/>
                <a:cs typeface="+mn-cs"/>
              </a:rPr>
              <a:t>FoodStateEdit｜メディア情報学</a:t>
            </a:r>
          </a:p>
        </p:txBody>
      </p:sp>
      <p:sp>
        <p:nvSpPr>
          <p:cNvPr id="7" name="TextBox 7"/>
          <p:cNvSpPr txBox="1"/>
          <p:nvPr/>
        </p:nvSpPr>
        <p:spPr>
          <a:xfrm>
            <a:off x="11320402" y="6404610"/>
            <a:ext cx="191894" cy="234696"/>
          </a:xfrm>
          <a:prstGeom prst="rect">
            <a:avLst/>
          </a:prstGeom>
          <a:noFill/>
          <a:ln>
            <a:noFill/>
          </a:ln>
        </p:spPr>
        <p:txBody>
          <a:bodyPr wrap="none" lIns="0" tIns="0" rIns="0" bIns="0" anchor="t" anchorCtr="0">
            <a:spAutoFit/>
          </a:bodyPr>
          <a:lstStyle/>
          <a:p>
            <a:pPr algn="r"/>
            <a:r>
              <a:rPr lang="ja-JP" sz="1200" b="1" dirty="0">
                <a:solidFill>
                  <a:schemeClr val="accent1"/>
                </a:solidFill>
                <a:latin typeface="+mn-lt"/>
                <a:ea typeface="+mn-ea"/>
                <a:cs typeface="+mn-cs"/>
              </a:rPr>
              <a:t>03</a:t>
            </a:r>
          </a:p>
        </p:txBody>
      </p:sp>
      <p:grpSp>
        <p:nvGrpSpPr>
          <p:cNvPr id="25" name="unwanted-global-edit"/>
          <p:cNvGrpSpPr/>
          <p:nvPr/>
        </p:nvGrpSpPr>
        <p:grpSpPr>
          <a:xfrm>
            <a:off x="680466" y="1733550"/>
            <a:ext cx="10825734" cy="4654487"/>
            <a:chOff x="680466" y="1733550"/>
            <a:chExt cx="10825734" cy="4654487"/>
          </a:xfrm>
        </p:grpSpPr>
        <p:sp>
          <p:nvSpPr>
            <p:cNvPr id="8" name="Rectangle 8"/>
            <p:cNvSpPr/>
            <p:nvPr/>
          </p:nvSpPr>
          <p:spPr>
            <a:xfrm>
              <a:off x="685800" y="1733550"/>
              <a:ext cx="4762500" cy="3028950"/>
            </a:xfrm>
            <a:prstGeom prst="roundRect">
              <a:avLst>
                <a:gd name="adj" fmla="val 1887"/>
              </a:avLst>
            </a:prstGeom>
            <a:solidFill>
              <a:srgbClr val="F7F9FB"/>
            </a:solidFill>
            <a:ln w="19050">
              <a:solidFill>
                <a:srgbClr val="D8DDE3"/>
              </a:solidFill>
            </a:ln>
          </p:spPr>
        </p:sp>
        <p:pic>
          <p:nvPicPr>
            <p:cNvPr id="9" name="Image 9"/>
            <p:cNvPicPr>
              <a:picLocks noChangeAspect="1"/>
            </p:cNvPicPr>
            <p:nvPr/>
          </p:nvPicPr>
          <p:blipFill>
            <a:blip r:embed="rId2"/>
            <a:stretch>
              <a:fillRect/>
            </a:stretch>
          </p:blipFill>
          <p:spPr>
            <a:xfrm>
              <a:off x="1326356" y="1790700"/>
              <a:ext cx="3481388" cy="2914650"/>
            </a:xfrm>
            <a:prstGeom prst="rect">
              <a:avLst/>
            </a:prstGeom>
          </p:spPr>
        </p:pic>
        <p:sp>
          <p:nvSpPr>
            <p:cNvPr id="10" name="Rectangle 10"/>
            <p:cNvSpPr/>
            <p:nvPr/>
          </p:nvSpPr>
          <p:spPr>
            <a:xfrm>
              <a:off x="685800" y="1733550"/>
              <a:ext cx="4762500" cy="323850"/>
            </a:xfrm>
            <a:prstGeom prst="roundRect">
              <a:avLst>
                <a:gd name="adj" fmla="val 17647"/>
              </a:avLst>
            </a:prstGeom>
            <a:solidFill>
              <a:schemeClr val="accent1"/>
            </a:solidFill>
            <a:ln>
              <a:noFill/>
            </a:ln>
          </p:spPr>
        </p:sp>
        <p:sp>
          <p:nvSpPr>
            <p:cNvPr id="11" name="TextBox 11"/>
            <p:cNvSpPr txBox="1"/>
            <p:nvPr/>
          </p:nvSpPr>
          <p:spPr>
            <a:xfrm>
              <a:off x="812673" y="1824514"/>
              <a:ext cx="702208" cy="249364"/>
            </a:xfrm>
            <a:prstGeom prst="rect">
              <a:avLst/>
            </a:prstGeom>
            <a:noFill/>
            <a:ln>
              <a:noFill/>
            </a:ln>
          </p:spPr>
          <p:txBody>
            <a:bodyPr wrap="none" lIns="0" tIns="0" rIns="0" bIns="0" anchor="t" anchorCtr="0">
              <a:spAutoFit/>
            </a:bodyPr>
            <a:lstStyle/>
            <a:p>
              <a:pPr algn="l"/>
              <a:r>
                <a:rPr lang="ja-JP" sz="1280" b="1" dirty="0">
                  <a:solidFill>
                    <a:srgbClr val="FFFFFF"/>
                  </a:solidFill>
                  <a:latin typeface="+mn-lt"/>
                  <a:ea typeface="+mn-ea"/>
                  <a:cs typeface="+mn-cs"/>
                </a:rPr>
                <a:t>入力画像</a:t>
              </a:r>
            </a:p>
          </p:txBody>
        </p:sp>
        <p:sp>
          <p:nvSpPr>
            <p:cNvPr id="12" name="Rectangle 12"/>
            <p:cNvSpPr/>
            <p:nvPr/>
          </p:nvSpPr>
          <p:spPr>
            <a:xfrm>
              <a:off x="6743700" y="1733550"/>
              <a:ext cx="4762500" cy="3028950"/>
            </a:xfrm>
            <a:prstGeom prst="roundRect">
              <a:avLst>
                <a:gd name="adj" fmla="val 1887"/>
              </a:avLst>
            </a:prstGeom>
            <a:solidFill>
              <a:srgbClr val="F7F9FB"/>
            </a:solidFill>
            <a:ln w="19050">
              <a:solidFill>
                <a:srgbClr val="D8DDE3"/>
              </a:solidFill>
            </a:ln>
          </p:spPr>
        </p:sp>
        <p:pic>
          <p:nvPicPr>
            <p:cNvPr id="13" name="Image 13"/>
            <p:cNvPicPr>
              <a:picLocks noChangeAspect="1"/>
            </p:cNvPicPr>
            <p:nvPr/>
          </p:nvPicPr>
          <p:blipFill>
            <a:blip r:embed="rId3"/>
            <a:stretch>
              <a:fillRect/>
            </a:stretch>
          </p:blipFill>
          <p:spPr>
            <a:xfrm>
              <a:off x="7366109" y="1790700"/>
              <a:ext cx="3517681" cy="2914650"/>
            </a:xfrm>
            <a:prstGeom prst="rect">
              <a:avLst/>
            </a:prstGeom>
          </p:spPr>
        </p:pic>
        <p:sp>
          <p:nvSpPr>
            <p:cNvPr id="14" name="Rectangle 14"/>
            <p:cNvSpPr/>
            <p:nvPr/>
          </p:nvSpPr>
          <p:spPr>
            <a:xfrm>
              <a:off x="6743700" y="1733550"/>
              <a:ext cx="4762500" cy="323850"/>
            </a:xfrm>
            <a:prstGeom prst="roundRect">
              <a:avLst>
                <a:gd name="adj" fmla="val 17647"/>
              </a:avLst>
            </a:prstGeom>
            <a:solidFill>
              <a:schemeClr val="accent2"/>
            </a:solidFill>
            <a:ln>
              <a:noFill/>
            </a:ln>
          </p:spPr>
        </p:sp>
        <p:sp>
          <p:nvSpPr>
            <p:cNvPr id="15" name="TextBox 15"/>
            <p:cNvSpPr txBox="1"/>
            <p:nvPr/>
          </p:nvSpPr>
          <p:spPr>
            <a:xfrm>
              <a:off x="6870573" y="1824514"/>
              <a:ext cx="1563776" cy="249364"/>
            </a:xfrm>
            <a:prstGeom prst="rect">
              <a:avLst/>
            </a:prstGeom>
            <a:noFill/>
            <a:ln>
              <a:noFill/>
            </a:ln>
          </p:spPr>
          <p:txBody>
            <a:bodyPr wrap="none" lIns="0" tIns="0" rIns="0" bIns="0" anchor="t" anchorCtr="0">
              <a:spAutoFit/>
            </a:bodyPr>
            <a:lstStyle/>
            <a:p>
              <a:pPr algn="l"/>
              <a:r>
                <a:rPr lang="ja-JP" sz="1280" b="1" dirty="0">
                  <a:solidFill>
                    <a:srgbClr val="FFFFFF"/>
                  </a:solidFill>
                  <a:latin typeface="+mn-lt"/>
                  <a:ea typeface="+mn-ea"/>
                  <a:cs typeface="+mn-cs"/>
                </a:rPr>
                <a:t>一般的な生成編集例</a:t>
              </a:r>
            </a:p>
          </p:txBody>
        </p:sp>
        <p:sp>
          <p:nvSpPr>
            <p:cNvPr id="16" name="Line 16"/>
            <p:cNvSpPr/>
            <p:nvPr/>
          </p:nvSpPr>
          <p:spPr>
            <a:xfrm>
              <a:off x="5600700" y="3238500"/>
              <a:ext cx="857250" cy="9525"/>
            </a:xfrm>
            <a:custGeom>
              <a:avLst/>
              <a:gdLst/>
              <a:ahLst/>
              <a:cxnLst/>
              <a:rect l="l" t="t" r="r" b="b"/>
              <a:pathLst>
                <a:path w="857250" h="9525">
                  <a:moveTo>
                    <a:pt x="0" y="0"/>
                  </a:moveTo>
                  <a:lnTo>
                    <a:pt x="857250" y="0"/>
                  </a:lnTo>
                </a:path>
              </a:pathLst>
            </a:custGeom>
            <a:noFill/>
            <a:ln w="47625">
              <a:solidFill>
                <a:schemeClr val="accent2"/>
              </a:solidFill>
            </a:ln>
          </p:spPr>
        </p:sp>
        <p:sp>
          <p:nvSpPr>
            <p:cNvPr id="17" name="Polygon 17"/>
            <p:cNvSpPr/>
            <p:nvPr/>
          </p:nvSpPr>
          <p:spPr>
            <a:xfrm>
              <a:off x="6457950" y="3162300"/>
              <a:ext cx="114300" cy="152400"/>
            </a:xfrm>
            <a:custGeom>
              <a:avLst/>
              <a:gdLst/>
              <a:ahLst/>
              <a:cxnLst/>
              <a:rect l="l" t="t" r="r" b="b"/>
              <a:pathLst>
                <a:path w="114300" h="152400">
                  <a:moveTo>
                    <a:pt x="0" y="0"/>
                  </a:moveTo>
                  <a:lnTo>
                    <a:pt x="114300" y="76200"/>
                  </a:lnTo>
                  <a:lnTo>
                    <a:pt x="0" y="152400"/>
                  </a:lnTo>
                  <a:close/>
                </a:path>
              </a:pathLst>
            </a:custGeom>
            <a:solidFill>
              <a:schemeClr val="accent2"/>
            </a:solidFill>
            <a:ln>
              <a:noFill/>
            </a:ln>
          </p:spPr>
        </p:sp>
        <p:sp>
          <p:nvSpPr>
            <p:cNvPr id="18" name="TextBox 18"/>
            <p:cNvSpPr txBox="1"/>
            <p:nvPr/>
          </p:nvSpPr>
          <p:spPr>
            <a:xfrm>
              <a:off x="2352675" y="4943475"/>
              <a:ext cx="1428750" cy="293370"/>
            </a:xfrm>
            <a:prstGeom prst="rect">
              <a:avLst/>
            </a:prstGeom>
            <a:noFill/>
            <a:ln>
              <a:noFill/>
            </a:ln>
          </p:spPr>
          <p:txBody>
            <a:bodyPr wrap="none" lIns="0" tIns="0" rIns="0" bIns="0" anchor="t" anchorCtr="0">
              <a:spAutoFit/>
            </a:bodyPr>
            <a:lstStyle/>
            <a:p>
              <a:pPr algn="ctr"/>
              <a:r>
                <a:rPr lang="ja-JP" sz="1500" b="1" dirty="0">
                  <a:solidFill>
                    <a:schemeClr val="accent1"/>
                  </a:solidFill>
                  <a:latin typeface="+mn-lt"/>
                  <a:ea typeface="+mn-ea"/>
                  <a:cs typeface="+mn-cs"/>
                </a:rPr>
                <a:t>編集したい部分</a:t>
              </a:r>
            </a:p>
          </p:txBody>
        </p:sp>
        <p:sp>
          <p:nvSpPr>
            <p:cNvPr id="19" name="TextBox 19"/>
            <p:cNvSpPr txBox="1"/>
            <p:nvPr/>
          </p:nvSpPr>
          <p:spPr>
            <a:xfrm>
              <a:off x="2088642" y="5215890"/>
              <a:ext cx="1956816" cy="352044"/>
            </a:xfrm>
            <a:prstGeom prst="rect">
              <a:avLst/>
            </a:prstGeom>
            <a:noFill/>
            <a:ln>
              <a:noFill/>
            </a:ln>
          </p:spPr>
          <p:txBody>
            <a:bodyPr wrap="none" lIns="0" tIns="0" rIns="0" bIns="0" anchor="t" anchorCtr="0">
              <a:spAutoFit/>
            </a:bodyPr>
            <a:lstStyle/>
            <a:p>
              <a:pPr algn="ctr"/>
              <a:r>
                <a:rPr lang="ja-JP" sz="1800" b="1" dirty="0">
                  <a:solidFill>
                    <a:schemeClr val="dk1"/>
                  </a:solidFill>
                  <a:latin typeface="+mn-lt"/>
                  <a:ea typeface="+mn-ea"/>
                  <a:cs typeface="+mn-cs"/>
                </a:rPr>
                <a:t>箸と持ち上げる麺</a:t>
              </a:r>
            </a:p>
          </p:txBody>
        </p:sp>
        <p:sp>
          <p:nvSpPr>
            <p:cNvPr id="20" name="TextBox 20"/>
            <p:cNvSpPr txBox="1"/>
            <p:nvPr/>
          </p:nvSpPr>
          <p:spPr>
            <a:xfrm>
              <a:off x="8208645" y="4943475"/>
              <a:ext cx="1832610" cy="293370"/>
            </a:xfrm>
            <a:prstGeom prst="rect">
              <a:avLst/>
            </a:prstGeom>
            <a:noFill/>
            <a:ln>
              <a:noFill/>
            </a:ln>
          </p:spPr>
          <p:txBody>
            <a:bodyPr wrap="none" lIns="0" tIns="0" rIns="0" bIns="0" anchor="t" anchorCtr="0">
              <a:spAutoFit/>
            </a:bodyPr>
            <a:lstStyle/>
            <a:p>
              <a:pPr algn="ctr"/>
              <a:r>
                <a:rPr lang="ja-JP" sz="1500" b="1" dirty="0">
                  <a:solidFill>
                    <a:schemeClr val="accent2"/>
                  </a:solidFill>
                  <a:latin typeface="+mn-lt"/>
                  <a:ea typeface="+mn-ea"/>
                  <a:cs typeface="+mn-cs"/>
                </a:rPr>
                <a:t>実際に変化した部分</a:t>
              </a:r>
            </a:p>
          </p:txBody>
        </p:sp>
        <p:sp>
          <p:nvSpPr>
            <p:cNvPr id="21" name="TextBox 21"/>
            <p:cNvSpPr txBox="1"/>
            <p:nvPr/>
          </p:nvSpPr>
          <p:spPr>
            <a:xfrm>
              <a:off x="7783068" y="5215890"/>
              <a:ext cx="2683764" cy="352044"/>
            </a:xfrm>
            <a:prstGeom prst="rect">
              <a:avLst/>
            </a:prstGeom>
            <a:noFill/>
            <a:ln>
              <a:noFill/>
            </a:ln>
          </p:spPr>
          <p:txBody>
            <a:bodyPr wrap="none" lIns="0" tIns="0" rIns="0" bIns="0" anchor="t" anchorCtr="0">
              <a:spAutoFit/>
            </a:bodyPr>
            <a:lstStyle/>
            <a:p>
              <a:pPr algn="ctr"/>
              <a:r>
                <a:rPr lang="ja-JP" sz="1800" b="1" dirty="0">
                  <a:solidFill>
                    <a:schemeClr val="dk1"/>
                  </a:solidFill>
                  <a:latin typeface="+mn-lt"/>
                  <a:ea typeface="+mn-ea"/>
                  <a:cs typeface="+mn-cs"/>
                </a:rPr>
                <a:t>画角・背景・器・麺全体</a:t>
              </a:r>
            </a:p>
          </p:txBody>
        </p:sp>
        <p:sp>
          <p:nvSpPr>
            <p:cNvPr id="22" name="Rectangle 22"/>
            <p:cNvSpPr/>
            <p:nvPr/>
          </p:nvSpPr>
          <p:spPr>
            <a:xfrm>
              <a:off x="990600" y="5638800"/>
              <a:ext cx="10210800" cy="495300"/>
            </a:xfrm>
            <a:prstGeom prst="roundRect">
              <a:avLst>
                <a:gd name="adj" fmla="val 9615"/>
              </a:avLst>
            </a:prstGeom>
            <a:solidFill>
              <a:srgbClr val="F1FAF4"/>
            </a:solidFill>
            <a:ln w="19050">
              <a:solidFill>
                <a:srgbClr val="2E8B57"/>
              </a:solidFill>
            </a:ln>
          </p:spPr>
        </p:sp>
        <p:sp>
          <p:nvSpPr>
            <p:cNvPr id="23" name="TextBox 23"/>
            <p:cNvSpPr txBox="1"/>
            <p:nvPr/>
          </p:nvSpPr>
          <p:spPr>
            <a:xfrm>
              <a:off x="2163648" y="5760244"/>
              <a:ext cx="7864704" cy="366712"/>
            </a:xfrm>
            <a:prstGeom prst="rect">
              <a:avLst/>
            </a:prstGeom>
            <a:noFill/>
            <a:ln>
              <a:noFill/>
            </a:ln>
          </p:spPr>
          <p:txBody>
            <a:bodyPr wrap="none" lIns="0" tIns="0" rIns="0" bIns="0" anchor="t" anchorCtr="0">
              <a:spAutoFit/>
            </a:bodyPr>
            <a:lstStyle/>
            <a:p>
              <a:pPr algn="ctr"/>
              <a:r>
                <a:rPr lang="ja-JP" sz="1880" b="1" dirty="0">
                  <a:solidFill>
                    <a:srgbClr val="2E8B57"/>
                  </a:solidFill>
                  <a:latin typeface="+mn-lt"/>
                  <a:ea typeface="+mn-ea"/>
                  <a:cs typeface="+mn-cs"/>
                </a:rPr>
                <a:t>本研究：必要な操作領域だけを変え、その他は原画像のまま保持する</a:t>
              </a:r>
            </a:p>
          </p:txBody>
        </p:sp>
        <p:sp>
          <p:nvSpPr>
            <p:cNvPr id="24" name="TextBox 24"/>
            <p:cNvSpPr txBox="1"/>
            <p:nvPr/>
          </p:nvSpPr>
          <p:spPr>
            <a:xfrm>
              <a:off x="680466" y="6182678"/>
              <a:ext cx="5551627" cy="205359"/>
            </a:xfrm>
            <a:prstGeom prst="rect">
              <a:avLst/>
            </a:prstGeom>
            <a:noFill/>
            <a:ln>
              <a:noFill/>
            </a:ln>
          </p:spPr>
          <p:txBody>
            <a:bodyPr wrap="none" lIns="0" tIns="0" rIns="0" bIns="0" anchor="t" anchorCtr="0">
              <a:spAutoFit/>
            </a:bodyPr>
            <a:lstStyle/>
            <a:p>
              <a:pPr algn="l"/>
              <a:r>
                <a:rPr lang="ja-JP" sz="1050" dirty="0">
                  <a:solidFill>
                    <a:schemeClr val="accent6"/>
                  </a:solidFill>
                  <a:latin typeface="+mn-lt"/>
                  <a:ea typeface="+mn-ea"/>
                  <a:cs typeface="+mn-cs"/>
                </a:rPr>
                <a:t>※ 同一入力・seed 1 の例。右画像は写真らしいが、入力との局所対応が失われている。</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400050"/>
            <a:ext cx="10820400" cy="9525"/>
          </a:xfrm>
          <a:custGeom>
            <a:avLst/>
            <a:gdLst/>
            <a:ahLst/>
            <a:cxnLst/>
            <a:rect l="l" t="t" r="r" b="b"/>
            <a:pathLst>
              <a:path w="10820400" h="9525">
                <a:moveTo>
                  <a:pt x="0" y="0"/>
                </a:moveTo>
                <a:lnTo>
                  <a:pt x="10820400" y="0"/>
                </a:lnTo>
              </a:path>
            </a:pathLst>
          </a:custGeom>
          <a:noFill/>
          <a:ln w="19050">
            <a:solidFill>
              <a:srgbClr val="D8DDE3"/>
            </a:solidFill>
          </a:ln>
        </p:spPr>
      </p:sp>
      <p:sp>
        <p:nvSpPr>
          <p:cNvPr id="3" name="TextBox 3"/>
          <p:cNvSpPr txBox="1"/>
          <p:nvPr/>
        </p:nvSpPr>
        <p:spPr>
          <a:xfrm>
            <a:off x="679704" y="594360"/>
            <a:ext cx="889102" cy="234696"/>
          </a:xfrm>
          <a:prstGeom prst="rect">
            <a:avLst/>
          </a:prstGeom>
          <a:noFill/>
          <a:ln>
            <a:noFill/>
          </a:ln>
        </p:spPr>
        <p:txBody>
          <a:bodyPr wrap="none" lIns="0" tIns="0" rIns="0" bIns="0" anchor="t" anchorCtr="0">
            <a:spAutoFit/>
          </a:bodyPr>
          <a:lstStyle/>
          <a:p>
            <a:pPr algn="l"/>
            <a:r>
              <a:rPr lang="ja-JP" sz="1200" b="1" spc="135" dirty="0">
                <a:solidFill>
                  <a:schemeClr val="accent1"/>
                </a:solidFill>
                <a:latin typeface="+mn-lt"/>
                <a:ea typeface="+mn-ea"/>
                <a:cs typeface="+mn-cs"/>
              </a:rPr>
              <a:t>PROBLEM</a:t>
            </a:r>
          </a:p>
        </p:txBody>
      </p:sp>
      <p:sp>
        <p:nvSpPr>
          <p:cNvPr id="4" name="TextBox 4"/>
          <p:cNvSpPr txBox="1"/>
          <p:nvPr/>
        </p:nvSpPr>
        <p:spPr>
          <a:xfrm>
            <a:off x="669798" y="831533"/>
            <a:ext cx="10209276" cy="616077"/>
          </a:xfrm>
          <a:prstGeom prst="rect">
            <a:avLst/>
          </a:prstGeom>
          <a:noFill/>
          <a:ln>
            <a:noFill/>
          </a:ln>
        </p:spPr>
        <p:txBody>
          <a:bodyPr wrap="none" lIns="0" tIns="0" rIns="0" bIns="0" anchor="t" anchorCtr="0">
            <a:spAutoFit/>
          </a:bodyPr>
          <a:lstStyle/>
          <a:p>
            <a:pPr algn="l"/>
            <a:r>
              <a:rPr lang="ja-JP" sz="3150" b="1" dirty="0">
                <a:solidFill>
                  <a:schemeClr val="dk1"/>
                </a:solidFill>
                <a:latin typeface="+mn-lt"/>
                <a:ea typeface="+mn-ea"/>
                <a:cs typeface="+mn-cs"/>
              </a:rPr>
              <a:t>課題：最終画像だけでは操作の正しさを保証できない</a:t>
            </a:r>
          </a:p>
        </p:txBody>
      </p:sp>
      <p:sp>
        <p:nvSpPr>
          <p:cNvPr id="5" name="Rectangle 5"/>
          <p:cNvSpPr/>
          <p:nvPr/>
        </p:nvSpPr>
        <p:spPr>
          <a:xfrm>
            <a:off x="685800" y="1352550"/>
            <a:ext cx="704850" cy="38100"/>
          </a:xfrm>
          <a:prstGeom prst="rect">
            <a:avLst/>
          </a:prstGeom>
          <a:solidFill>
            <a:schemeClr val="accent1"/>
          </a:solidFill>
          <a:ln>
            <a:noFill/>
          </a:ln>
        </p:spPr>
      </p:sp>
      <p:sp>
        <p:nvSpPr>
          <p:cNvPr id="6" name="TextBox 6"/>
          <p:cNvSpPr txBox="1"/>
          <p:nvPr/>
        </p:nvSpPr>
        <p:spPr>
          <a:xfrm>
            <a:off x="680466" y="6420802"/>
            <a:ext cx="2129538" cy="205359"/>
          </a:xfrm>
          <a:prstGeom prst="rect">
            <a:avLst/>
          </a:prstGeom>
          <a:noFill/>
          <a:ln>
            <a:noFill/>
          </a:ln>
        </p:spPr>
        <p:txBody>
          <a:bodyPr wrap="none" lIns="0" tIns="0" rIns="0" bIns="0" anchor="t" anchorCtr="0">
            <a:spAutoFit/>
          </a:bodyPr>
          <a:lstStyle/>
          <a:p>
            <a:pPr algn="l"/>
            <a:r>
              <a:rPr lang="ja-JP" sz="1050" dirty="0">
                <a:solidFill>
                  <a:schemeClr val="accent6"/>
                </a:solidFill>
                <a:latin typeface="+mn-lt"/>
                <a:ea typeface="+mn-ea"/>
                <a:cs typeface="+mn-cs"/>
              </a:rPr>
              <a:t>FoodStateEdit｜メディア情報学</a:t>
            </a:r>
          </a:p>
        </p:txBody>
      </p:sp>
      <p:sp>
        <p:nvSpPr>
          <p:cNvPr id="7" name="TextBox 7"/>
          <p:cNvSpPr txBox="1"/>
          <p:nvPr/>
        </p:nvSpPr>
        <p:spPr>
          <a:xfrm>
            <a:off x="11320402" y="6404610"/>
            <a:ext cx="191894" cy="234696"/>
          </a:xfrm>
          <a:prstGeom prst="rect">
            <a:avLst/>
          </a:prstGeom>
          <a:noFill/>
          <a:ln>
            <a:noFill/>
          </a:ln>
        </p:spPr>
        <p:txBody>
          <a:bodyPr wrap="none" lIns="0" tIns="0" rIns="0" bIns="0" anchor="t" anchorCtr="0">
            <a:spAutoFit/>
          </a:bodyPr>
          <a:lstStyle/>
          <a:p>
            <a:pPr algn="r"/>
            <a:r>
              <a:rPr lang="ja-JP" sz="1200" b="1" dirty="0">
                <a:solidFill>
                  <a:schemeClr val="accent1"/>
                </a:solidFill>
                <a:latin typeface="+mn-lt"/>
                <a:ea typeface="+mn-ea"/>
                <a:cs typeface="+mn-cs"/>
              </a:rPr>
              <a:t>04</a:t>
            </a:r>
          </a:p>
        </p:txBody>
      </p:sp>
      <p:grpSp>
        <p:nvGrpSpPr>
          <p:cNvPr id="35" name="slide-content"/>
          <p:cNvGrpSpPr/>
          <p:nvPr/>
        </p:nvGrpSpPr>
        <p:grpSpPr>
          <a:xfrm>
            <a:off x="980719" y="2190750"/>
            <a:ext cx="10220681" cy="3945731"/>
            <a:chOff x="980719" y="2190750"/>
            <a:chExt cx="10220681" cy="3945731"/>
          </a:xfrm>
        </p:grpSpPr>
        <p:sp>
          <p:nvSpPr>
            <p:cNvPr id="8" name="Ellipse 8"/>
            <p:cNvSpPr/>
            <p:nvPr/>
          </p:nvSpPr>
          <p:spPr>
            <a:xfrm>
              <a:off x="1352550" y="2190750"/>
              <a:ext cx="800100" cy="800100"/>
            </a:xfrm>
            <a:prstGeom prst="ellipse">
              <a:avLst/>
            </a:prstGeom>
            <a:solidFill>
              <a:schemeClr val="accent5"/>
            </a:solidFill>
            <a:ln w="28575">
              <a:solidFill>
                <a:schemeClr val="accent1"/>
              </a:solidFill>
            </a:ln>
          </p:spPr>
        </p:sp>
        <p:sp>
          <p:nvSpPr>
            <p:cNvPr id="9" name="TextBox 9"/>
            <p:cNvSpPr txBox="1"/>
            <p:nvPr/>
          </p:nvSpPr>
          <p:spPr>
            <a:xfrm>
              <a:off x="1663313" y="2468880"/>
              <a:ext cx="178575" cy="410718"/>
            </a:xfrm>
            <a:prstGeom prst="rect">
              <a:avLst/>
            </a:prstGeom>
            <a:noFill/>
            <a:ln>
              <a:noFill/>
            </a:ln>
          </p:spPr>
          <p:txBody>
            <a:bodyPr wrap="none" lIns="0" tIns="0" rIns="0" bIns="0" anchor="t" anchorCtr="0">
              <a:spAutoFit/>
            </a:bodyPr>
            <a:lstStyle/>
            <a:p>
              <a:pPr algn="ctr"/>
              <a:r>
                <a:rPr lang="ja-JP" sz="2100" b="1" dirty="0">
                  <a:solidFill>
                    <a:schemeClr val="accent1"/>
                  </a:solidFill>
                  <a:latin typeface="+mn-lt"/>
                  <a:ea typeface="+mn-ea"/>
                  <a:cs typeface="+mn-cs"/>
                </a:rPr>
                <a:t>1</a:t>
              </a:r>
            </a:p>
          </p:txBody>
        </p:sp>
        <p:sp>
          <p:nvSpPr>
            <p:cNvPr id="10" name="TextBox 10"/>
            <p:cNvSpPr txBox="1"/>
            <p:nvPr/>
          </p:nvSpPr>
          <p:spPr>
            <a:xfrm>
              <a:off x="1459230" y="3078480"/>
              <a:ext cx="586740" cy="410718"/>
            </a:xfrm>
            <a:prstGeom prst="rect">
              <a:avLst/>
            </a:prstGeom>
            <a:noFill/>
            <a:ln>
              <a:noFill/>
            </a:ln>
          </p:spPr>
          <p:txBody>
            <a:bodyPr wrap="none" lIns="0" tIns="0" rIns="0" bIns="0" anchor="t" anchorCtr="0">
              <a:spAutoFit/>
            </a:bodyPr>
            <a:lstStyle/>
            <a:p>
              <a:pPr algn="ctr"/>
              <a:r>
                <a:rPr lang="ja-JP" sz="2100" b="1" dirty="0">
                  <a:solidFill>
                    <a:schemeClr val="dk1"/>
                  </a:solidFill>
                  <a:latin typeface="+mn-lt"/>
                  <a:ea typeface="+mn-ea"/>
                  <a:cs typeface="+mn-cs"/>
                </a:rPr>
                <a:t>道具</a:t>
              </a:r>
            </a:p>
          </p:txBody>
        </p:sp>
        <p:sp>
          <p:nvSpPr>
            <p:cNvPr id="11" name="TextBox 11"/>
            <p:cNvSpPr txBox="1"/>
            <p:nvPr/>
          </p:nvSpPr>
          <p:spPr>
            <a:xfrm>
              <a:off x="980719" y="3484721"/>
              <a:ext cx="1543761" cy="278702"/>
            </a:xfrm>
            <a:prstGeom prst="rect">
              <a:avLst/>
            </a:prstGeom>
            <a:noFill/>
            <a:ln>
              <a:noFill/>
            </a:ln>
          </p:spPr>
          <p:txBody>
            <a:bodyPr wrap="none" lIns="0" tIns="0" rIns="0" bIns="0" anchor="t" anchorCtr="0">
              <a:spAutoFit/>
            </a:bodyPr>
            <a:lstStyle/>
            <a:p>
              <a:pPr algn="ctr"/>
              <a:r>
                <a:rPr lang="ja-JP" sz="1420" dirty="0">
                  <a:solidFill>
                    <a:schemeClr val="accent6"/>
                  </a:solidFill>
                  <a:latin typeface="+mn-lt"/>
                  <a:ea typeface="+mn-ea"/>
                  <a:cs typeface="+mn-cs"/>
                </a:rPr>
                <a:t>適切な種類・姿勢</a:t>
              </a:r>
            </a:p>
          </p:txBody>
        </p:sp>
        <p:sp>
          <p:nvSpPr>
            <p:cNvPr id="12" name="Line 12"/>
            <p:cNvSpPr/>
            <p:nvPr/>
          </p:nvSpPr>
          <p:spPr>
            <a:xfrm>
              <a:off x="2247900" y="2590800"/>
              <a:ext cx="1581150" cy="9525"/>
            </a:xfrm>
            <a:custGeom>
              <a:avLst/>
              <a:gdLst/>
              <a:ahLst/>
              <a:cxnLst/>
              <a:rect l="l" t="t" r="r" b="b"/>
              <a:pathLst>
                <a:path w="1581150" h="9525">
                  <a:moveTo>
                    <a:pt x="0" y="0"/>
                  </a:moveTo>
                  <a:lnTo>
                    <a:pt x="1581150" y="0"/>
                  </a:lnTo>
                </a:path>
              </a:pathLst>
            </a:custGeom>
            <a:noFill/>
            <a:ln w="28575">
              <a:solidFill>
                <a:srgbClr val="D8DDE3"/>
              </a:solidFill>
            </a:ln>
          </p:spPr>
        </p:sp>
        <p:sp>
          <p:nvSpPr>
            <p:cNvPr id="13" name="Polygon 13"/>
            <p:cNvSpPr/>
            <p:nvPr/>
          </p:nvSpPr>
          <p:spPr>
            <a:xfrm>
              <a:off x="3829050" y="2514600"/>
              <a:ext cx="114300" cy="152400"/>
            </a:xfrm>
            <a:custGeom>
              <a:avLst/>
              <a:gdLst/>
              <a:ahLst/>
              <a:cxnLst/>
              <a:rect l="l" t="t" r="r" b="b"/>
              <a:pathLst>
                <a:path w="114300" h="152400">
                  <a:moveTo>
                    <a:pt x="0" y="0"/>
                  </a:moveTo>
                  <a:lnTo>
                    <a:pt x="114300" y="76200"/>
                  </a:lnTo>
                  <a:lnTo>
                    <a:pt x="0" y="152400"/>
                  </a:lnTo>
                  <a:close/>
                </a:path>
              </a:pathLst>
            </a:custGeom>
            <a:solidFill>
              <a:srgbClr val="D8DDE3"/>
            </a:solidFill>
            <a:ln>
              <a:noFill/>
            </a:ln>
          </p:spPr>
        </p:sp>
        <p:sp>
          <p:nvSpPr>
            <p:cNvPr id="14" name="Ellipse 14"/>
            <p:cNvSpPr/>
            <p:nvPr/>
          </p:nvSpPr>
          <p:spPr>
            <a:xfrm>
              <a:off x="4057650" y="2190750"/>
              <a:ext cx="800100" cy="800100"/>
            </a:xfrm>
            <a:prstGeom prst="ellipse">
              <a:avLst/>
            </a:prstGeom>
            <a:solidFill>
              <a:schemeClr val="accent5"/>
            </a:solidFill>
            <a:ln w="28575">
              <a:solidFill>
                <a:schemeClr val="accent1"/>
              </a:solidFill>
            </a:ln>
          </p:spPr>
        </p:sp>
        <p:sp>
          <p:nvSpPr>
            <p:cNvPr id="15" name="TextBox 15"/>
            <p:cNvSpPr txBox="1"/>
            <p:nvPr/>
          </p:nvSpPr>
          <p:spPr>
            <a:xfrm>
              <a:off x="4368413" y="2468880"/>
              <a:ext cx="178575" cy="410718"/>
            </a:xfrm>
            <a:prstGeom prst="rect">
              <a:avLst/>
            </a:prstGeom>
            <a:noFill/>
            <a:ln>
              <a:noFill/>
            </a:ln>
          </p:spPr>
          <p:txBody>
            <a:bodyPr wrap="none" lIns="0" tIns="0" rIns="0" bIns="0" anchor="t" anchorCtr="0">
              <a:spAutoFit/>
            </a:bodyPr>
            <a:lstStyle/>
            <a:p>
              <a:pPr algn="ctr"/>
              <a:r>
                <a:rPr lang="ja-JP" sz="2100" b="1" dirty="0">
                  <a:solidFill>
                    <a:schemeClr val="accent1"/>
                  </a:solidFill>
                  <a:latin typeface="+mn-lt"/>
                  <a:ea typeface="+mn-ea"/>
                  <a:cs typeface="+mn-cs"/>
                </a:rPr>
                <a:t>2</a:t>
              </a:r>
            </a:p>
          </p:txBody>
        </p:sp>
        <p:sp>
          <p:nvSpPr>
            <p:cNvPr id="16" name="TextBox 16"/>
            <p:cNvSpPr txBox="1"/>
            <p:nvPr/>
          </p:nvSpPr>
          <p:spPr>
            <a:xfrm>
              <a:off x="4164330" y="3078480"/>
              <a:ext cx="586740" cy="410718"/>
            </a:xfrm>
            <a:prstGeom prst="rect">
              <a:avLst/>
            </a:prstGeom>
            <a:noFill/>
            <a:ln>
              <a:noFill/>
            </a:ln>
          </p:spPr>
          <p:txBody>
            <a:bodyPr wrap="none" lIns="0" tIns="0" rIns="0" bIns="0" anchor="t" anchorCtr="0">
              <a:spAutoFit/>
            </a:bodyPr>
            <a:lstStyle/>
            <a:p>
              <a:pPr algn="ctr"/>
              <a:r>
                <a:rPr lang="ja-JP" sz="2100" b="1" dirty="0">
                  <a:solidFill>
                    <a:schemeClr val="dk1"/>
                  </a:solidFill>
                  <a:latin typeface="+mn-lt"/>
                  <a:ea typeface="+mn-ea"/>
                  <a:cs typeface="+mn-cs"/>
                </a:rPr>
                <a:t>接触</a:t>
              </a:r>
            </a:p>
          </p:txBody>
        </p:sp>
        <p:sp>
          <p:nvSpPr>
            <p:cNvPr id="17" name="TextBox 17"/>
            <p:cNvSpPr txBox="1"/>
            <p:nvPr/>
          </p:nvSpPr>
          <p:spPr>
            <a:xfrm>
              <a:off x="3876980" y="3484721"/>
              <a:ext cx="1161440" cy="278702"/>
            </a:xfrm>
            <a:prstGeom prst="rect">
              <a:avLst/>
            </a:prstGeom>
            <a:noFill/>
            <a:ln>
              <a:noFill/>
            </a:ln>
          </p:spPr>
          <p:txBody>
            <a:bodyPr wrap="none" lIns="0" tIns="0" rIns="0" bIns="0" anchor="t" anchorCtr="0">
              <a:spAutoFit/>
            </a:bodyPr>
            <a:lstStyle/>
            <a:p>
              <a:pPr algn="ctr"/>
              <a:r>
                <a:rPr lang="ja-JP" sz="1420" dirty="0">
                  <a:solidFill>
                    <a:schemeClr val="accent6"/>
                  </a:solidFill>
                  <a:latin typeface="+mn-lt"/>
                  <a:ea typeface="+mn-ea"/>
                  <a:cs typeface="+mn-cs"/>
                </a:rPr>
                <a:t>食物との接点</a:t>
              </a:r>
            </a:p>
          </p:txBody>
        </p:sp>
        <p:sp>
          <p:nvSpPr>
            <p:cNvPr id="18" name="Line 18"/>
            <p:cNvSpPr/>
            <p:nvPr/>
          </p:nvSpPr>
          <p:spPr>
            <a:xfrm>
              <a:off x="4953000" y="2590800"/>
              <a:ext cx="1581150" cy="9525"/>
            </a:xfrm>
            <a:custGeom>
              <a:avLst/>
              <a:gdLst/>
              <a:ahLst/>
              <a:cxnLst/>
              <a:rect l="l" t="t" r="r" b="b"/>
              <a:pathLst>
                <a:path w="1581150" h="9525">
                  <a:moveTo>
                    <a:pt x="0" y="0"/>
                  </a:moveTo>
                  <a:lnTo>
                    <a:pt x="1581150" y="0"/>
                  </a:lnTo>
                </a:path>
              </a:pathLst>
            </a:custGeom>
            <a:noFill/>
            <a:ln w="28575">
              <a:solidFill>
                <a:srgbClr val="D8DDE3"/>
              </a:solidFill>
            </a:ln>
          </p:spPr>
        </p:sp>
        <p:sp>
          <p:nvSpPr>
            <p:cNvPr id="19" name="Polygon 19"/>
            <p:cNvSpPr/>
            <p:nvPr/>
          </p:nvSpPr>
          <p:spPr>
            <a:xfrm>
              <a:off x="6534150" y="2514600"/>
              <a:ext cx="114300" cy="152400"/>
            </a:xfrm>
            <a:custGeom>
              <a:avLst/>
              <a:gdLst/>
              <a:ahLst/>
              <a:cxnLst/>
              <a:rect l="l" t="t" r="r" b="b"/>
              <a:pathLst>
                <a:path w="114300" h="152400">
                  <a:moveTo>
                    <a:pt x="0" y="0"/>
                  </a:moveTo>
                  <a:lnTo>
                    <a:pt x="114300" y="76200"/>
                  </a:lnTo>
                  <a:lnTo>
                    <a:pt x="0" y="152400"/>
                  </a:lnTo>
                  <a:close/>
                </a:path>
              </a:pathLst>
            </a:custGeom>
            <a:solidFill>
              <a:srgbClr val="D8DDE3"/>
            </a:solidFill>
            <a:ln>
              <a:noFill/>
            </a:ln>
          </p:spPr>
        </p:sp>
        <p:sp>
          <p:nvSpPr>
            <p:cNvPr id="20" name="Ellipse 20"/>
            <p:cNvSpPr/>
            <p:nvPr/>
          </p:nvSpPr>
          <p:spPr>
            <a:xfrm>
              <a:off x="6762750" y="2190750"/>
              <a:ext cx="800100" cy="800100"/>
            </a:xfrm>
            <a:prstGeom prst="ellipse">
              <a:avLst/>
            </a:prstGeom>
            <a:solidFill>
              <a:schemeClr val="accent5"/>
            </a:solidFill>
            <a:ln w="28575">
              <a:solidFill>
                <a:schemeClr val="accent1"/>
              </a:solidFill>
            </a:ln>
          </p:spPr>
        </p:sp>
        <p:sp>
          <p:nvSpPr>
            <p:cNvPr id="21" name="TextBox 21"/>
            <p:cNvSpPr txBox="1"/>
            <p:nvPr/>
          </p:nvSpPr>
          <p:spPr>
            <a:xfrm>
              <a:off x="7073513" y="2468880"/>
              <a:ext cx="178575" cy="410718"/>
            </a:xfrm>
            <a:prstGeom prst="rect">
              <a:avLst/>
            </a:prstGeom>
            <a:noFill/>
            <a:ln>
              <a:noFill/>
            </a:ln>
          </p:spPr>
          <p:txBody>
            <a:bodyPr wrap="none" lIns="0" tIns="0" rIns="0" bIns="0" anchor="t" anchorCtr="0">
              <a:spAutoFit/>
            </a:bodyPr>
            <a:lstStyle/>
            <a:p>
              <a:pPr algn="ctr"/>
              <a:r>
                <a:rPr lang="ja-JP" sz="2100" b="1" dirty="0">
                  <a:solidFill>
                    <a:schemeClr val="accent1"/>
                  </a:solidFill>
                  <a:latin typeface="+mn-lt"/>
                  <a:ea typeface="+mn-ea"/>
                  <a:cs typeface="+mn-cs"/>
                </a:rPr>
                <a:t>3</a:t>
              </a:r>
            </a:p>
          </p:txBody>
        </p:sp>
        <p:sp>
          <p:nvSpPr>
            <p:cNvPr id="22" name="TextBox 22"/>
            <p:cNvSpPr txBox="1"/>
            <p:nvPr/>
          </p:nvSpPr>
          <p:spPr>
            <a:xfrm>
              <a:off x="6586728" y="3078480"/>
              <a:ext cx="1152144" cy="410718"/>
            </a:xfrm>
            <a:prstGeom prst="rect">
              <a:avLst/>
            </a:prstGeom>
            <a:noFill/>
            <a:ln>
              <a:noFill/>
            </a:ln>
          </p:spPr>
          <p:txBody>
            <a:bodyPr wrap="none" lIns="0" tIns="0" rIns="0" bIns="0" anchor="t" anchorCtr="0">
              <a:spAutoFit/>
            </a:bodyPr>
            <a:lstStyle/>
            <a:p>
              <a:pPr algn="ctr"/>
              <a:r>
                <a:rPr lang="ja-JP" sz="2100" b="1" dirty="0">
                  <a:solidFill>
                    <a:schemeClr val="dk1"/>
                  </a:solidFill>
                  <a:latin typeface="+mn-lt"/>
                  <a:ea typeface="+mn-ea"/>
                  <a:cs typeface="+mn-cs"/>
                </a:rPr>
                <a:t>持ち上げ</a:t>
              </a:r>
            </a:p>
          </p:txBody>
        </p:sp>
        <p:sp>
          <p:nvSpPr>
            <p:cNvPr id="23" name="TextBox 23"/>
            <p:cNvSpPr txBox="1"/>
            <p:nvPr/>
          </p:nvSpPr>
          <p:spPr>
            <a:xfrm>
              <a:off x="6390919" y="3484721"/>
              <a:ext cx="1543761" cy="278702"/>
            </a:xfrm>
            <a:prstGeom prst="rect">
              <a:avLst/>
            </a:prstGeom>
            <a:noFill/>
            <a:ln>
              <a:noFill/>
            </a:ln>
          </p:spPr>
          <p:txBody>
            <a:bodyPr wrap="none" lIns="0" tIns="0" rIns="0" bIns="0" anchor="t" anchorCtr="0">
              <a:spAutoFit/>
            </a:bodyPr>
            <a:lstStyle/>
            <a:p>
              <a:pPr algn="ctr"/>
              <a:r>
                <a:rPr lang="ja-JP" sz="1420" dirty="0">
                  <a:solidFill>
                    <a:schemeClr val="accent6"/>
                  </a:solidFill>
                  <a:latin typeface="+mn-lt"/>
                  <a:ea typeface="+mn-ea"/>
                  <a:cs typeface="+mn-cs"/>
                </a:rPr>
                <a:t>食物の追従・移動</a:t>
              </a:r>
            </a:p>
          </p:txBody>
        </p:sp>
        <p:sp>
          <p:nvSpPr>
            <p:cNvPr id="24" name="Line 24"/>
            <p:cNvSpPr/>
            <p:nvPr/>
          </p:nvSpPr>
          <p:spPr>
            <a:xfrm>
              <a:off x="7658100" y="2590800"/>
              <a:ext cx="1581150" cy="9525"/>
            </a:xfrm>
            <a:custGeom>
              <a:avLst/>
              <a:gdLst/>
              <a:ahLst/>
              <a:cxnLst/>
              <a:rect l="l" t="t" r="r" b="b"/>
              <a:pathLst>
                <a:path w="1581150" h="9525">
                  <a:moveTo>
                    <a:pt x="0" y="0"/>
                  </a:moveTo>
                  <a:lnTo>
                    <a:pt x="1581150" y="0"/>
                  </a:lnTo>
                </a:path>
              </a:pathLst>
            </a:custGeom>
            <a:noFill/>
            <a:ln w="28575">
              <a:solidFill>
                <a:srgbClr val="D8DDE3"/>
              </a:solidFill>
            </a:ln>
          </p:spPr>
        </p:sp>
        <p:sp>
          <p:nvSpPr>
            <p:cNvPr id="25" name="Polygon 25"/>
            <p:cNvSpPr/>
            <p:nvPr/>
          </p:nvSpPr>
          <p:spPr>
            <a:xfrm>
              <a:off x="9239250" y="2514600"/>
              <a:ext cx="114300" cy="152400"/>
            </a:xfrm>
            <a:custGeom>
              <a:avLst/>
              <a:gdLst/>
              <a:ahLst/>
              <a:cxnLst/>
              <a:rect l="l" t="t" r="r" b="b"/>
              <a:pathLst>
                <a:path w="114300" h="152400">
                  <a:moveTo>
                    <a:pt x="0" y="0"/>
                  </a:moveTo>
                  <a:lnTo>
                    <a:pt x="114300" y="76200"/>
                  </a:lnTo>
                  <a:lnTo>
                    <a:pt x="0" y="152400"/>
                  </a:lnTo>
                  <a:close/>
                </a:path>
              </a:pathLst>
            </a:custGeom>
            <a:solidFill>
              <a:srgbClr val="D8DDE3"/>
            </a:solidFill>
            <a:ln>
              <a:noFill/>
            </a:ln>
          </p:spPr>
        </p:sp>
        <p:sp>
          <p:nvSpPr>
            <p:cNvPr id="26" name="Ellipse 26"/>
            <p:cNvSpPr/>
            <p:nvPr/>
          </p:nvSpPr>
          <p:spPr>
            <a:xfrm>
              <a:off x="9467850" y="2190750"/>
              <a:ext cx="800100" cy="800100"/>
            </a:xfrm>
            <a:prstGeom prst="ellipse">
              <a:avLst/>
            </a:prstGeom>
            <a:solidFill>
              <a:schemeClr val="accent5"/>
            </a:solidFill>
            <a:ln w="28575">
              <a:solidFill>
                <a:schemeClr val="accent1"/>
              </a:solidFill>
            </a:ln>
          </p:spPr>
        </p:sp>
        <p:sp>
          <p:nvSpPr>
            <p:cNvPr id="27" name="TextBox 27"/>
            <p:cNvSpPr txBox="1"/>
            <p:nvPr/>
          </p:nvSpPr>
          <p:spPr>
            <a:xfrm>
              <a:off x="9778613" y="2468880"/>
              <a:ext cx="178575" cy="410718"/>
            </a:xfrm>
            <a:prstGeom prst="rect">
              <a:avLst/>
            </a:prstGeom>
            <a:noFill/>
            <a:ln>
              <a:noFill/>
            </a:ln>
          </p:spPr>
          <p:txBody>
            <a:bodyPr wrap="none" lIns="0" tIns="0" rIns="0" bIns="0" anchor="t" anchorCtr="0">
              <a:spAutoFit/>
            </a:bodyPr>
            <a:lstStyle/>
            <a:p>
              <a:pPr algn="ctr"/>
              <a:r>
                <a:rPr lang="ja-JP" sz="2100" b="1" dirty="0">
                  <a:solidFill>
                    <a:schemeClr val="accent1"/>
                  </a:solidFill>
                  <a:latin typeface="+mn-lt"/>
                  <a:ea typeface="+mn-ea"/>
                  <a:cs typeface="+mn-cs"/>
                </a:rPr>
                <a:t>4</a:t>
              </a:r>
            </a:p>
          </p:txBody>
        </p:sp>
        <p:sp>
          <p:nvSpPr>
            <p:cNvPr id="28" name="TextBox 28"/>
            <p:cNvSpPr txBox="1"/>
            <p:nvPr/>
          </p:nvSpPr>
          <p:spPr>
            <a:xfrm>
              <a:off x="9574530" y="3078480"/>
              <a:ext cx="586740" cy="410718"/>
            </a:xfrm>
            <a:prstGeom prst="rect">
              <a:avLst/>
            </a:prstGeom>
            <a:noFill/>
            <a:ln>
              <a:noFill/>
            </a:ln>
          </p:spPr>
          <p:txBody>
            <a:bodyPr wrap="none" lIns="0" tIns="0" rIns="0" bIns="0" anchor="t" anchorCtr="0">
              <a:spAutoFit/>
            </a:bodyPr>
            <a:lstStyle/>
            <a:p>
              <a:pPr algn="ctr"/>
              <a:r>
                <a:rPr lang="ja-JP" sz="2100" b="1" dirty="0">
                  <a:solidFill>
                    <a:schemeClr val="dk1"/>
                  </a:solidFill>
                  <a:latin typeface="+mn-lt"/>
                  <a:ea typeface="+mn-ea"/>
                  <a:cs typeface="+mn-cs"/>
                </a:rPr>
                <a:t>保持</a:t>
              </a:r>
            </a:p>
          </p:txBody>
        </p:sp>
        <p:sp>
          <p:nvSpPr>
            <p:cNvPr id="29" name="TextBox 29"/>
            <p:cNvSpPr txBox="1"/>
            <p:nvPr/>
          </p:nvSpPr>
          <p:spPr>
            <a:xfrm>
              <a:off x="9096019" y="3484721"/>
              <a:ext cx="1543761" cy="278702"/>
            </a:xfrm>
            <a:prstGeom prst="rect">
              <a:avLst/>
            </a:prstGeom>
            <a:noFill/>
            <a:ln>
              <a:noFill/>
            </a:ln>
          </p:spPr>
          <p:txBody>
            <a:bodyPr wrap="none" lIns="0" tIns="0" rIns="0" bIns="0" anchor="t" anchorCtr="0">
              <a:spAutoFit/>
            </a:bodyPr>
            <a:lstStyle/>
            <a:p>
              <a:pPr algn="ctr"/>
              <a:r>
                <a:rPr lang="ja-JP" sz="1420" dirty="0">
                  <a:solidFill>
                    <a:schemeClr val="accent6"/>
                  </a:solidFill>
                  <a:latin typeface="+mn-lt"/>
                  <a:ea typeface="+mn-ea"/>
                  <a:cs typeface="+mn-cs"/>
                </a:rPr>
                <a:t>背景と容器の保存</a:t>
              </a:r>
            </a:p>
          </p:txBody>
        </p:sp>
        <p:sp>
          <p:nvSpPr>
            <p:cNvPr id="30" name="Rectangle 30"/>
            <p:cNvSpPr/>
            <p:nvPr/>
          </p:nvSpPr>
          <p:spPr>
            <a:xfrm>
              <a:off x="990600" y="4305300"/>
              <a:ext cx="10210800" cy="1047750"/>
            </a:xfrm>
            <a:prstGeom prst="roundRect">
              <a:avLst>
                <a:gd name="adj" fmla="val 7273"/>
              </a:avLst>
            </a:prstGeom>
            <a:solidFill>
              <a:schemeClr val="accent5"/>
            </a:solidFill>
            <a:ln w="19050">
              <a:solidFill>
                <a:schemeClr val="accent1"/>
              </a:solidFill>
            </a:ln>
          </p:spPr>
        </p:sp>
        <p:sp>
          <p:nvSpPr>
            <p:cNvPr id="31" name="TextBox 31"/>
            <p:cNvSpPr txBox="1"/>
            <p:nvPr/>
          </p:nvSpPr>
          <p:spPr>
            <a:xfrm>
              <a:off x="4102062" y="4454366"/>
              <a:ext cx="3987877" cy="454724"/>
            </a:xfrm>
            <a:prstGeom prst="rect">
              <a:avLst/>
            </a:prstGeom>
            <a:noFill/>
            <a:ln>
              <a:noFill/>
            </a:ln>
          </p:spPr>
          <p:txBody>
            <a:bodyPr wrap="none" lIns="0" tIns="0" rIns="0" bIns="0" anchor="t" anchorCtr="0">
              <a:spAutoFit/>
            </a:bodyPr>
            <a:lstStyle/>
            <a:p>
              <a:pPr algn="ctr"/>
              <a:r>
                <a:rPr lang="ja-JP" sz="2320" b="1" dirty="0">
                  <a:solidFill>
                    <a:schemeClr val="accent1"/>
                  </a:solidFill>
                  <a:latin typeface="+mn-lt"/>
                  <a:ea typeface="+mn-ea"/>
                  <a:cs typeface="+mn-cs"/>
                </a:rPr>
                <a:t>Strict End-to-End Success</a:t>
              </a:r>
            </a:p>
          </p:txBody>
        </p:sp>
        <p:sp>
          <p:nvSpPr>
            <p:cNvPr id="32" name="TextBox 32"/>
            <p:cNvSpPr txBox="1"/>
            <p:nvPr/>
          </p:nvSpPr>
          <p:spPr>
            <a:xfrm>
              <a:off x="3929050" y="4859655"/>
              <a:ext cx="4333899" cy="410718"/>
            </a:xfrm>
            <a:prstGeom prst="rect">
              <a:avLst/>
            </a:prstGeom>
            <a:noFill/>
            <a:ln>
              <a:noFill/>
            </a:ln>
          </p:spPr>
          <p:txBody>
            <a:bodyPr wrap="none" lIns="0" tIns="0" rIns="0" bIns="0" anchor="t" anchorCtr="0">
              <a:spAutoFit/>
            </a:bodyPr>
            <a:lstStyle/>
            <a:p>
              <a:pPr algn="ctr"/>
              <a:r>
                <a:rPr lang="ja-JP" sz="2100" b="1" dirty="0">
                  <a:solidFill>
                    <a:schemeClr val="dk1"/>
                  </a:solidFill>
                  <a:latin typeface="+mn-lt"/>
                  <a:ea typeface="+mn-ea"/>
                  <a:cs typeface="+mn-cs"/>
                </a:rPr>
                <a:t>= Action × Photo × Preservation</a:t>
              </a:r>
            </a:p>
          </p:txBody>
        </p:sp>
        <p:sp>
          <p:nvSpPr>
            <p:cNvPr id="33" name="Rectangle 33"/>
            <p:cNvSpPr/>
            <p:nvPr/>
          </p:nvSpPr>
          <p:spPr>
            <a:xfrm>
              <a:off x="1866900" y="5676900"/>
              <a:ext cx="8458200" cy="438150"/>
            </a:xfrm>
            <a:prstGeom prst="roundRect">
              <a:avLst>
                <a:gd name="adj" fmla="val 8696"/>
              </a:avLst>
            </a:prstGeom>
            <a:solidFill>
              <a:schemeClr val="lt1"/>
            </a:solidFill>
            <a:ln w="19050">
              <a:solidFill>
                <a:schemeClr val="accent2"/>
              </a:solidFill>
            </a:ln>
          </p:spPr>
        </p:sp>
        <p:sp>
          <p:nvSpPr>
            <p:cNvPr id="34" name="TextBox 34"/>
            <p:cNvSpPr txBox="1"/>
            <p:nvPr/>
          </p:nvSpPr>
          <p:spPr>
            <a:xfrm>
              <a:off x="2844132" y="5769769"/>
              <a:ext cx="6503736" cy="366712"/>
            </a:xfrm>
            <a:prstGeom prst="rect">
              <a:avLst/>
            </a:prstGeom>
            <a:noFill/>
            <a:ln>
              <a:noFill/>
            </a:ln>
          </p:spPr>
          <p:txBody>
            <a:bodyPr wrap="none" lIns="0" tIns="0" rIns="0" bIns="0" anchor="t" anchorCtr="0">
              <a:spAutoFit/>
            </a:bodyPr>
            <a:lstStyle/>
            <a:p>
              <a:pPr algn="ctr"/>
              <a:r>
                <a:rPr lang="ja-JP" sz="1880" b="1" dirty="0">
                  <a:solidFill>
                    <a:schemeClr val="accent2"/>
                  </a:solidFill>
                  <a:latin typeface="+mn-lt"/>
                  <a:ea typeface="+mn-ea"/>
                  <a:cs typeface="+mn-cs"/>
                </a:rPr>
                <a:t>目標：接近 → 接触 → 持ち上げ → 停留を明示的に制御する</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400050"/>
            <a:ext cx="10820400" cy="9525"/>
          </a:xfrm>
          <a:custGeom>
            <a:avLst/>
            <a:gdLst/>
            <a:ahLst/>
            <a:cxnLst/>
            <a:rect l="l" t="t" r="r" b="b"/>
            <a:pathLst>
              <a:path w="10820400" h="9525">
                <a:moveTo>
                  <a:pt x="0" y="0"/>
                </a:moveTo>
                <a:lnTo>
                  <a:pt x="10820400" y="0"/>
                </a:lnTo>
              </a:path>
            </a:pathLst>
          </a:custGeom>
          <a:noFill/>
          <a:ln w="19050">
            <a:solidFill>
              <a:srgbClr val="D8DDE3"/>
            </a:solidFill>
          </a:ln>
        </p:spPr>
      </p:sp>
      <p:sp>
        <p:nvSpPr>
          <p:cNvPr id="3" name="TextBox 3"/>
          <p:cNvSpPr txBox="1"/>
          <p:nvPr/>
        </p:nvSpPr>
        <p:spPr>
          <a:xfrm>
            <a:off x="679704" y="594360"/>
            <a:ext cx="1433170" cy="234696"/>
          </a:xfrm>
          <a:prstGeom prst="rect">
            <a:avLst/>
          </a:prstGeom>
          <a:noFill/>
          <a:ln>
            <a:noFill/>
          </a:ln>
        </p:spPr>
        <p:txBody>
          <a:bodyPr wrap="none" lIns="0" tIns="0" rIns="0" bIns="0" anchor="t" anchorCtr="0">
            <a:spAutoFit/>
          </a:bodyPr>
          <a:lstStyle/>
          <a:p>
            <a:pPr algn="l"/>
            <a:r>
              <a:rPr lang="ja-JP" sz="1200" b="1" spc="135" dirty="0">
                <a:solidFill>
                  <a:schemeClr val="accent1"/>
                </a:solidFill>
                <a:latin typeface="+mn-lt"/>
                <a:ea typeface="+mn-ea"/>
                <a:cs typeface="+mn-cs"/>
              </a:rPr>
              <a:t>RELATED WORK</a:t>
            </a:r>
          </a:p>
        </p:txBody>
      </p:sp>
      <p:sp>
        <p:nvSpPr>
          <p:cNvPr id="4" name="TextBox 4"/>
          <p:cNvSpPr txBox="1"/>
          <p:nvPr/>
        </p:nvSpPr>
        <p:spPr>
          <a:xfrm>
            <a:off x="669798" y="831533"/>
            <a:ext cx="3848481" cy="616077"/>
          </a:xfrm>
          <a:prstGeom prst="rect">
            <a:avLst/>
          </a:prstGeom>
          <a:noFill/>
          <a:ln>
            <a:noFill/>
          </a:ln>
        </p:spPr>
        <p:txBody>
          <a:bodyPr wrap="none" lIns="0" tIns="0" rIns="0" bIns="0" anchor="t" anchorCtr="0">
            <a:spAutoFit/>
          </a:bodyPr>
          <a:lstStyle/>
          <a:p>
            <a:pPr algn="l"/>
            <a:r>
              <a:rPr lang="ja-JP" sz="3150" b="1" dirty="0">
                <a:solidFill>
                  <a:schemeClr val="dk1"/>
                </a:solidFill>
                <a:latin typeface="+mn-lt"/>
                <a:ea typeface="+mn-ea"/>
                <a:cs typeface="+mn-cs"/>
              </a:rPr>
              <a:t>関連研究と位置付け</a:t>
            </a:r>
          </a:p>
        </p:txBody>
      </p:sp>
      <p:sp>
        <p:nvSpPr>
          <p:cNvPr id="5" name="Rectangle 5"/>
          <p:cNvSpPr/>
          <p:nvPr/>
        </p:nvSpPr>
        <p:spPr>
          <a:xfrm>
            <a:off x="685800" y="1352550"/>
            <a:ext cx="704850" cy="38100"/>
          </a:xfrm>
          <a:prstGeom prst="rect">
            <a:avLst/>
          </a:prstGeom>
          <a:solidFill>
            <a:schemeClr val="accent1"/>
          </a:solidFill>
          <a:ln>
            <a:noFill/>
          </a:ln>
        </p:spPr>
      </p:sp>
      <p:sp>
        <p:nvSpPr>
          <p:cNvPr id="6" name="TextBox 6"/>
          <p:cNvSpPr txBox="1"/>
          <p:nvPr/>
        </p:nvSpPr>
        <p:spPr>
          <a:xfrm>
            <a:off x="680466" y="6420802"/>
            <a:ext cx="2129538" cy="205359"/>
          </a:xfrm>
          <a:prstGeom prst="rect">
            <a:avLst/>
          </a:prstGeom>
          <a:noFill/>
          <a:ln>
            <a:noFill/>
          </a:ln>
        </p:spPr>
        <p:txBody>
          <a:bodyPr wrap="none" lIns="0" tIns="0" rIns="0" bIns="0" anchor="t" anchorCtr="0">
            <a:spAutoFit/>
          </a:bodyPr>
          <a:lstStyle/>
          <a:p>
            <a:pPr algn="l"/>
            <a:r>
              <a:rPr lang="ja-JP" sz="1050" dirty="0">
                <a:solidFill>
                  <a:schemeClr val="accent6"/>
                </a:solidFill>
                <a:latin typeface="+mn-lt"/>
                <a:ea typeface="+mn-ea"/>
                <a:cs typeface="+mn-cs"/>
              </a:rPr>
              <a:t>FoodStateEdit｜メディア情報学</a:t>
            </a:r>
          </a:p>
        </p:txBody>
      </p:sp>
      <p:sp>
        <p:nvSpPr>
          <p:cNvPr id="7" name="TextBox 7"/>
          <p:cNvSpPr txBox="1"/>
          <p:nvPr/>
        </p:nvSpPr>
        <p:spPr>
          <a:xfrm>
            <a:off x="11320402" y="6404610"/>
            <a:ext cx="191894" cy="234696"/>
          </a:xfrm>
          <a:prstGeom prst="rect">
            <a:avLst/>
          </a:prstGeom>
          <a:noFill/>
          <a:ln>
            <a:noFill/>
          </a:ln>
        </p:spPr>
        <p:txBody>
          <a:bodyPr wrap="none" lIns="0" tIns="0" rIns="0" bIns="0" anchor="t" anchorCtr="0">
            <a:spAutoFit/>
          </a:bodyPr>
          <a:lstStyle/>
          <a:p>
            <a:pPr algn="r"/>
            <a:r>
              <a:rPr lang="ja-JP" sz="1200" b="1" dirty="0">
                <a:solidFill>
                  <a:schemeClr val="accent1"/>
                </a:solidFill>
                <a:latin typeface="+mn-lt"/>
                <a:ea typeface="+mn-ea"/>
                <a:cs typeface="+mn-cs"/>
              </a:rPr>
              <a:t>05</a:t>
            </a:r>
          </a:p>
        </p:txBody>
      </p:sp>
      <p:grpSp>
        <p:nvGrpSpPr>
          <p:cNvPr id="40" name="slide-content"/>
          <p:cNvGrpSpPr/>
          <p:nvPr/>
        </p:nvGrpSpPr>
        <p:grpSpPr>
          <a:xfrm>
            <a:off x="685800" y="1809750"/>
            <a:ext cx="10629900" cy="3771900"/>
            <a:chOff x="685800" y="1809750"/>
            <a:chExt cx="10629900" cy="3771900"/>
          </a:xfrm>
        </p:grpSpPr>
        <p:sp>
          <p:nvSpPr>
            <p:cNvPr id="8" name="Rectangle 8"/>
            <p:cNvSpPr/>
            <p:nvPr/>
          </p:nvSpPr>
          <p:spPr>
            <a:xfrm>
              <a:off x="685800" y="1809750"/>
              <a:ext cx="2457450" cy="1676400"/>
            </a:xfrm>
            <a:prstGeom prst="roundRect">
              <a:avLst>
                <a:gd name="adj" fmla="val 3409"/>
              </a:avLst>
            </a:prstGeom>
            <a:solidFill>
              <a:schemeClr val="lt1"/>
            </a:solidFill>
            <a:ln w="19050">
              <a:solidFill>
                <a:srgbClr val="D8DDE3"/>
              </a:solidFill>
            </a:ln>
          </p:spPr>
        </p:sp>
        <p:sp>
          <p:nvSpPr>
            <p:cNvPr id="9" name="Rectangle 9"/>
            <p:cNvSpPr/>
            <p:nvPr/>
          </p:nvSpPr>
          <p:spPr>
            <a:xfrm>
              <a:off x="685800" y="1809750"/>
              <a:ext cx="2457450" cy="76200"/>
            </a:xfrm>
            <a:prstGeom prst="rect">
              <a:avLst/>
            </a:prstGeom>
            <a:solidFill>
              <a:schemeClr val="accent1"/>
            </a:solidFill>
            <a:ln>
              <a:noFill/>
            </a:ln>
          </p:spPr>
        </p:sp>
        <p:sp>
          <p:nvSpPr>
            <p:cNvPr id="10" name="TextBox 10"/>
            <p:cNvSpPr txBox="1"/>
            <p:nvPr/>
          </p:nvSpPr>
          <p:spPr>
            <a:xfrm>
              <a:off x="866394" y="2027872"/>
              <a:ext cx="1585598" cy="381381"/>
            </a:xfrm>
            <a:prstGeom prst="rect">
              <a:avLst/>
            </a:prstGeom>
            <a:noFill/>
            <a:ln>
              <a:noFill/>
            </a:ln>
          </p:spPr>
          <p:txBody>
            <a:bodyPr wrap="none" lIns="0" tIns="0" rIns="0" bIns="0" anchor="t" anchorCtr="0">
              <a:spAutoFit/>
            </a:bodyPr>
            <a:lstStyle/>
            <a:p>
              <a:pPr algn="l"/>
              <a:r>
                <a:rPr lang="ja-JP" sz="1950" b="1" dirty="0">
                  <a:solidFill>
                    <a:schemeClr val="accent1"/>
                  </a:solidFill>
                  <a:latin typeface="+mn-lt"/>
                  <a:ea typeface="+mn-ea"/>
                  <a:cs typeface="+mn-cs"/>
                </a:rPr>
                <a:t>Qwen Image</a:t>
              </a:r>
            </a:p>
          </p:txBody>
        </p:sp>
        <p:sp>
          <p:nvSpPr>
            <p:cNvPr id="11" name="TextBox 11"/>
            <p:cNvSpPr txBox="1"/>
            <p:nvPr/>
          </p:nvSpPr>
          <p:spPr>
            <a:xfrm>
              <a:off x="868680" y="2486025"/>
              <a:ext cx="1024890" cy="293370"/>
            </a:xfrm>
            <a:prstGeom prst="rect">
              <a:avLst/>
            </a:prstGeom>
            <a:noFill/>
            <a:ln>
              <a:noFill/>
            </a:ln>
          </p:spPr>
          <p:txBody>
            <a:bodyPr wrap="none" lIns="0" tIns="0" rIns="0" bIns="0" anchor="t" anchorCtr="0">
              <a:spAutoFit/>
            </a:bodyPr>
            <a:lstStyle/>
            <a:p>
              <a:pPr algn="l"/>
              <a:r>
                <a:rPr lang="ja-JP" sz="1500" b="1" dirty="0">
                  <a:solidFill>
                    <a:schemeClr val="dk1"/>
                  </a:solidFill>
                  <a:latin typeface="+mn-lt"/>
                  <a:ea typeface="+mn-ea"/>
                  <a:cs typeface="+mn-cs"/>
                </a:rPr>
                <a:t>静止画編集</a:t>
              </a:r>
            </a:p>
          </p:txBody>
        </p:sp>
        <p:sp>
          <p:nvSpPr>
            <p:cNvPr id="12" name="TextBox 12"/>
            <p:cNvSpPr txBox="1"/>
            <p:nvPr/>
          </p:nvSpPr>
          <p:spPr>
            <a:xfrm>
              <a:off x="868680" y="2886075"/>
              <a:ext cx="1428750" cy="293370"/>
            </a:xfrm>
            <a:prstGeom prst="rect">
              <a:avLst/>
            </a:prstGeom>
            <a:noFill/>
            <a:ln>
              <a:noFill/>
            </a:ln>
          </p:spPr>
          <p:txBody>
            <a:bodyPr wrap="none" lIns="0" tIns="0" rIns="0" bIns="0" anchor="t" anchorCtr="0">
              <a:spAutoFit/>
            </a:bodyPr>
            <a:lstStyle/>
            <a:p>
              <a:pPr algn="l"/>
              <a:r>
                <a:rPr lang="ja-JP" sz="1500" dirty="0">
                  <a:solidFill>
                    <a:schemeClr val="accent6"/>
                  </a:solidFill>
                  <a:latin typeface="+mn-lt"/>
                  <a:ea typeface="+mn-ea"/>
                  <a:cs typeface="+mn-cs"/>
                </a:rPr>
                <a:t>写真品質に強い</a:t>
              </a:r>
            </a:p>
          </p:txBody>
        </p:sp>
        <p:sp>
          <p:nvSpPr>
            <p:cNvPr id="13" name="Rectangle 13"/>
            <p:cNvSpPr/>
            <p:nvPr/>
          </p:nvSpPr>
          <p:spPr>
            <a:xfrm>
              <a:off x="3409950" y="1809750"/>
              <a:ext cx="2457450" cy="1676400"/>
            </a:xfrm>
            <a:prstGeom prst="roundRect">
              <a:avLst>
                <a:gd name="adj" fmla="val 3409"/>
              </a:avLst>
            </a:prstGeom>
            <a:solidFill>
              <a:schemeClr val="lt1"/>
            </a:solidFill>
            <a:ln w="19050">
              <a:solidFill>
                <a:srgbClr val="D8DDE3"/>
              </a:solidFill>
            </a:ln>
          </p:spPr>
        </p:sp>
        <p:sp>
          <p:nvSpPr>
            <p:cNvPr id="14" name="Rectangle 14"/>
            <p:cNvSpPr/>
            <p:nvPr/>
          </p:nvSpPr>
          <p:spPr>
            <a:xfrm>
              <a:off x="3409950" y="1809750"/>
              <a:ext cx="2457450" cy="76200"/>
            </a:xfrm>
            <a:prstGeom prst="rect">
              <a:avLst/>
            </a:prstGeom>
            <a:solidFill>
              <a:schemeClr val="accent3"/>
            </a:solidFill>
            <a:ln>
              <a:noFill/>
            </a:ln>
          </p:spPr>
        </p:sp>
        <p:sp>
          <p:nvSpPr>
            <p:cNvPr id="15" name="TextBox 15"/>
            <p:cNvSpPr txBox="1"/>
            <p:nvPr/>
          </p:nvSpPr>
          <p:spPr>
            <a:xfrm>
              <a:off x="3590544" y="2027872"/>
              <a:ext cx="790451" cy="381381"/>
            </a:xfrm>
            <a:prstGeom prst="rect">
              <a:avLst/>
            </a:prstGeom>
            <a:noFill/>
            <a:ln>
              <a:noFill/>
            </a:ln>
          </p:spPr>
          <p:txBody>
            <a:bodyPr wrap="none" lIns="0" tIns="0" rIns="0" bIns="0" anchor="t" anchorCtr="0">
              <a:spAutoFit/>
            </a:bodyPr>
            <a:lstStyle/>
            <a:p>
              <a:pPr algn="l"/>
              <a:r>
                <a:rPr lang="ja-JP" sz="1950" b="1" dirty="0">
                  <a:solidFill>
                    <a:schemeClr val="accent3"/>
                  </a:solidFill>
                  <a:latin typeface="+mn-lt"/>
                  <a:ea typeface="+mn-ea"/>
                  <a:cs typeface="+mn-cs"/>
                </a:rPr>
                <a:t>VACE</a:t>
              </a:r>
            </a:p>
          </p:txBody>
        </p:sp>
        <p:sp>
          <p:nvSpPr>
            <p:cNvPr id="16" name="TextBox 16"/>
            <p:cNvSpPr txBox="1"/>
            <p:nvPr/>
          </p:nvSpPr>
          <p:spPr>
            <a:xfrm>
              <a:off x="3592830" y="2486025"/>
              <a:ext cx="822960" cy="293370"/>
            </a:xfrm>
            <a:prstGeom prst="rect">
              <a:avLst/>
            </a:prstGeom>
            <a:noFill/>
            <a:ln>
              <a:noFill/>
            </a:ln>
          </p:spPr>
          <p:txBody>
            <a:bodyPr wrap="none" lIns="0" tIns="0" rIns="0" bIns="0" anchor="t" anchorCtr="0">
              <a:spAutoFit/>
            </a:bodyPr>
            <a:lstStyle/>
            <a:p>
              <a:pPr algn="l"/>
              <a:r>
                <a:rPr lang="ja-JP" sz="1500" b="1" dirty="0">
                  <a:solidFill>
                    <a:schemeClr val="dk1"/>
                  </a:solidFill>
                  <a:latin typeface="+mn-lt"/>
                  <a:ea typeface="+mn-ea"/>
                  <a:cs typeface="+mn-cs"/>
                </a:rPr>
                <a:t>動画拡散</a:t>
              </a:r>
            </a:p>
          </p:txBody>
        </p:sp>
        <p:sp>
          <p:nvSpPr>
            <p:cNvPr id="17" name="TextBox 17"/>
            <p:cNvSpPr txBox="1"/>
            <p:nvPr/>
          </p:nvSpPr>
          <p:spPr>
            <a:xfrm>
              <a:off x="3592830" y="2886075"/>
              <a:ext cx="1226820" cy="293370"/>
            </a:xfrm>
            <a:prstGeom prst="rect">
              <a:avLst/>
            </a:prstGeom>
            <a:noFill/>
            <a:ln>
              <a:noFill/>
            </a:ln>
          </p:spPr>
          <p:txBody>
            <a:bodyPr wrap="none" lIns="0" tIns="0" rIns="0" bIns="0" anchor="t" anchorCtr="0">
              <a:spAutoFit/>
            </a:bodyPr>
            <a:lstStyle/>
            <a:p>
              <a:pPr algn="l"/>
              <a:r>
                <a:rPr lang="ja-JP" sz="1500" dirty="0">
                  <a:solidFill>
                    <a:schemeClr val="accent6"/>
                  </a:solidFill>
                  <a:latin typeface="+mn-lt"/>
                  <a:ea typeface="+mn-ea"/>
                  <a:cs typeface="+mn-cs"/>
                </a:rPr>
                <a:t>時間連続生成</a:t>
              </a:r>
            </a:p>
          </p:txBody>
        </p:sp>
        <p:sp>
          <p:nvSpPr>
            <p:cNvPr id="18" name="Rectangle 18"/>
            <p:cNvSpPr/>
            <p:nvPr/>
          </p:nvSpPr>
          <p:spPr>
            <a:xfrm>
              <a:off x="6134100" y="1809750"/>
              <a:ext cx="2457450" cy="1676400"/>
            </a:xfrm>
            <a:prstGeom prst="roundRect">
              <a:avLst>
                <a:gd name="adj" fmla="val 3409"/>
              </a:avLst>
            </a:prstGeom>
            <a:solidFill>
              <a:schemeClr val="lt1"/>
            </a:solidFill>
            <a:ln w="19050">
              <a:solidFill>
                <a:srgbClr val="D8DDE3"/>
              </a:solidFill>
            </a:ln>
          </p:spPr>
        </p:sp>
        <p:sp>
          <p:nvSpPr>
            <p:cNvPr id="19" name="Rectangle 19"/>
            <p:cNvSpPr/>
            <p:nvPr/>
          </p:nvSpPr>
          <p:spPr>
            <a:xfrm>
              <a:off x="6134100" y="1809750"/>
              <a:ext cx="2457450" cy="76200"/>
            </a:xfrm>
            <a:prstGeom prst="rect">
              <a:avLst/>
            </a:prstGeom>
            <a:solidFill>
              <a:srgbClr val="5D83A6"/>
            </a:solidFill>
            <a:ln>
              <a:noFill/>
            </a:ln>
          </p:spPr>
        </p:sp>
        <p:sp>
          <p:nvSpPr>
            <p:cNvPr id="20" name="TextBox 20"/>
            <p:cNvSpPr txBox="1"/>
            <p:nvPr/>
          </p:nvSpPr>
          <p:spPr>
            <a:xfrm>
              <a:off x="6314694" y="2027872"/>
              <a:ext cx="1379002" cy="381381"/>
            </a:xfrm>
            <a:prstGeom prst="rect">
              <a:avLst/>
            </a:prstGeom>
            <a:noFill/>
            <a:ln>
              <a:noFill/>
            </a:ln>
          </p:spPr>
          <p:txBody>
            <a:bodyPr wrap="none" lIns="0" tIns="0" rIns="0" bIns="0" anchor="t" anchorCtr="0">
              <a:spAutoFit/>
            </a:bodyPr>
            <a:lstStyle/>
            <a:p>
              <a:pPr algn="l"/>
              <a:r>
                <a:rPr lang="ja-JP" sz="1950" b="1" dirty="0">
                  <a:solidFill>
                    <a:srgbClr val="5D83A6"/>
                  </a:solidFill>
                  <a:latin typeface="+mn-lt"/>
                  <a:ea typeface="+mn-ea"/>
                  <a:cs typeface="+mn-cs"/>
                </a:rPr>
                <a:t>GeoEdit 系</a:t>
              </a:r>
            </a:p>
          </p:txBody>
        </p:sp>
        <p:sp>
          <p:nvSpPr>
            <p:cNvPr id="21" name="TextBox 21"/>
            <p:cNvSpPr txBox="1"/>
            <p:nvPr/>
          </p:nvSpPr>
          <p:spPr>
            <a:xfrm>
              <a:off x="6316980" y="2486025"/>
              <a:ext cx="822960" cy="293370"/>
            </a:xfrm>
            <a:prstGeom prst="rect">
              <a:avLst/>
            </a:prstGeom>
            <a:noFill/>
            <a:ln>
              <a:noFill/>
            </a:ln>
          </p:spPr>
          <p:txBody>
            <a:bodyPr wrap="none" lIns="0" tIns="0" rIns="0" bIns="0" anchor="t" anchorCtr="0">
              <a:spAutoFit/>
            </a:bodyPr>
            <a:lstStyle/>
            <a:p>
              <a:pPr algn="l"/>
              <a:r>
                <a:rPr lang="ja-JP" sz="1500" b="1" dirty="0">
                  <a:solidFill>
                    <a:schemeClr val="dk1"/>
                  </a:solidFill>
                  <a:latin typeface="+mn-lt"/>
                  <a:ea typeface="+mn-ea"/>
                  <a:cs typeface="+mn-cs"/>
                </a:rPr>
                <a:t>幾何編集</a:t>
              </a:r>
            </a:p>
          </p:txBody>
        </p:sp>
        <p:sp>
          <p:nvSpPr>
            <p:cNvPr id="22" name="TextBox 22"/>
            <p:cNvSpPr txBox="1"/>
            <p:nvPr/>
          </p:nvSpPr>
          <p:spPr>
            <a:xfrm>
              <a:off x="6316980" y="2886075"/>
              <a:ext cx="1428750" cy="293370"/>
            </a:xfrm>
            <a:prstGeom prst="rect">
              <a:avLst/>
            </a:prstGeom>
            <a:noFill/>
            <a:ln>
              <a:noFill/>
            </a:ln>
          </p:spPr>
          <p:txBody>
            <a:bodyPr wrap="none" lIns="0" tIns="0" rIns="0" bIns="0" anchor="t" anchorCtr="0">
              <a:spAutoFit/>
            </a:bodyPr>
            <a:lstStyle/>
            <a:p>
              <a:pPr algn="l"/>
              <a:r>
                <a:rPr lang="ja-JP" sz="1500" dirty="0">
                  <a:solidFill>
                    <a:schemeClr val="accent6"/>
                  </a:solidFill>
                  <a:latin typeface="+mn-lt"/>
                  <a:ea typeface="+mn-ea"/>
                  <a:cs typeface="+mn-cs"/>
                </a:rPr>
                <a:t>位置・形状制御</a:t>
              </a:r>
            </a:p>
          </p:txBody>
        </p:sp>
        <p:sp>
          <p:nvSpPr>
            <p:cNvPr id="23" name="Rectangle 23"/>
            <p:cNvSpPr/>
            <p:nvPr/>
          </p:nvSpPr>
          <p:spPr>
            <a:xfrm>
              <a:off x="8858250" y="1809750"/>
              <a:ext cx="2457450" cy="1676400"/>
            </a:xfrm>
            <a:prstGeom prst="roundRect">
              <a:avLst>
                <a:gd name="adj" fmla="val 3409"/>
              </a:avLst>
            </a:prstGeom>
            <a:solidFill>
              <a:schemeClr val="lt1"/>
            </a:solidFill>
            <a:ln w="19050">
              <a:solidFill>
                <a:srgbClr val="D8DDE3"/>
              </a:solidFill>
            </a:ln>
          </p:spPr>
        </p:sp>
        <p:sp>
          <p:nvSpPr>
            <p:cNvPr id="24" name="Rectangle 24"/>
            <p:cNvSpPr/>
            <p:nvPr/>
          </p:nvSpPr>
          <p:spPr>
            <a:xfrm>
              <a:off x="8858250" y="1809750"/>
              <a:ext cx="2457450" cy="76200"/>
            </a:xfrm>
            <a:prstGeom prst="rect">
              <a:avLst/>
            </a:prstGeom>
            <a:solidFill>
              <a:srgbClr val="69A87A"/>
            </a:solidFill>
            <a:ln>
              <a:noFill/>
            </a:ln>
          </p:spPr>
        </p:sp>
        <p:sp>
          <p:nvSpPr>
            <p:cNvPr id="25" name="TextBox 25"/>
            <p:cNvSpPr txBox="1"/>
            <p:nvPr/>
          </p:nvSpPr>
          <p:spPr>
            <a:xfrm>
              <a:off x="9038844" y="2027872"/>
              <a:ext cx="636179" cy="381381"/>
            </a:xfrm>
            <a:prstGeom prst="rect">
              <a:avLst/>
            </a:prstGeom>
            <a:noFill/>
            <a:ln>
              <a:noFill/>
            </a:ln>
          </p:spPr>
          <p:txBody>
            <a:bodyPr wrap="none" lIns="0" tIns="0" rIns="0" bIns="0" anchor="t" anchorCtr="0">
              <a:spAutoFit/>
            </a:bodyPr>
            <a:lstStyle/>
            <a:p>
              <a:pPr algn="l"/>
              <a:r>
                <a:rPr lang="ja-JP" sz="1950" b="1" dirty="0">
                  <a:solidFill>
                    <a:srgbClr val="69A87A"/>
                  </a:solidFill>
                  <a:latin typeface="+mn-lt"/>
                  <a:ea typeface="+mn-ea"/>
                  <a:cs typeface="+mn-cs"/>
                </a:rPr>
                <a:t>SAM</a:t>
              </a:r>
            </a:p>
          </p:txBody>
        </p:sp>
        <p:sp>
          <p:nvSpPr>
            <p:cNvPr id="26" name="TextBox 26"/>
            <p:cNvSpPr txBox="1"/>
            <p:nvPr/>
          </p:nvSpPr>
          <p:spPr>
            <a:xfrm>
              <a:off x="9041130" y="2486025"/>
              <a:ext cx="822960" cy="293370"/>
            </a:xfrm>
            <a:prstGeom prst="rect">
              <a:avLst/>
            </a:prstGeom>
            <a:noFill/>
            <a:ln>
              <a:noFill/>
            </a:ln>
          </p:spPr>
          <p:txBody>
            <a:bodyPr wrap="none" lIns="0" tIns="0" rIns="0" bIns="0" anchor="t" anchorCtr="0">
              <a:spAutoFit/>
            </a:bodyPr>
            <a:lstStyle/>
            <a:p>
              <a:pPr algn="l"/>
              <a:r>
                <a:rPr lang="ja-JP" sz="1500" b="1" dirty="0">
                  <a:solidFill>
                    <a:schemeClr val="dk1"/>
                  </a:solidFill>
                  <a:latin typeface="+mn-lt"/>
                  <a:ea typeface="+mn-ea"/>
                  <a:cs typeface="+mn-cs"/>
                </a:rPr>
                <a:t>領域抽出</a:t>
              </a:r>
            </a:p>
          </p:txBody>
        </p:sp>
        <p:sp>
          <p:nvSpPr>
            <p:cNvPr id="27" name="TextBox 27"/>
            <p:cNvSpPr txBox="1"/>
            <p:nvPr/>
          </p:nvSpPr>
          <p:spPr>
            <a:xfrm>
              <a:off x="9041130" y="2886075"/>
              <a:ext cx="1630680" cy="293370"/>
            </a:xfrm>
            <a:prstGeom prst="rect">
              <a:avLst/>
            </a:prstGeom>
            <a:noFill/>
            <a:ln>
              <a:noFill/>
            </a:ln>
          </p:spPr>
          <p:txBody>
            <a:bodyPr wrap="none" lIns="0" tIns="0" rIns="0" bIns="0" anchor="t" anchorCtr="0">
              <a:spAutoFit/>
            </a:bodyPr>
            <a:lstStyle/>
            <a:p>
              <a:pPr algn="l"/>
              <a:r>
                <a:rPr lang="ja-JP" sz="1500" dirty="0">
                  <a:solidFill>
                    <a:schemeClr val="accent6"/>
                  </a:solidFill>
                  <a:latin typeface="+mn-lt"/>
                  <a:ea typeface="+mn-ea"/>
                  <a:cs typeface="+mn-cs"/>
                </a:rPr>
                <a:t>食物・容器の分離</a:t>
              </a:r>
            </a:p>
          </p:txBody>
        </p:sp>
        <p:sp>
          <p:nvSpPr>
            <p:cNvPr id="28" name="Line 28"/>
            <p:cNvSpPr/>
            <p:nvPr/>
          </p:nvSpPr>
          <p:spPr>
            <a:xfrm>
              <a:off x="2038350" y="3781425"/>
              <a:ext cx="3943350" cy="9525"/>
            </a:xfrm>
            <a:custGeom>
              <a:avLst/>
              <a:gdLst/>
              <a:ahLst/>
              <a:cxnLst/>
              <a:rect l="l" t="t" r="r" b="b"/>
              <a:pathLst>
                <a:path w="3943350" h="9525">
                  <a:moveTo>
                    <a:pt x="0" y="0"/>
                  </a:moveTo>
                  <a:lnTo>
                    <a:pt x="3943350" y="0"/>
                  </a:lnTo>
                </a:path>
              </a:pathLst>
            </a:custGeom>
            <a:noFill/>
            <a:ln w="28575">
              <a:solidFill>
                <a:srgbClr val="D8DDE3"/>
              </a:solidFill>
            </a:ln>
          </p:spPr>
        </p:sp>
        <p:sp>
          <p:nvSpPr>
            <p:cNvPr id="29" name="Polygon 29"/>
            <p:cNvSpPr/>
            <p:nvPr/>
          </p:nvSpPr>
          <p:spPr>
            <a:xfrm>
              <a:off x="5981700" y="3705225"/>
              <a:ext cx="114300" cy="152400"/>
            </a:xfrm>
            <a:custGeom>
              <a:avLst/>
              <a:gdLst/>
              <a:ahLst/>
              <a:cxnLst/>
              <a:rect l="l" t="t" r="r" b="b"/>
              <a:pathLst>
                <a:path w="114300" h="152400">
                  <a:moveTo>
                    <a:pt x="0" y="0"/>
                  </a:moveTo>
                  <a:lnTo>
                    <a:pt x="114300" y="76200"/>
                  </a:lnTo>
                  <a:lnTo>
                    <a:pt x="0" y="152400"/>
                  </a:lnTo>
                  <a:close/>
                </a:path>
              </a:pathLst>
            </a:custGeom>
            <a:solidFill>
              <a:srgbClr val="D8DDE3"/>
            </a:solidFill>
            <a:ln>
              <a:noFill/>
            </a:ln>
          </p:spPr>
        </p:sp>
        <p:sp>
          <p:nvSpPr>
            <p:cNvPr id="30" name="Line 30"/>
            <p:cNvSpPr/>
            <p:nvPr/>
          </p:nvSpPr>
          <p:spPr>
            <a:xfrm>
              <a:off x="4743450" y="3781425"/>
              <a:ext cx="1238250" cy="9525"/>
            </a:xfrm>
            <a:custGeom>
              <a:avLst/>
              <a:gdLst/>
              <a:ahLst/>
              <a:cxnLst/>
              <a:rect l="l" t="t" r="r" b="b"/>
              <a:pathLst>
                <a:path w="1238250" h="9525">
                  <a:moveTo>
                    <a:pt x="0" y="0"/>
                  </a:moveTo>
                  <a:lnTo>
                    <a:pt x="1238250" y="0"/>
                  </a:lnTo>
                </a:path>
              </a:pathLst>
            </a:custGeom>
            <a:noFill/>
            <a:ln w="28575">
              <a:solidFill>
                <a:srgbClr val="D8DDE3"/>
              </a:solidFill>
            </a:ln>
          </p:spPr>
        </p:sp>
        <p:sp>
          <p:nvSpPr>
            <p:cNvPr id="31" name="Polygon 31"/>
            <p:cNvSpPr/>
            <p:nvPr/>
          </p:nvSpPr>
          <p:spPr>
            <a:xfrm>
              <a:off x="5981700" y="3705225"/>
              <a:ext cx="114300" cy="152400"/>
            </a:xfrm>
            <a:custGeom>
              <a:avLst/>
              <a:gdLst/>
              <a:ahLst/>
              <a:cxnLst/>
              <a:rect l="l" t="t" r="r" b="b"/>
              <a:pathLst>
                <a:path w="114300" h="152400">
                  <a:moveTo>
                    <a:pt x="0" y="0"/>
                  </a:moveTo>
                  <a:lnTo>
                    <a:pt x="114300" y="76200"/>
                  </a:lnTo>
                  <a:lnTo>
                    <a:pt x="0" y="152400"/>
                  </a:lnTo>
                  <a:close/>
                </a:path>
              </a:pathLst>
            </a:custGeom>
            <a:solidFill>
              <a:srgbClr val="D8DDE3"/>
            </a:solidFill>
            <a:ln>
              <a:noFill/>
            </a:ln>
          </p:spPr>
        </p:sp>
        <p:sp>
          <p:nvSpPr>
            <p:cNvPr id="32" name="Line 32"/>
            <p:cNvSpPr/>
            <p:nvPr/>
          </p:nvSpPr>
          <p:spPr>
            <a:xfrm>
              <a:off x="5981700" y="3781425"/>
              <a:ext cx="1466850" cy="9525"/>
            </a:xfrm>
            <a:custGeom>
              <a:avLst/>
              <a:gdLst/>
              <a:ahLst/>
              <a:cxnLst/>
              <a:rect l="l" t="t" r="r" b="b"/>
              <a:pathLst>
                <a:path w="1466850" h="9525">
                  <a:moveTo>
                    <a:pt x="1466850" y="0"/>
                  </a:moveTo>
                  <a:lnTo>
                    <a:pt x="0" y="0"/>
                  </a:lnTo>
                </a:path>
              </a:pathLst>
            </a:custGeom>
            <a:noFill/>
            <a:ln w="28575">
              <a:solidFill>
                <a:srgbClr val="D8DDE3"/>
              </a:solidFill>
            </a:ln>
          </p:spPr>
        </p:sp>
        <p:sp>
          <p:nvSpPr>
            <p:cNvPr id="33" name="Polygon 33"/>
            <p:cNvSpPr/>
            <p:nvPr/>
          </p:nvSpPr>
          <p:spPr>
            <a:xfrm>
              <a:off x="5981700" y="3705225"/>
              <a:ext cx="114300" cy="152400"/>
            </a:xfrm>
            <a:custGeom>
              <a:avLst/>
              <a:gdLst/>
              <a:ahLst/>
              <a:cxnLst/>
              <a:rect l="l" t="t" r="r" b="b"/>
              <a:pathLst>
                <a:path w="114300" h="152400">
                  <a:moveTo>
                    <a:pt x="0" y="0"/>
                  </a:moveTo>
                  <a:lnTo>
                    <a:pt x="114300" y="76200"/>
                  </a:lnTo>
                  <a:lnTo>
                    <a:pt x="0" y="152400"/>
                  </a:lnTo>
                  <a:close/>
                </a:path>
              </a:pathLst>
            </a:custGeom>
            <a:solidFill>
              <a:srgbClr val="D8DDE3"/>
            </a:solidFill>
            <a:ln>
              <a:noFill/>
            </a:ln>
          </p:spPr>
        </p:sp>
        <p:sp>
          <p:nvSpPr>
            <p:cNvPr id="34" name="Line 34"/>
            <p:cNvSpPr/>
            <p:nvPr/>
          </p:nvSpPr>
          <p:spPr>
            <a:xfrm>
              <a:off x="5981700" y="3781425"/>
              <a:ext cx="4171950" cy="9525"/>
            </a:xfrm>
            <a:custGeom>
              <a:avLst/>
              <a:gdLst/>
              <a:ahLst/>
              <a:cxnLst/>
              <a:rect l="l" t="t" r="r" b="b"/>
              <a:pathLst>
                <a:path w="4171950" h="9525">
                  <a:moveTo>
                    <a:pt x="4171950" y="0"/>
                  </a:moveTo>
                  <a:lnTo>
                    <a:pt x="0" y="0"/>
                  </a:lnTo>
                </a:path>
              </a:pathLst>
            </a:custGeom>
            <a:noFill/>
            <a:ln w="28575">
              <a:solidFill>
                <a:srgbClr val="D8DDE3"/>
              </a:solidFill>
            </a:ln>
          </p:spPr>
        </p:sp>
        <p:sp>
          <p:nvSpPr>
            <p:cNvPr id="35" name="Polygon 35"/>
            <p:cNvSpPr/>
            <p:nvPr/>
          </p:nvSpPr>
          <p:spPr>
            <a:xfrm>
              <a:off x="5981700" y="3705225"/>
              <a:ext cx="114300" cy="152400"/>
            </a:xfrm>
            <a:custGeom>
              <a:avLst/>
              <a:gdLst/>
              <a:ahLst/>
              <a:cxnLst/>
              <a:rect l="l" t="t" r="r" b="b"/>
              <a:pathLst>
                <a:path w="114300" h="152400">
                  <a:moveTo>
                    <a:pt x="0" y="0"/>
                  </a:moveTo>
                  <a:lnTo>
                    <a:pt x="114300" y="76200"/>
                  </a:lnTo>
                  <a:lnTo>
                    <a:pt x="0" y="152400"/>
                  </a:lnTo>
                  <a:close/>
                </a:path>
              </a:pathLst>
            </a:custGeom>
            <a:solidFill>
              <a:srgbClr val="D8DDE3"/>
            </a:solidFill>
            <a:ln>
              <a:noFill/>
            </a:ln>
          </p:spPr>
        </p:sp>
        <p:sp>
          <p:nvSpPr>
            <p:cNvPr id="36" name="Rectangle 36"/>
            <p:cNvSpPr/>
            <p:nvPr/>
          </p:nvSpPr>
          <p:spPr>
            <a:xfrm>
              <a:off x="2571750" y="4114800"/>
              <a:ext cx="7048500" cy="1466850"/>
            </a:xfrm>
            <a:prstGeom prst="roundRect">
              <a:avLst>
                <a:gd name="adj" fmla="val 5195"/>
              </a:avLst>
            </a:prstGeom>
            <a:solidFill>
              <a:schemeClr val="accent5"/>
            </a:solidFill>
            <a:ln w="28575">
              <a:solidFill>
                <a:schemeClr val="accent1"/>
              </a:solidFill>
            </a:ln>
          </p:spPr>
        </p:sp>
        <p:sp>
          <p:nvSpPr>
            <p:cNvPr id="37" name="TextBox 37"/>
            <p:cNvSpPr txBox="1"/>
            <p:nvPr/>
          </p:nvSpPr>
          <p:spPr>
            <a:xfrm>
              <a:off x="4231247" y="4301966"/>
              <a:ext cx="3729507" cy="454724"/>
            </a:xfrm>
            <a:prstGeom prst="rect">
              <a:avLst/>
            </a:prstGeom>
            <a:noFill/>
            <a:ln>
              <a:noFill/>
            </a:ln>
          </p:spPr>
          <p:txBody>
            <a:bodyPr wrap="none" lIns="0" tIns="0" rIns="0" bIns="0" anchor="t" anchorCtr="0">
              <a:spAutoFit/>
            </a:bodyPr>
            <a:lstStyle/>
            <a:p>
              <a:pPr algn="ctr"/>
              <a:r>
                <a:rPr lang="ja-JP" sz="2320" b="1" dirty="0">
                  <a:solidFill>
                    <a:schemeClr val="accent1"/>
                  </a:solidFill>
                  <a:latin typeface="+mn-lt"/>
                  <a:ea typeface="+mn-ea"/>
                  <a:cs typeface="+mn-cs"/>
                </a:rPr>
                <a:t>FoodStateEdit（本研究）</a:t>
              </a:r>
            </a:p>
          </p:txBody>
        </p:sp>
        <p:sp>
          <p:nvSpPr>
            <p:cNvPr id="38" name="TextBox 38"/>
            <p:cNvSpPr txBox="1"/>
            <p:nvPr/>
          </p:nvSpPr>
          <p:spPr>
            <a:xfrm>
              <a:off x="3588658" y="4729162"/>
              <a:ext cx="5014684" cy="440055"/>
            </a:xfrm>
            <a:prstGeom prst="rect">
              <a:avLst/>
            </a:prstGeom>
            <a:noFill/>
            <a:ln>
              <a:noFill/>
            </a:ln>
          </p:spPr>
          <p:txBody>
            <a:bodyPr wrap="none" lIns="0" tIns="0" rIns="0" bIns="0" anchor="t" anchorCtr="0">
              <a:spAutoFit/>
            </a:bodyPr>
            <a:lstStyle/>
            <a:p>
              <a:pPr algn="ctr"/>
              <a:r>
                <a:rPr lang="ja-JP" sz="2250" b="1" dirty="0">
                  <a:solidFill>
                    <a:schemeClr val="dk1"/>
                  </a:solidFill>
                  <a:latin typeface="+mn-lt"/>
                  <a:ea typeface="+mn-ea"/>
                  <a:cs typeface="+mn-cs"/>
                </a:rPr>
                <a:t>相対3D代理 ＋ 段階動作 ＋ 保持評価</a:t>
              </a:r>
            </a:p>
          </p:txBody>
        </p:sp>
        <p:sp>
          <p:nvSpPr>
            <p:cNvPr id="39" name="TextBox 39"/>
            <p:cNvSpPr txBox="1"/>
            <p:nvPr/>
          </p:nvSpPr>
          <p:spPr>
            <a:xfrm>
              <a:off x="3867150" y="5153025"/>
              <a:ext cx="4457700" cy="293370"/>
            </a:xfrm>
            <a:prstGeom prst="rect">
              <a:avLst/>
            </a:prstGeom>
            <a:noFill/>
            <a:ln>
              <a:noFill/>
            </a:ln>
          </p:spPr>
          <p:txBody>
            <a:bodyPr wrap="none" lIns="0" tIns="0" rIns="0" bIns="0" anchor="t" anchorCtr="0">
              <a:spAutoFit/>
            </a:bodyPr>
            <a:lstStyle/>
            <a:p>
              <a:pPr algn="ctr"/>
              <a:r>
                <a:rPr lang="ja-JP" sz="1500" dirty="0">
                  <a:solidFill>
                    <a:schemeClr val="accent6"/>
                  </a:solidFill>
                  <a:latin typeface="+mn-lt"/>
                  <a:ea typeface="+mn-ea"/>
                  <a:cs typeface="+mn-cs"/>
                </a:rPr>
                <a:t>既存基盤モデルに柔軟物の操作制御と検証を追加</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400050"/>
            <a:ext cx="10820400" cy="9525"/>
          </a:xfrm>
          <a:custGeom>
            <a:avLst/>
            <a:gdLst/>
            <a:ahLst/>
            <a:cxnLst/>
            <a:rect l="l" t="t" r="r" b="b"/>
            <a:pathLst>
              <a:path w="10820400" h="9525">
                <a:moveTo>
                  <a:pt x="0" y="0"/>
                </a:moveTo>
                <a:lnTo>
                  <a:pt x="10820400" y="0"/>
                </a:lnTo>
              </a:path>
            </a:pathLst>
          </a:custGeom>
          <a:noFill/>
          <a:ln w="19050">
            <a:solidFill>
              <a:srgbClr val="D8DDE3"/>
            </a:solidFill>
          </a:ln>
        </p:spPr>
      </p:sp>
      <p:sp>
        <p:nvSpPr>
          <p:cNvPr id="3" name="TextBox 3"/>
          <p:cNvSpPr txBox="1"/>
          <p:nvPr/>
        </p:nvSpPr>
        <p:spPr>
          <a:xfrm>
            <a:off x="679704" y="594360"/>
            <a:ext cx="771327" cy="234696"/>
          </a:xfrm>
          <a:prstGeom prst="rect">
            <a:avLst/>
          </a:prstGeom>
          <a:noFill/>
          <a:ln>
            <a:noFill/>
          </a:ln>
        </p:spPr>
        <p:txBody>
          <a:bodyPr wrap="none" lIns="0" tIns="0" rIns="0" bIns="0" anchor="t" anchorCtr="0">
            <a:spAutoFit/>
          </a:bodyPr>
          <a:lstStyle/>
          <a:p>
            <a:pPr algn="l"/>
            <a:r>
              <a:rPr lang="ja-JP" sz="1200" b="1" spc="135" dirty="0">
                <a:solidFill>
                  <a:schemeClr val="accent1"/>
                </a:solidFill>
                <a:latin typeface="+mn-lt"/>
                <a:ea typeface="+mn-ea"/>
                <a:cs typeface="+mn-cs"/>
              </a:rPr>
              <a:t>METHOD</a:t>
            </a:r>
          </a:p>
        </p:txBody>
      </p:sp>
      <p:sp>
        <p:nvSpPr>
          <p:cNvPr id="4" name="TextBox 4"/>
          <p:cNvSpPr txBox="1"/>
          <p:nvPr/>
        </p:nvSpPr>
        <p:spPr>
          <a:xfrm>
            <a:off x="669798" y="831533"/>
            <a:ext cx="6673154" cy="616077"/>
          </a:xfrm>
          <a:prstGeom prst="rect">
            <a:avLst/>
          </a:prstGeom>
          <a:noFill/>
          <a:ln>
            <a:noFill/>
          </a:ln>
        </p:spPr>
        <p:txBody>
          <a:bodyPr wrap="none" lIns="0" tIns="0" rIns="0" bIns="0" anchor="t" anchorCtr="0">
            <a:spAutoFit/>
          </a:bodyPr>
          <a:lstStyle/>
          <a:p>
            <a:pPr algn="l"/>
            <a:r>
              <a:rPr lang="ja-JP" sz="3150" b="1" dirty="0">
                <a:solidFill>
                  <a:schemeClr val="dk1"/>
                </a:solidFill>
                <a:latin typeface="+mn-lt"/>
                <a:ea typeface="+mn-ea"/>
                <a:cs typeface="+mn-cs"/>
              </a:rPr>
              <a:t>提案手法：相対3D制御と凍結VACE</a:t>
            </a:r>
          </a:p>
        </p:txBody>
      </p:sp>
      <p:sp>
        <p:nvSpPr>
          <p:cNvPr id="5" name="Rectangle 5"/>
          <p:cNvSpPr/>
          <p:nvPr/>
        </p:nvSpPr>
        <p:spPr>
          <a:xfrm>
            <a:off x="685800" y="1352550"/>
            <a:ext cx="704850" cy="38100"/>
          </a:xfrm>
          <a:prstGeom prst="rect">
            <a:avLst/>
          </a:prstGeom>
          <a:solidFill>
            <a:schemeClr val="accent1"/>
          </a:solidFill>
          <a:ln>
            <a:noFill/>
          </a:ln>
        </p:spPr>
      </p:sp>
      <p:sp>
        <p:nvSpPr>
          <p:cNvPr id="6" name="TextBox 6"/>
          <p:cNvSpPr txBox="1"/>
          <p:nvPr/>
        </p:nvSpPr>
        <p:spPr>
          <a:xfrm>
            <a:off x="680466" y="6420802"/>
            <a:ext cx="2129538" cy="205359"/>
          </a:xfrm>
          <a:prstGeom prst="rect">
            <a:avLst/>
          </a:prstGeom>
          <a:noFill/>
          <a:ln>
            <a:noFill/>
          </a:ln>
        </p:spPr>
        <p:txBody>
          <a:bodyPr wrap="none" lIns="0" tIns="0" rIns="0" bIns="0" anchor="t" anchorCtr="0">
            <a:spAutoFit/>
          </a:bodyPr>
          <a:lstStyle/>
          <a:p>
            <a:pPr algn="l"/>
            <a:r>
              <a:rPr lang="ja-JP" sz="1050" dirty="0">
                <a:solidFill>
                  <a:schemeClr val="accent6"/>
                </a:solidFill>
                <a:latin typeface="+mn-lt"/>
                <a:ea typeface="+mn-ea"/>
                <a:cs typeface="+mn-cs"/>
              </a:rPr>
              <a:t>FoodStateEdit｜メディア情報学</a:t>
            </a:r>
          </a:p>
        </p:txBody>
      </p:sp>
      <p:sp>
        <p:nvSpPr>
          <p:cNvPr id="7" name="TextBox 7"/>
          <p:cNvSpPr txBox="1"/>
          <p:nvPr/>
        </p:nvSpPr>
        <p:spPr>
          <a:xfrm>
            <a:off x="11320402" y="6404610"/>
            <a:ext cx="191894" cy="234696"/>
          </a:xfrm>
          <a:prstGeom prst="rect">
            <a:avLst/>
          </a:prstGeom>
          <a:noFill/>
          <a:ln>
            <a:noFill/>
          </a:ln>
        </p:spPr>
        <p:txBody>
          <a:bodyPr wrap="none" lIns="0" tIns="0" rIns="0" bIns="0" anchor="t" anchorCtr="0">
            <a:spAutoFit/>
          </a:bodyPr>
          <a:lstStyle/>
          <a:p>
            <a:pPr algn="r"/>
            <a:r>
              <a:rPr lang="ja-JP" sz="1200" b="1" dirty="0">
                <a:solidFill>
                  <a:schemeClr val="accent1"/>
                </a:solidFill>
                <a:latin typeface="+mn-lt"/>
                <a:ea typeface="+mn-ea"/>
                <a:cs typeface="+mn-cs"/>
              </a:rPr>
              <a:t>06</a:t>
            </a:r>
          </a:p>
        </p:txBody>
      </p:sp>
      <p:grpSp>
        <p:nvGrpSpPr>
          <p:cNvPr id="10" name="method-framework-from-report"/>
          <p:cNvGrpSpPr/>
          <p:nvPr/>
        </p:nvGrpSpPr>
        <p:grpSpPr>
          <a:xfrm>
            <a:off x="1352550" y="1619250"/>
            <a:ext cx="9486900" cy="4781550"/>
            <a:chOff x="1352550" y="1619250"/>
            <a:chExt cx="9486900" cy="4781550"/>
          </a:xfrm>
        </p:grpSpPr>
        <p:sp>
          <p:nvSpPr>
            <p:cNvPr id="8" name="Rectangle 8"/>
            <p:cNvSpPr/>
            <p:nvPr/>
          </p:nvSpPr>
          <p:spPr>
            <a:xfrm>
              <a:off x="1352550" y="1619250"/>
              <a:ext cx="9486900" cy="4781550"/>
            </a:xfrm>
            <a:prstGeom prst="roundRect">
              <a:avLst>
                <a:gd name="adj" fmla="val 797"/>
              </a:avLst>
            </a:prstGeom>
            <a:solidFill>
              <a:schemeClr val="lt1"/>
            </a:solidFill>
            <a:ln w="9525">
              <a:solidFill>
                <a:srgbClr val="D8DDE3"/>
              </a:solidFill>
            </a:ln>
          </p:spPr>
        </p:sp>
        <p:pic>
          <p:nvPicPr>
            <p:cNvPr id="9" name="Image 9"/>
            <p:cNvPicPr>
              <a:picLocks noChangeAspect="1"/>
            </p:cNvPicPr>
            <p:nvPr/>
          </p:nvPicPr>
          <p:blipFill>
            <a:blip r:embed="rId2"/>
            <a:stretch>
              <a:fillRect/>
            </a:stretch>
          </p:blipFill>
          <p:spPr>
            <a:xfrm>
              <a:off x="1493660" y="1695450"/>
              <a:ext cx="9204681" cy="4629150"/>
            </a:xfrm>
            <a:prstGeom prst="rect">
              <a:avLst/>
            </a:prstGeom>
          </p:spPr>
        </p:pic>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400050"/>
            <a:ext cx="10820400" cy="9525"/>
          </a:xfrm>
          <a:custGeom>
            <a:avLst/>
            <a:gdLst/>
            <a:ahLst/>
            <a:cxnLst/>
            <a:rect l="l" t="t" r="r" b="b"/>
            <a:pathLst>
              <a:path w="10820400" h="9525">
                <a:moveTo>
                  <a:pt x="0" y="0"/>
                </a:moveTo>
                <a:lnTo>
                  <a:pt x="10820400" y="0"/>
                </a:lnTo>
              </a:path>
            </a:pathLst>
          </a:custGeom>
          <a:noFill/>
          <a:ln w="19050">
            <a:solidFill>
              <a:srgbClr val="D8DDE3"/>
            </a:solidFill>
          </a:ln>
        </p:spPr>
      </p:sp>
      <p:sp>
        <p:nvSpPr>
          <p:cNvPr id="3" name="TextBox 3"/>
          <p:cNvSpPr txBox="1"/>
          <p:nvPr/>
        </p:nvSpPr>
        <p:spPr>
          <a:xfrm>
            <a:off x="679704" y="594360"/>
            <a:ext cx="2048927" cy="234696"/>
          </a:xfrm>
          <a:prstGeom prst="rect">
            <a:avLst/>
          </a:prstGeom>
          <a:noFill/>
          <a:ln>
            <a:noFill/>
          </a:ln>
        </p:spPr>
        <p:txBody>
          <a:bodyPr wrap="none" lIns="0" tIns="0" rIns="0" bIns="0" anchor="t" anchorCtr="0">
            <a:spAutoFit/>
          </a:bodyPr>
          <a:lstStyle/>
          <a:p>
            <a:pPr algn="l"/>
            <a:r>
              <a:rPr lang="ja-JP" sz="1200" b="1" spc="135" dirty="0">
                <a:solidFill>
                  <a:schemeClr val="accent1"/>
                </a:solidFill>
                <a:latin typeface="+mn-lt"/>
                <a:ea typeface="+mn-ea"/>
                <a:cs typeface="+mn-cs"/>
              </a:rPr>
              <a:t>CONTROL MECHANISM</a:t>
            </a:r>
          </a:p>
        </p:txBody>
      </p:sp>
      <p:sp>
        <p:nvSpPr>
          <p:cNvPr id="4" name="TextBox 4"/>
          <p:cNvSpPr txBox="1"/>
          <p:nvPr/>
        </p:nvSpPr>
        <p:spPr>
          <a:xfrm>
            <a:off x="669798" y="831533"/>
            <a:ext cx="4976942" cy="616077"/>
          </a:xfrm>
          <a:prstGeom prst="rect">
            <a:avLst/>
          </a:prstGeom>
          <a:noFill/>
          <a:ln>
            <a:noFill/>
          </a:ln>
        </p:spPr>
        <p:txBody>
          <a:bodyPr wrap="none" lIns="0" tIns="0" rIns="0" bIns="0" anchor="t" anchorCtr="0">
            <a:spAutoFit/>
          </a:bodyPr>
          <a:lstStyle/>
          <a:p>
            <a:pPr algn="l"/>
            <a:r>
              <a:rPr lang="ja-JP" sz="3150" b="1" dirty="0">
                <a:solidFill>
                  <a:schemeClr val="dk1"/>
                </a:solidFill>
                <a:latin typeface="+mn-lt"/>
                <a:ea typeface="+mn-ea"/>
                <a:cs typeface="+mn-cs"/>
              </a:rPr>
              <a:t>相対3D代理とVACEの接続</a:t>
            </a:r>
          </a:p>
        </p:txBody>
      </p:sp>
      <p:sp>
        <p:nvSpPr>
          <p:cNvPr id="5" name="Rectangle 5"/>
          <p:cNvSpPr/>
          <p:nvPr/>
        </p:nvSpPr>
        <p:spPr>
          <a:xfrm>
            <a:off x="685800" y="1352550"/>
            <a:ext cx="704850" cy="38100"/>
          </a:xfrm>
          <a:prstGeom prst="rect">
            <a:avLst/>
          </a:prstGeom>
          <a:solidFill>
            <a:schemeClr val="accent1"/>
          </a:solidFill>
          <a:ln>
            <a:noFill/>
          </a:ln>
        </p:spPr>
      </p:sp>
      <p:sp>
        <p:nvSpPr>
          <p:cNvPr id="6" name="TextBox 6"/>
          <p:cNvSpPr txBox="1"/>
          <p:nvPr/>
        </p:nvSpPr>
        <p:spPr>
          <a:xfrm>
            <a:off x="680466" y="6420802"/>
            <a:ext cx="2129538" cy="205359"/>
          </a:xfrm>
          <a:prstGeom prst="rect">
            <a:avLst/>
          </a:prstGeom>
          <a:noFill/>
          <a:ln>
            <a:noFill/>
          </a:ln>
        </p:spPr>
        <p:txBody>
          <a:bodyPr wrap="none" lIns="0" tIns="0" rIns="0" bIns="0" anchor="t" anchorCtr="0">
            <a:spAutoFit/>
          </a:bodyPr>
          <a:lstStyle/>
          <a:p>
            <a:pPr algn="l"/>
            <a:r>
              <a:rPr lang="ja-JP" sz="1050" dirty="0">
                <a:solidFill>
                  <a:schemeClr val="accent6"/>
                </a:solidFill>
                <a:latin typeface="+mn-lt"/>
                <a:ea typeface="+mn-ea"/>
                <a:cs typeface="+mn-cs"/>
              </a:rPr>
              <a:t>FoodStateEdit｜メディア情報学</a:t>
            </a:r>
          </a:p>
        </p:txBody>
      </p:sp>
      <p:sp>
        <p:nvSpPr>
          <p:cNvPr id="7" name="TextBox 7"/>
          <p:cNvSpPr txBox="1"/>
          <p:nvPr/>
        </p:nvSpPr>
        <p:spPr>
          <a:xfrm>
            <a:off x="11320402" y="6404610"/>
            <a:ext cx="191894" cy="234696"/>
          </a:xfrm>
          <a:prstGeom prst="rect">
            <a:avLst/>
          </a:prstGeom>
          <a:noFill/>
          <a:ln>
            <a:noFill/>
          </a:ln>
        </p:spPr>
        <p:txBody>
          <a:bodyPr wrap="none" lIns="0" tIns="0" rIns="0" bIns="0" anchor="t" anchorCtr="0">
            <a:spAutoFit/>
          </a:bodyPr>
          <a:lstStyle/>
          <a:p>
            <a:pPr algn="r"/>
            <a:r>
              <a:rPr lang="ja-JP" sz="1200" b="1" dirty="0">
                <a:solidFill>
                  <a:schemeClr val="accent1"/>
                </a:solidFill>
                <a:latin typeface="+mn-lt"/>
                <a:ea typeface="+mn-ea"/>
                <a:cs typeface="+mn-cs"/>
              </a:rPr>
              <a:t>07</a:t>
            </a:r>
          </a:p>
        </p:txBody>
      </p:sp>
      <p:grpSp>
        <p:nvGrpSpPr>
          <p:cNvPr id="63" name="relative3d-vace-control"/>
          <p:cNvGrpSpPr/>
          <p:nvPr/>
        </p:nvGrpSpPr>
        <p:grpSpPr>
          <a:xfrm>
            <a:off x="678180" y="1562100"/>
            <a:ext cx="10828020" cy="4873561"/>
            <a:chOff x="678180" y="1562100"/>
            <a:chExt cx="10828020" cy="4873561"/>
          </a:xfrm>
        </p:grpSpPr>
        <p:sp>
          <p:nvSpPr>
            <p:cNvPr id="8" name="Rectangle 8"/>
            <p:cNvSpPr/>
            <p:nvPr/>
          </p:nvSpPr>
          <p:spPr>
            <a:xfrm>
              <a:off x="685800" y="1562100"/>
              <a:ext cx="10820400" cy="609600"/>
            </a:xfrm>
            <a:prstGeom prst="roundRect">
              <a:avLst>
                <a:gd name="adj" fmla="val 7812"/>
              </a:avLst>
            </a:prstGeom>
            <a:solidFill>
              <a:schemeClr val="accent5"/>
            </a:solidFill>
            <a:ln w="19050">
              <a:solidFill>
                <a:schemeClr val="accent1"/>
              </a:solidFill>
            </a:ln>
          </p:spPr>
        </p:sp>
        <p:sp>
          <p:nvSpPr>
            <p:cNvPr id="9" name="TextBox 9"/>
            <p:cNvSpPr txBox="1"/>
            <p:nvPr/>
          </p:nvSpPr>
          <p:spPr>
            <a:xfrm>
              <a:off x="2079987" y="1607344"/>
              <a:ext cx="8032027" cy="366712"/>
            </a:xfrm>
            <a:prstGeom prst="rect">
              <a:avLst/>
            </a:prstGeom>
            <a:noFill/>
            <a:ln>
              <a:noFill/>
            </a:ln>
          </p:spPr>
          <p:txBody>
            <a:bodyPr wrap="none" lIns="0" tIns="0" rIns="0" bIns="0" anchor="t" anchorCtr="0">
              <a:spAutoFit/>
            </a:bodyPr>
            <a:lstStyle/>
            <a:p>
              <a:pPr algn="ctr"/>
              <a:r>
                <a:rPr lang="ja-JP" sz="1880" b="1" dirty="0">
                  <a:solidFill>
                    <a:schemeClr val="accent1"/>
                  </a:solidFill>
                  <a:latin typeface="+mn-lt"/>
                  <a:ea typeface="+mn-ea"/>
                  <a:cs typeface="+mn-cs"/>
                </a:rPr>
                <a:t>相対3D代理は生成モデルではなく、VACEの前段に置く制御信号生成部</a:t>
              </a:r>
            </a:p>
          </p:txBody>
        </p:sp>
        <p:sp>
          <p:nvSpPr>
            <p:cNvPr id="10" name="TextBox 10"/>
            <p:cNvSpPr txBox="1"/>
            <p:nvPr/>
          </p:nvSpPr>
          <p:spPr>
            <a:xfrm>
              <a:off x="3419515" y="1905000"/>
              <a:ext cx="5352970" cy="293370"/>
            </a:xfrm>
            <a:prstGeom prst="rect">
              <a:avLst/>
            </a:prstGeom>
            <a:noFill/>
            <a:ln>
              <a:noFill/>
            </a:ln>
          </p:spPr>
          <p:txBody>
            <a:bodyPr wrap="none" lIns="0" tIns="0" rIns="0" bIns="0" anchor="t" anchorCtr="0">
              <a:spAutoFit/>
            </a:bodyPr>
            <a:lstStyle/>
            <a:p>
              <a:pPr algn="ctr"/>
              <a:r>
                <a:rPr lang="ja-JP" sz="1500" b="1" dirty="0">
                  <a:solidFill>
                    <a:schemeClr val="dk1"/>
                  </a:solidFill>
                  <a:latin typeface="+mn-lt"/>
                  <a:ea typeface="+mn-ea"/>
                  <a:cs typeface="+mn-cs"/>
                </a:rPr>
                <a:t>FoodStateEdit = 相対3D制御器 ＋ 凍結VACE ＋ 局所合成</a:t>
              </a:r>
            </a:p>
          </p:txBody>
        </p:sp>
        <p:sp>
          <p:nvSpPr>
            <p:cNvPr id="11" name="Rectangle 11"/>
            <p:cNvSpPr/>
            <p:nvPr/>
          </p:nvSpPr>
          <p:spPr>
            <a:xfrm>
              <a:off x="685800" y="2457450"/>
              <a:ext cx="1905000" cy="2000250"/>
            </a:xfrm>
            <a:prstGeom prst="roundRect">
              <a:avLst>
                <a:gd name="adj" fmla="val 2500"/>
              </a:avLst>
            </a:prstGeom>
            <a:solidFill>
              <a:schemeClr val="lt1"/>
            </a:solidFill>
            <a:ln w="19050">
              <a:solidFill>
                <a:srgbClr val="D8DDE3"/>
              </a:solidFill>
            </a:ln>
          </p:spPr>
        </p:sp>
        <p:sp>
          <p:nvSpPr>
            <p:cNvPr id="12" name="TextBox 12"/>
            <p:cNvSpPr txBox="1"/>
            <p:nvPr/>
          </p:nvSpPr>
          <p:spPr>
            <a:xfrm>
              <a:off x="850773" y="2634139"/>
              <a:ext cx="204636" cy="249364"/>
            </a:xfrm>
            <a:prstGeom prst="rect">
              <a:avLst/>
            </a:prstGeom>
            <a:noFill/>
            <a:ln>
              <a:noFill/>
            </a:ln>
          </p:spPr>
          <p:txBody>
            <a:bodyPr wrap="none" lIns="0" tIns="0" rIns="0" bIns="0" anchor="t" anchorCtr="0">
              <a:spAutoFit/>
            </a:bodyPr>
            <a:lstStyle/>
            <a:p>
              <a:pPr algn="l"/>
              <a:r>
                <a:rPr lang="ja-JP" sz="1280" b="1" dirty="0">
                  <a:solidFill>
                    <a:schemeClr val="accent1"/>
                  </a:solidFill>
                  <a:latin typeface="+mn-lt"/>
                  <a:ea typeface="+mn-ea"/>
                  <a:cs typeface="+mn-cs"/>
                </a:rPr>
                <a:t>01</a:t>
              </a:r>
            </a:p>
          </p:txBody>
        </p:sp>
        <p:sp>
          <p:nvSpPr>
            <p:cNvPr id="13" name="TextBox 13"/>
            <p:cNvSpPr txBox="1"/>
            <p:nvPr/>
          </p:nvSpPr>
          <p:spPr>
            <a:xfrm>
              <a:off x="781050" y="2958465"/>
              <a:ext cx="1714500" cy="352044"/>
            </a:xfrm>
            <a:prstGeom prst="rect">
              <a:avLst/>
            </a:prstGeom>
            <a:noFill/>
            <a:ln>
              <a:noFill/>
            </a:ln>
          </p:spPr>
          <p:txBody>
            <a:bodyPr wrap="none" lIns="0" tIns="0" rIns="0" bIns="0" anchor="t" anchorCtr="0">
              <a:spAutoFit/>
            </a:bodyPr>
            <a:lstStyle/>
            <a:p>
              <a:pPr algn="ctr"/>
              <a:r>
                <a:rPr lang="ja-JP" sz="1800" b="1" dirty="0">
                  <a:solidFill>
                    <a:schemeClr val="accent1"/>
                  </a:solidFill>
                  <a:latin typeface="+mn-lt"/>
                  <a:ea typeface="+mn-ea"/>
                  <a:cs typeface="+mn-cs"/>
                </a:rPr>
                <a:t>入力と編集領域</a:t>
              </a:r>
            </a:p>
          </p:txBody>
        </p:sp>
        <p:sp>
          <p:nvSpPr>
            <p:cNvPr id="14" name="Line 14"/>
            <p:cNvSpPr/>
            <p:nvPr/>
          </p:nvSpPr>
          <p:spPr>
            <a:xfrm>
              <a:off x="876300" y="3314700"/>
              <a:ext cx="1524000" cy="9525"/>
            </a:xfrm>
            <a:custGeom>
              <a:avLst/>
              <a:gdLst/>
              <a:ahLst/>
              <a:cxnLst/>
              <a:rect l="l" t="t" r="r" b="b"/>
              <a:pathLst>
                <a:path w="1524000" h="9525">
                  <a:moveTo>
                    <a:pt x="0" y="0"/>
                  </a:moveTo>
                  <a:lnTo>
                    <a:pt x="1524000" y="0"/>
                  </a:lnTo>
                </a:path>
              </a:pathLst>
            </a:custGeom>
            <a:noFill/>
            <a:ln w="19050">
              <a:solidFill>
                <a:srgbClr val="D8DDE3"/>
              </a:solidFill>
            </a:ln>
          </p:spPr>
        </p:sp>
        <p:sp>
          <p:nvSpPr>
            <p:cNvPr id="15" name="TextBox 15"/>
            <p:cNvSpPr txBox="1"/>
            <p:nvPr/>
          </p:nvSpPr>
          <p:spPr>
            <a:xfrm>
              <a:off x="1287196" y="3500914"/>
              <a:ext cx="702208" cy="249364"/>
            </a:xfrm>
            <a:prstGeom prst="rect">
              <a:avLst/>
            </a:prstGeom>
            <a:noFill/>
            <a:ln>
              <a:noFill/>
            </a:ln>
          </p:spPr>
          <p:txBody>
            <a:bodyPr wrap="none" lIns="0" tIns="0" rIns="0" bIns="0" anchor="t" anchorCtr="0">
              <a:spAutoFit/>
            </a:bodyPr>
            <a:lstStyle/>
            <a:p>
              <a:pPr algn="ctr"/>
              <a:r>
                <a:rPr lang="ja-JP" sz="1280" dirty="0">
                  <a:solidFill>
                    <a:schemeClr val="dk1"/>
                  </a:solidFill>
                  <a:latin typeface="+mn-lt"/>
                  <a:ea typeface="+mn-ea"/>
                  <a:cs typeface="+mn-cs"/>
                </a:rPr>
                <a:t>入力画像</a:t>
              </a:r>
            </a:p>
          </p:txBody>
        </p:sp>
        <p:sp>
          <p:nvSpPr>
            <p:cNvPr id="16" name="TextBox 16"/>
            <p:cNvSpPr txBox="1"/>
            <p:nvPr/>
          </p:nvSpPr>
          <p:spPr>
            <a:xfrm>
              <a:off x="1234158" y="3824764"/>
              <a:ext cx="808285" cy="249364"/>
            </a:xfrm>
            <a:prstGeom prst="rect">
              <a:avLst/>
            </a:prstGeom>
            <a:noFill/>
            <a:ln>
              <a:noFill/>
            </a:ln>
          </p:spPr>
          <p:txBody>
            <a:bodyPr wrap="none" lIns="0" tIns="0" rIns="0" bIns="0" anchor="t" anchorCtr="0">
              <a:spAutoFit/>
            </a:bodyPr>
            <a:lstStyle/>
            <a:p>
              <a:pPr algn="ctr"/>
              <a:r>
                <a:rPr lang="ja-JP" sz="1280" dirty="0">
                  <a:solidFill>
                    <a:schemeClr val="dk1"/>
                  </a:solidFill>
                  <a:latin typeface="+mn-lt"/>
                  <a:ea typeface="+mn-ea"/>
                  <a:cs typeface="+mn-cs"/>
                </a:rPr>
                <a:t>edit_alpha</a:t>
              </a:r>
            </a:p>
          </p:txBody>
        </p:sp>
        <p:sp>
          <p:nvSpPr>
            <p:cNvPr id="17" name="TextBox 17"/>
            <p:cNvSpPr txBox="1"/>
            <p:nvPr/>
          </p:nvSpPr>
          <p:spPr>
            <a:xfrm>
              <a:off x="942569" y="4148614"/>
              <a:ext cx="1391463" cy="249364"/>
            </a:xfrm>
            <a:prstGeom prst="rect">
              <a:avLst/>
            </a:prstGeom>
            <a:noFill/>
            <a:ln>
              <a:noFill/>
            </a:ln>
          </p:spPr>
          <p:txBody>
            <a:bodyPr wrap="none" lIns="0" tIns="0" rIns="0" bIns="0" anchor="t" anchorCtr="0">
              <a:spAutoFit/>
            </a:bodyPr>
            <a:lstStyle/>
            <a:p>
              <a:pPr algn="ctr"/>
              <a:r>
                <a:rPr lang="ja-JP" sz="1280" dirty="0">
                  <a:solidFill>
                    <a:schemeClr val="dk1"/>
                  </a:solidFill>
                  <a:latin typeface="+mn-lt"/>
                  <a:ea typeface="+mn-ea"/>
                  <a:cs typeface="+mn-cs"/>
                </a:rPr>
                <a:t>代理軌跡から生成</a:t>
              </a:r>
            </a:p>
          </p:txBody>
        </p:sp>
        <p:sp>
          <p:nvSpPr>
            <p:cNvPr id="18" name="Line 18"/>
            <p:cNvSpPr/>
            <p:nvPr/>
          </p:nvSpPr>
          <p:spPr>
            <a:xfrm>
              <a:off x="2609850" y="3457575"/>
              <a:ext cx="266700" cy="9525"/>
            </a:xfrm>
            <a:custGeom>
              <a:avLst/>
              <a:gdLst/>
              <a:ahLst/>
              <a:cxnLst/>
              <a:rect l="l" t="t" r="r" b="b"/>
              <a:pathLst>
                <a:path w="266700" h="9525">
                  <a:moveTo>
                    <a:pt x="0" y="0"/>
                  </a:moveTo>
                  <a:lnTo>
                    <a:pt x="266700" y="0"/>
                  </a:lnTo>
                </a:path>
              </a:pathLst>
            </a:custGeom>
            <a:noFill/>
            <a:ln w="28575">
              <a:solidFill>
                <a:schemeClr val="accent1"/>
              </a:solidFill>
            </a:ln>
          </p:spPr>
        </p:sp>
        <p:sp>
          <p:nvSpPr>
            <p:cNvPr id="19" name="Polygon 19"/>
            <p:cNvSpPr/>
            <p:nvPr/>
          </p:nvSpPr>
          <p:spPr>
            <a:xfrm>
              <a:off x="2876550" y="3390900"/>
              <a:ext cx="76200" cy="133350"/>
            </a:xfrm>
            <a:custGeom>
              <a:avLst/>
              <a:gdLst/>
              <a:ahLst/>
              <a:cxnLst/>
              <a:rect l="l" t="t" r="r" b="b"/>
              <a:pathLst>
                <a:path w="76200" h="133350">
                  <a:moveTo>
                    <a:pt x="0" y="0"/>
                  </a:moveTo>
                  <a:lnTo>
                    <a:pt x="76200" y="66675"/>
                  </a:lnTo>
                  <a:lnTo>
                    <a:pt x="0" y="133350"/>
                  </a:lnTo>
                  <a:close/>
                </a:path>
              </a:pathLst>
            </a:custGeom>
            <a:solidFill>
              <a:schemeClr val="accent1"/>
            </a:solidFill>
            <a:ln>
              <a:noFill/>
            </a:ln>
          </p:spPr>
        </p:sp>
        <p:sp>
          <p:nvSpPr>
            <p:cNvPr id="20" name="Rectangle 20"/>
            <p:cNvSpPr/>
            <p:nvPr/>
          </p:nvSpPr>
          <p:spPr>
            <a:xfrm>
              <a:off x="2914650" y="2457450"/>
              <a:ext cx="1905000" cy="2000250"/>
            </a:xfrm>
            <a:prstGeom prst="roundRect">
              <a:avLst>
                <a:gd name="adj" fmla="val 2500"/>
              </a:avLst>
            </a:prstGeom>
            <a:solidFill>
              <a:srgbClr val="F1FAF4"/>
            </a:solidFill>
            <a:ln w="19050">
              <a:solidFill>
                <a:srgbClr val="2E8B57"/>
              </a:solidFill>
            </a:ln>
          </p:spPr>
        </p:sp>
        <p:sp>
          <p:nvSpPr>
            <p:cNvPr id="21" name="TextBox 21"/>
            <p:cNvSpPr txBox="1"/>
            <p:nvPr/>
          </p:nvSpPr>
          <p:spPr>
            <a:xfrm>
              <a:off x="3079623" y="2634139"/>
              <a:ext cx="204636" cy="249364"/>
            </a:xfrm>
            <a:prstGeom prst="rect">
              <a:avLst/>
            </a:prstGeom>
            <a:noFill/>
            <a:ln>
              <a:noFill/>
            </a:ln>
          </p:spPr>
          <p:txBody>
            <a:bodyPr wrap="none" lIns="0" tIns="0" rIns="0" bIns="0" anchor="t" anchorCtr="0">
              <a:spAutoFit/>
            </a:bodyPr>
            <a:lstStyle/>
            <a:p>
              <a:pPr algn="l"/>
              <a:r>
                <a:rPr lang="ja-JP" sz="1280" b="1" dirty="0">
                  <a:solidFill>
                    <a:srgbClr val="2E8B57"/>
                  </a:solidFill>
                  <a:latin typeface="+mn-lt"/>
                  <a:ea typeface="+mn-ea"/>
                  <a:cs typeface="+mn-cs"/>
                </a:rPr>
                <a:t>02</a:t>
              </a:r>
            </a:p>
          </p:txBody>
        </p:sp>
        <p:sp>
          <p:nvSpPr>
            <p:cNvPr id="22" name="TextBox 22"/>
            <p:cNvSpPr txBox="1"/>
            <p:nvPr/>
          </p:nvSpPr>
          <p:spPr>
            <a:xfrm>
              <a:off x="3225516" y="2958465"/>
              <a:ext cx="1283269" cy="352044"/>
            </a:xfrm>
            <a:prstGeom prst="rect">
              <a:avLst/>
            </a:prstGeom>
            <a:noFill/>
            <a:ln>
              <a:noFill/>
            </a:ln>
          </p:spPr>
          <p:txBody>
            <a:bodyPr wrap="none" lIns="0" tIns="0" rIns="0" bIns="0" anchor="t" anchorCtr="0">
              <a:spAutoFit/>
            </a:bodyPr>
            <a:lstStyle/>
            <a:p>
              <a:pPr algn="ctr"/>
              <a:r>
                <a:rPr lang="ja-JP" sz="1800" b="1" dirty="0">
                  <a:solidFill>
                    <a:srgbClr val="2E8B57"/>
                  </a:solidFill>
                  <a:latin typeface="+mn-lt"/>
                  <a:ea typeface="+mn-ea"/>
                  <a:cs typeface="+mn-cs"/>
                </a:rPr>
                <a:t>相対3D代理</a:t>
              </a:r>
            </a:p>
          </p:txBody>
        </p:sp>
        <p:sp>
          <p:nvSpPr>
            <p:cNvPr id="23" name="Line 23"/>
            <p:cNvSpPr/>
            <p:nvPr/>
          </p:nvSpPr>
          <p:spPr>
            <a:xfrm>
              <a:off x="3105150" y="3314700"/>
              <a:ext cx="1524000" cy="9525"/>
            </a:xfrm>
            <a:custGeom>
              <a:avLst/>
              <a:gdLst/>
              <a:ahLst/>
              <a:cxnLst/>
              <a:rect l="l" t="t" r="r" b="b"/>
              <a:pathLst>
                <a:path w="1524000" h="9525">
                  <a:moveTo>
                    <a:pt x="0" y="0"/>
                  </a:moveTo>
                  <a:lnTo>
                    <a:pt x="1524000" y="0"/>
                  </a:lnTo>
                </a:path>
              </a:pathLst>
            </a:custGeom>
            <a:noFill/>
            <a:ln w="19050">
              <a:solidFill>
                <a:srgbClr val="2E8B57"/>
              </a:solidFill>
            </a:ln>
          </p:spPr>
        </p:sp>
        <p:sp>
          <p:nvSpPr>
            <p:cNvPr id="24" name="TextBox 24"/>
            <p:cNvSpPr txBox="1"/>
            <p:nvPr/>
          </p:nvSpPr>
          <p:spPr>
            <a:xfrm>
              <a:off x="3240473" y="3500914"/>
              <a:ext cx="1253353" cy="249364"/>
            </a:xfrm>
            <a:prstGeom prst="rect">
              <a:avLst/>
            </a:prstGeom>
            <a:noFill/>
            <a:ln>
              <a:noFill/>
            </a:ln>
          </p:spPr>
          <p:txBody>
            <a:bodyPr wrap="none" lIns="0" tIns="0" rIns="0" bIns="0" anchor="t" anchorCtr="0">
              <a:spAutoFit/>
            </a:bodyPr>
            <a:lstStyle/>
            <a:p>
              <a:pPr algn="ctr"/>
              <a:r>
                <a:rPr lang="ja-JP" sz="1280" dirty="0">
                  <a:solidFill>
                    <a:schemeClr val="dk1"/>
                  </a:solidFill>
                  <a:latin typeface="+mn-lt"/>
                  <a:ea typeface="+mn-ea"/>
                  <a:cs typeface="+mn-cs"/>
                </a:rPr>
                <a:t>接触点 Pcontact</a:t>
              </a:r>
            </a:p>
          </p:txBody>
        </p:sp>
        <p:sp>
          <p:nvSpPr>
            <p:cNvPr id="25" name="TextBox 25"/>
            <p:cNvSpPr txBox="1"/>
            <p:nvPr/>
          </p:nvSpPr>
          <p:spPr>
            <a:xfrm>
              <a:off x="3449033" y="3824764"/>
              <a:ext cx="836234" cy="249364"/>
            </a:xfrm>
            <a:prstGeom prst="rect">
              <a:avLst/>
            </a:prstGeom>
            <a:noFill/>
            <a:ln>
              <a:noFill/>
            </a:ln>
          </p:spPr>
          <p:txBody>
            <a:bodyPr wrap="none" lIns="0" tIns="0" rIns="0" bIns="0" anchor="t" anchorCtr="0">
              <a:spAutoFit/>
            </a:bodyPr>
            <a:lstStyle/>
            <a:p>
              <a:pPr algn="ctr"/>
              <a:r>
                <a:rPr lang="ja-JP" sz="1280" dirty="0">
                  <a:solidFill>
                    <a:schemeClr val="dk1"/>
                  </a:solidFill>
                  <a:latin typeface="+mn-lt"/>
                  <a:ea typeface="+mn-ea"/>
                  <a:cs typeface="+mn-cs"/>
                </a:rPr>
                <a:t>深度順序 z</a:t>
              </a:r>
            </a:p>
          </p:txBody>
        </p:sp>
        <p:sp>
          <p:nvSpPr>
            <p:cNvPr id="26" name="TextBox 26"/>
            <p:cNvSpPr txBox="1"/>
            <p:nvPr/>
          </p:nvSpPr>
          <p:spPr>
            <a:xfrm>
              <a:off x="3085262" y="4148614"/>
              <a:ext cx="1563776" cy="249364"/>
            </a:xfrm>
            <a:prstGeom prst="rect">
              <a:avLst/>
            </a:prstGeom>
            <a:noFill/>
            <a:ln>
              <a:noFill/>
            </a:ln>
          </p:spPr>
          <p:txBody>
            <a:bodyPr wrap="none" lIns="0" tIns="0" rIns="0" bIns="0" anchor="t" anchorCtr="0">
              <a:spAutoFit/>
            </a:bodyPr>
            <a:lstStyle/>
            <a:p>
              <a:pPr algn="ctr"/>
              <a:r>
                <a:rPr lang="ja-JP" sz="1280" dirty="0">
                  <a:solidFill>
                    <a:schemeClr val="dk1"/>
                  </a:solidFill>
                  <a:latin typeface="+mn-lt"/>
                  <a:ea typeface="+mn-ea"/>
                  <a:cs typeface="+mn-cs"/>
                </a:rPr>
                <a:t>接近・接触・持上げ</a:t>
              </a:r>
            </a:p>
          </p:txBody>
        </p:sp>
        <p:sp>
          <p:nvSpPr>
            <p:cNvPr id="27" name="Line 27"/>
            <p:cNvSpPr/>
            <p:nvPr/>
          </p:nvSpPr>
          <p:spPr>
            <a:xfrm>
              <a:off x="4838700" y="3457575"/>
              <a:ext cx="266700" cy="9525"/>
            </a:xfrm>
            <a:custGeom>
              <a:avLst/>
              <a:gdLst/>
              <a:ahLst/>
              <a:cxnLst/>
              <a:rect l="l" t="t" r="r" b="b"/>
              <a:pathLst>
                <a:path w="266700" h="9525">
                  <a:moveTo>
                    <a:pt x="0" y="0"/>
                  </a:moveTo>
                  <a:lnTo>
                    <a:pt x="266700" y="0"/>
                  </a:lnTo>
                </a:path>
              </a:pathLst>
            </a:custGeom>
            <a:noFill/>
            <a:ln w="28575">
              <a:solidFill>
                <a:schemeClr val="accent1"/>
              </a:solidFill>
            </a:ln>
          </p:spPr>
        </p:sp>
        <p:sp>
          <p:nvSpPr>
            <p:cNvPr id="28" name="Polygon 28"/>
            <p:cNvSpPr/>
            <p:nvPr/>
          </p:nvSpPr>
          <p:spPr>
            <a:xfrm>
              <a:off x="5105400" y="3390900"/>
              <a:ext cx="76200" cy="133350"/>
            </a:xfrm>
            <a:custGeom>
              <a:avLst/>
              <a:gdLst/>
              <a:ahLst/>
              <a:cxnLst/>
              <a:rect l="l" t="t" r="r" b="b"/>
              <a:pathLst>
                <a:path w="76200" h="133350">
                  <a:moveTo>
                    <a:pt x="0" y="0"/>
                  </a:moveTo>
                  <a:lnTo>
                    <a:pt x="76200" y="66675"/>
                  </a:lnTo>
                  <a:lnTo>
                    <a:pt x="0" y="133350"/>
                  </a:lnTo>
                  <a:close/>
                </a:path>
              </a:pathLst>
            </a:custGeom>
            <a:solidFill>
              <a:schemeClr val="accent1"/>
            </a:solidFill>
            <a:ln>
              <a:noFill/>
            </a:ln>
          </p:spPr>
        </p:sp>
        <p:sp>
          <p:nvSpPr>
            <p:cNvPr id="29" name="Rectangle 29"/>
            <p:cNvSpPr/>
            <p:nvPr/>
          </p:nvSpPr>
          <p:spPr>
            <a:xfrm>
              <a:off x="5143500" y="2457450"/>
              <a:ext cx="1905000" cy="2000250"/>
            </a:xfrm>
            <a:prstGeom prst="roundRect">
              <a:avLst>
                <a:gd name="adj" fmla="val 2500"/>
              </a:avLst>
            </a:prstGeom>
            <a:solidFill>
              <a:srgbClr val="F1FAF4"/>
            </a:solidFill>
            <a:ln w="19050">
              <a:solidFill>
                <a:srgbClr val="2E8B57"/>
              </a:solidFill>
            </a:ln>
          </p:spPr>
        </p:sp>
        <p:sp>
          <p:nvSpPr>
            <p:cNvPr id="30" name="TextBox 30"/>
            <p:cNvSpPr txBox="1"/>
            <p:nvPr/>
          </p:nvSpPr>
          <p:spPr>
            <a:xfrm>
              <a:off x="5308473" y="2634139"/>
              <a:ext cx="204636" cy="249364"/>
            </a:xfrm>
            <a:prstGeom prst="rect">
              <a:avLst/>
            </a:prstGeom>
            <a:noFill/>
            <a:ln>
              <a:noFill/>
            </a:ln>
          </p:spPr>
          <p:txBody>
            <a:bodyPr wrap="none" lIns="0" tIns="0" rIns="0" bIns="0" anchor="t" anchorCtr="0">
              <a:spAutoFit/>
            </a:bodyPr>
            <a:lstStyle/>
            <a:p>
              <a:pPr algn="l"/>
              <a:r>
                <a:rPr lang="ja-JP" sz="1280" b="1" dirty="0">
                  <a:solidFill>
                    <a:srgbClr val="2E8B57"/>
                  </a:solidFill>
                  <a:latin typeface="+mn-lt"/>
                  <a:ea typeface="+mn-ea"/>
                  <a:cs typeface="+mn-cs"/>
                </a:rPr>
                <a:t>03</a:t>
              </a:r>
            </a:p>
          </p:txBody>
        </p:sp>
        <p:sp>
          <p:nvSpPr>
            <p:cNvPr id="31" name="TextBox 31"/>
            <p:cNvSpPr txBox="1"/>
            <p:nvPr/>
          </p:nvSpPr>
          <p:spPr>
            <a:xfrm>
              <a:off x="5185349" y="2958465"/>
              <a:ext cx="1821302" cy="352044"/>
            </a:xfrm>
            <a:prstGeom prst="rect">
              <a:avLst/>
            </a:prstGeom>
            <a:noFill/>
            <a:ln>
              <a:noFill/>
            </a:ln>
          </p:spPr>
          <p:txBody>
            <a:bodyPr wrap="none" lIns="0" tIns="0" rIns="0" bIns="0" anchor="t" anchorCtr="0">
              <a:spAutoFit/>
            </a:bodyPr>
            <a:lstStyle/>
            <a:p>
              <a:pPr algn="ctr"/>
              <a:r>
                <a:rPr lang="ja-JP" sz="1800" b="1" dirty="0">
                  <a:solidFill>
                    <a:srgbClr val="2E8B57"/>
                  </a:solidFill>
                  <a:latin typeface="+mn-lt"/>
                  <a:ea typeface="+mn-ea"/>
                  <a:cs typeface="+mn-cs"/>
                </a:rPr>
                <a:t>VACE条件へ変換</a:t>
              </a:r>
            </a:p>
          </p:txBody>
        </p:sp>
        <p:sp>
          <p:nvSpPr>
            <p:cNvPr id="32" name="Line 32"/>
            <p:cNvSpPr/>
            <p:nvPr/>
          </p:nvSpPr>
          <p:spPr>
            <a:xfrm>
              <a:off x="5334000" y="3314700"/>
              <a:ext cx="1524000" cy="9525"/>
            </a:xfrm>
            <a:custGeom>
              <a:avLst/>
              <a:gdLst/>
              <a:ahLst/>
              <a:cxnLst/>
              <a:rect l="l" t="t" r="r" b="b"/>
              <a:pathLst>
                <a:path w="1524000" h="9525">
                  <a:moveTo>
                    <a:pt x="0" y="0"/>
                  </a:moveTo>
                  <a:lnTo>
                    <a:pt x="1524000" y="0"/>
                  </a:lnTo>
                </a:path>
              </a:pathLst>
            </a:custGeom>
            <a:noFill/>
            <a:ln w="19050">
              <a:solidFill>
                <a:srgbClr val="2E8B57"/>
              </a:solidFill>
            </a:ln>
          </p:spPr>
        </p:sp>
        <p:sp>
          <p:nvSpPr>
            <p:cNvPr id="33" name="TextBox 33"/>
            <p:cNvSpPr txBox="1"/>
            <p:nvPr/>
          </p:nvSpPr>
          <p:spPr>
            <a:xfrm>
              <a:off x="5462215" y="3500914"/>
              <a:ext cx="1267569" cy="249364"/>
            </a:xfrm>
            <a:prstGeom prst="rect">
              <a:avLst/>
            </a:prstGeom>
            <a:noFill/>
            <a:ln>
              <a:noFill/>
            </a:ln>
          </p:spPr>
          <p:txBody>
            <a:bodyPr wrap="none" lIns="0" tIns="0" rIns="0" bIns="0" anchor="t" anchorCtr="0">
              <a:spAutoFit/>
            </a:bodyPr>
            <a:lstStyle/>
            <a:p>
              <a:pPr algn="ctr"/>
              <a:r>
                <a:rPr lang="ja-JP" sz="1280" dirty="0">
                  <a:solidFill>
                    <a:schemeClr val="dk1"/>
                  </a:solidFill>
                  <a:latin typeface="+mn-lt"/>
                  <a:ea typeface="+mn-ea"/>
                  <a:cs typeface="+mn-cs"/>
                </a:rPr>
                <a:t>21-frame control</a:t>
              </a:r>
            </a:p>
          </p:txBody>
        </p:sp>
        <p:sp>
          <p:nvSpPr>
            <p:cNvPr id="34" name="TextBox 34"/>
            <p:cNvSpPr txBox="1"/>
            <p:nvPr/>
          </p:nvSpPr>
          <p:spPr>
            <a:xfrm>
              <a:off x="5744896" y="3824764"/>
              <a:ext cx="702208" cy="249364"/>
            </a:xfrm>
            <a:prstGeom prst="rect">
              <a:avLst/>
            </a:prstGeom>
            <a:noFill/>
            <a:ln>
              <a:noFill/>
            </a:ln>
          </p:spPr>
          <p:txBody>
            <a:bodyPr wrap="none" lIns="0" tIns="0" rIns="0" bIns="0" anchor="t" anchorCtr="0">
              <a:spAutoFit/>
            </a:bodyPr>
            <a:lstStyle/>
            <a:p>
              <a:pPr algn="ctr"/>
              <a:r>
                <a:rPr lang="ja-JP" sz="1280" dirty="0">
                  <a:solidFill>
                    <a:schemeClr val="dk1"/>
                  </a:solidFill>
                  <a:latin typeface="+mn-lt"/>
                  <a:ea typeface="+mn-ea"/>
                  <a:cs typeface="+mn-cs"/>
                </a:rPr>
                <a:t>透視投影</a:t>
              </a:r>
            </a:p>
          </p:txBody>
        </p:sp>
        <p:sp>
          <p:nvSpPr>
            <p:cNvPr id="35" name="TextBox 35"/>
            <p:cNvSpPr txBox="1"/>
            <p:nvPr/>
          </p:nvSpPr>
          <p:spPr>
            <a:xfrm>
              <a:off x="5314112" y="4148614"/>
              <a:ext cx="1563776" cy="249364"/>
            </a:xfrm>
            <a:prstGeom prst="rect">
              <a:avLst/>
            </a:prstGeom>
            <a:noFill/>
            <a:ln>
              <a:noFill/>
            </a:ln>
          </p:spPr>
          <p:txBody>
            <a:bodyPr wrap="none" lIns="0" tIns="0" rIns="0" bIns="0" anchor="t" anchorCtr="0">
              <a:spAutoFit/>
            </a:bodyPr>
            <a:lstStyle/>
            <a:p>
              <a:pPr algn="ctr"/>
              <a:r>
                <a:rPr lang="ja-JP" sz="1280" dirty="0">
                  <a:solidFill>
                    <a:schemeClr val="dk1"/>
                  </a:solidFill>
                  <a:latin typeface="+mn-lt"/>
                  <a:ea typeface="+mn-ea"/>
                  <a:cs typeface="+mn-cs"/>
                </a:rPr>
                <a:t>支持領域内だけ描画</a:t>
              </a:r>
            </a:p>
          </p:txBody>
        </p:sp>
        <p:sp>
          <p:nvSpPr>
            <p:cNvPr id="36" name="Line 36"/>
            <p:cNvSpPr/>
            <p:nvPr/>
          </p:nvSpPr>
          <p:spPr>
            <a:xfrm>
              <a:off x="7067550" y="3457575"/>
              <a:ext cx="266700" cy="9525"/>
            </a:xfrm>
            <a:custGeom>
              <a:avLst/>
              <a:gdLst/>
              <a:ahLst/>
              <a:cxnLst/>
              <a:rect l="l" t="t" r="r" b="b"/>
              <a:pathLst>
                <a:path w="266700" h="9525">
                  <a:moveTo>
                    <a:pt x="0" y="0"/>
                  </a:moveTo>
                  <a:lnTo>
                    <a:pt x="266700" y="0"/>
                  </a:lnTo>
                </a:path>
              </a:pathLst>
            </a:custGeom>
            <a:noFill/>
            <a:ln w="28575">
              <a:solidFill>
                <a:schemeClr val="accent1"/>
              </a:solidFill>
            </a:ln>
          </p:spPr>
        </p:sp>
        <p:sp>
          <p:nvSpPr>
            <p:cNvPr id="37" name="Polygon 37"/>
            <p:cNvSpPr/>
            <p:nvPr/>
          </p:nvSpPr>
          <p:spPr>
            <a:xfrm>
              <a:off x="7334250" y="3390900"/>
              <a:ext cx="76200" cy="133350"/>
            </a:xfrm>
            <a:custGeom>
              <a:avLst/>
              <a:gdLst/>
              <a:ahLst/>
              <a:cxnLst/>
              <a:rect l="l" t="t" r="r" b="b"/>
              <a:pathLst>
                <a:path w="76200" h="133350">
                  <a:moveTo>
                    <a:pt x="0" y="0"/>
                  </a:moveTo>
                  <a:lnTo>
                    <a:pt x="76200" y="66675"/>
                  </a:lnTo>
                  <a:lnTo>
                    <a:pt x="0" y="133350"/>
                  </a:lnTo>
                  <a:close/>
                </a:path>
              </a:pathLst>
            </a:custGeom>
            <a:solidFill>
              <a:schemeClr val="accent1"/>
            </a:solidFill>
            <a:ln>
              <a:noFill/>
            </a:ln>
          </p:spPr>
        </p:sp>
        <p:sp>
          <p:nvSpPr>
            <p:cNvPr id="38" name="Rectangle 38"/>
            <p:cNvSpPr/>
            <p:nvPr/>
          </p:nvSpPr>
          <p:spPr>
            <a:xfrm>
              <a:off x="7372350" y="2457450"/>
              <a:ext cx="1905000" cy="2000250"/>
            </a:xfrm>
            <a:prstGeom prst="roundRect">
              <a:avLst>
                <a:gd name="adj" fmla="val 2500"/>
              </a:avLst>
            </a:prstGeom>
            <a:solidFill>
              <a:schemeClr val="lt1"/>
            </a:solidFill>
            <a:ln w="19050">
              <a:solidFill>
                <a:srgbClr val="D8DDE3"/>
              </a:solidFill>
            </a:ln>
          </p:spPr>
        </p:sp>
        <p:sp>
          <p:nvSpPr>
            <p:cNvPr id="39" name="TextBox 39"/>
            <p:cNvSpPr txBox="1"/>
            <p:nvPr/>
          </p:nvSpPr>
          <p:spPr>
            <a:xfrm>
              <a:off x="7537323" y="2634139"/>
              <a:ext cx="204636" cy="249364"/>
            </a:xfrm>
            <a:prstGeom prst="rect">
              <a:avLst/>
            </a:prstGeom>
            <a:noFill/>
            <a:ln>
              <a:noFill/>
            </a:ln>
          </p:spPr>
          <p:txBody>
            <a:bodyPr wrap="none" lIns="0" tIns="0" rIns="0" bIns="0" anchor="t" anchorCtr="0">
              <a:spAutoFit/>
            </a:bodyPr>
            <a:lstStyle/>
            <a:p>
              <a:pPr algn="l"/>
              <a:r>
                <a:rPr lang="ja-JP" sz="1280" b="1" dirty="0">
                  <a:solidFill>
                    <a:schemeClr val="accent1"/>
                  </a:solidFill>
                  <a:latin typeface="+mn-lt"/>
                  <a:ea typeface="+mn-ea"/>
                  <a:cs typeface="+mn-cs"/>
                </a:rPr>
                <a:t>04</a:t>
              </a:r>
            </a:p>
          </p:txBody>
        </p:sp>
        <p:sp>
          <p:nvSpPr>
            <p:cNvPr id="40" name="TextBox 40"/>
            <p:cNvSpPr txBox="1"/>
            <p:nvPr/>
          </p:nvSpPr>
          <p:spPr>
            <a:xfrm>
              <a:off x="7777673" y="2958465"/>
              <a:ext cx="1094354" cy="352044"/>
            </a:xfrm>
            <a:prstGeom prst="rect">
              <a:avLst/>
            </a:prstGeom>
            <a:noFill/>
            <a:ln>
              <a:noFill/>
            </a:ln>
          </p:spPr>
          <p:txBody>
            <a:bodyPr wrap="none" lIns="0" tIns="0" rIns="0" bIns="0" anchor="t" anchorCtr="0">
              <a:spAutoFit/>
            </a:bodyPr>
            <a:lstStyle/>
            <a:p>
              <a:pPr algn="ctr"/>
              <a:r>
                <a:rPr lang="ja-JP" sz="1800" b="1" dirty="0">
                  <a:solidFill>
                    <a:schemeClr val="accent1"/>
                  </a:solidFill>
                  <a:latin typeface="+mn-lt"/>
                  <a:ea typeface="+mn-ea"/>
                  <a:cs typeface="+mn-cs"/>
                </a:rPr>
                <a:t>凍結VACE</a:t>
              </a:r>
            </a:p>
          </p:txBody>
        </p:sp>
        <p:sp>
          <p:nvSpPr>
            <p:cNvPr id="41" name="Line 41"/>
            <p:cNvSpPr/>
            <p:nvPr/>
          </p:nvSpPr>
          <p:spPr>
            <a:xfrm>
              <a:off x="7562850" y="3314700"/>
              <a:ext cx="1524000" cy="9525"/>
            </a:xfrm>
            <a:custGeom>
              <a:avLst/>
              <a:gdLst/>
              <a:ahLst/>
              <a:cxnLst/>
              <a:rect l="l" t="t" r="r" b="b"/>
              <a:pathLst>
                <a:path w="1524000" h="9525">
                  <a:moveTo>
                    <a:pt x="0" y="0"/>
                  </a:moveTo>
                  <a:lnTo>
                    <a:pt x="1524000" y="0"/>
                  </a:lnTo>
                </a:path>
              </a:pathLst>
            </a:custGeom>
            <a:noFill/>
            <a:ln w="19050">
              <a:solidFill>
                <a:srgbClr val="D8DDE3"/>
              </a:solidFill>
            </a:ln>
          </p:spPr>
        </p:sp>
        <p:sp>
          <p:nvSpPr>
            <p:cNvPr id="42" name="TextBox 42"/>
            <p:cNvSpPr txBox="1"/>
            <p:nvPr/>
          </p:nvSpPr>
          <p:spPr>
            <a:xfrm>
              <a:off x="7304647" y="3500914"/>
              <a:ext cx="2040406" cy="249364"/>
            </a:xfrm>
            <a:prstGeom prst="rect">
              <a:avLst/>
            </a:prstGeom>
            <a:noFill/>
            <a:ln>
              <a:noFill/>
            </a:ln>
          </p:spPr>
          <p:txBody>
            <a:bodyPr wrap="none" lIns="0" tIns="0" rIns="0" bIns="0" anchor="t" anchorCtr="0">
              <a:spAutoFit/>
            </a:bodyPr>
            <a:lstStyle/>
            <a:p>
              <a:pPr algn="ctr"/>
              <a:r>
                <a:rPr lang="ja-JP" sz="1280" dirty="0">
                  <a:solidFill>
                    <a:schemeClr val="dk1"/>
                  </a:solidFill>
                  <a:latin typeface="+mn-lt"/>
                  <a:ea typeface="+mn-ea"/>
                  <a:cs typeface="+mn-cs"/>
                </a:rPr>
                <a:t>Wan2.2-VACE-Fun-A14B</a:t>
              </a:r>
            </a:p>
          </p:txBody>
        </p:sp>
        <p:sp>
          <p:nvSpPr>
            <p:cNvPr id="43" name="TextBox 43"/>
            <p:cNvSpPr txBox="1"/>
            <p:nvPr/>
          </p:nvSpPr>
          <p:spPr>
            <a:xfrm>
              <a:off x="7629119" y="3824764"/>
              <a:ext cx="1391463" cy="249364"/>
            </a:xfrm>
            <a:prstGeom prst="rect">
              <a:avLst/>
            </a:prstGeom>
            <a:noFill/>
            <a:ln>
              <a:noFill/>
            </a:ln>
          </p:spPr>
          <p:txBody>
            <a:bodyPr wrap="none" lIns="0" tIns="0" rIns="0" bIns="0" anchor="t" anchorCtr="0">
              <a:spAutoFit/>
            </a:bodyPr>
            <a:lstStyle/>
            <a:p>
              <a:pPr algn="ctr"/>
              <a:r>
                <a:rPr lang="ja-JP" sz="1280" dirty="0">
                  <a:solidFill>
                    <a:schemeClr val="dk1"/>
                  </a:solidFill>
                  <a:latin typeface="+mn-lt"/>
                  <a:ea typeface="+mn-ea"/>
                  <a:cs typeface="+mn-cs"/>
                </a:rPr>
                <a:t>重みは変更しない</a:t>
              </a:r>
            </a:p>
          </p:txBody>
        </p:sp>
        <p:sp>
          <p:nvSpPr>
            <p:cNvPr id="44" name="TextBox 44"/>
            <p:cNvSpPr txBox="1"/>
            <p:nvPr/>
          </p:nvSpPr>
          <p:spPr>
            <a:xfrm>
              <a:off x="7629119" y="4148614"/>
              <a:ext cx="1391463" cy="249364"/>
            </a:xfrm>
            <a:prstGeom prst="rect">
              <a:avLst/>
            </a:prstGeom>
            <a:noFill/>
            <a:ln>
              <a:noFill/>
            </a:ln>
          </p:spPr>
          <p:txBody>
            <a:bodyPr wrap="none" lIns="0" tIns="0" rIns="0" bIns="0" anchor="t" anchorCtr="0">
              <a:spAutoFit/>
            </a:bodyPr>
            <a:lstStyle/>
            <a:p>
              <a:pPr algn="ctr"/>
              <a:r>
                <a:rPr lang="ja-JP" sz="1280" dirty="0">
                  <a:solidFill>
                    <a:schemeClr val="dk1"/>
                  </a:solidFill>
                  <a:latin typeface="+mn-lt"/>
                  <a:ea typeface="+mn-ea"/>
                  <a:cs typeface="+mn-cs"/>
                </a:rPr>
                <a:t>条件付き拡散生成</a:t>
              </a:r>
            </a:p>
          </p:txBody>
        </p:sp>
        <p:sp>
          <p:nvSpPr>
            <p:cNvPr id="45" name="Line 45"/>
            <p:cNvSpPr/>
            <p:nvPr/>
          </p:nvSpPr>
          <p:spPr>
            <a:xfrm>
              <a:off x="9296400" y="3457575"/>
              <a:ext cx="266700" cy="9525"/>
            </a:xfrm>
            <a:custGeom>
              <a:avLst/>
              <a:gdLst/>
              <a:ahLst/>
              <a:cxnLst/>
              <a:rect l="l" t="t" r="r" b="b"/>
              <a:pathLst>
                <a:path w="266700" h="9525">
                  <a:moveTo>
                    <a:pt x="0" y="0"/>
                  </a:moveTo>
                  <a:lnTo>
                    <a:pt x="266700" y="0"/>
                  </a:lnTo>
                </a:path>
              </a:pathLst>
            </a:custGeom>
            <a:noFill/>
            <a:ln w="28575">
              <a:solidFill>
                <a:schemeClr val="accent1"/>
              </a:solidFill>
            </a:ln>
          </p:spPr>
        </p:sp>
        <p:sp>
          <p:nvSpPr>
            <p:cNvPr id="46" name="Polygon 46"/>
            <p:cNvSpPr/>
            <p:nvPr/>
          </p:nvSpPr>
          <p:spPr>
            <a:xfrm>
              <a:off x="9563100" y="3390900"/>
              <a:ext cx="76200" cy="133350"/>
            </a:xfrm>
            <a:custGeom>
              <a:avLst/>
              <a:gdLst/>
              <a:ahLst/>
              <a:cxnLst/>
              <a:rect l="l" t="t" r="r" b="b"/>
              <a:pathLst>
                <a:path w="76200" h="133350">
                  <a:moveTo>
                    <a:pt x="0" y="0"/>
                  </a:moveTo>
                  <a:lnTo>
                    <a:pt x="76200" y="66675"/>
                  </a:lnTo>
                  <a:lnTo>
                    <a:pt x="0" y="133350"/>
                  </a:lnTo>
                  <a:close/>
                </a:path>
              </a:pathLst>
            </a:custGeom>
            <a:solidFill>
              <a:schemeClr val="accent1"/>
            </a:solidFill>
            <a:ln>
              <a:noFill/>
            </a:ln>
          </p:spPr>
        </p:sp>
        <p:sp>
          <p:nvSpPr>
            <p:cNvPr id="47" name="Rectangle 47"/>
            <p:cNvSpPr/>
            <p:nvPr/>
          </p:nvSpPr>
          <p:spPr>
            <a:xfrm>
              <a:off x="9601200" y="2457450"/>
              <a:ext cx="1905000" cy="2000250"/>
            </a:xfrm>
            <a:prstGeom prst="roundRect">
              <a:avLst>
                <a:gd name="adj" fmla="val 2500"/>
              </a:avLst>
            </a:prstGeom>
            <a:solidFill>
              <a:schemeClr val="lt1"/>
            </a:solidFill>
            <a:ln w="19050">
              <a:solidFill>
                <a:srgbClr val="D8DDE3"/>
              </a:solidFill>
            </a:ln>
          </p:spPr>
        </p:sp>
        <p:sp>
          <p:nvSpPr>
            <p:cNvPr id="48" name="TextBox 48"/>
            <p:cNvSpPr txBox="1"/>
            <p:nvPr/>
          </p:nvSpPr>
          <p:spPr>
            <a:xfrm>
              <a:off x="9766173" y="2634139"/>
              <a:ext cx="204636" cy="249364"/>
            </a:xfrm>
            <a:prstGeom prst="rect">
              <a:avLst/>
            </a:prstGeom>
            <a:noFill/>
            <a:ln>
              <a:noFill/>
            </a:ln>
          </p:spPr>
          <p:txBody>
            <a:bodyPr wrap="none" lIns="0" tIns="0" rIns="0" bIns="0" anchor="t" anchorCtr="0">
              <a:spAutoFit/>
            </a:bodyPr>
            <a:lstStyle/>
            <a:p>
              <a:pPr algn="l"/>
              <a:r>
                <a:rPr lang="ja-JP" sz="1280" b="1" dirty="0">
                  <a:solidFill>
                    <a:schemeClr val="accent1"/>
                  </a:solidFill>
                  <a:latin typeface="+mn-lt"/>
                  <a:ea typeface="+mn-ea"/>
                  <a:cs typeface="+mn-cs"/>
                </a:rPr>
                <a:t>05</a:t>
              </a:r>
            </a:p>
          </p:txBody>
        </p:sp>
        <p:sp>
          <p:nvSpPr>
            <p:cNvPr id="49" name="TextBox 49"/>
            <p:cNvSpPr txBox="1"/>
            <p:nvPr/>
          </p:nvSpPr>
          <p:spPr>
            <a:xfrm>
              <a:off x="10302240" y="2958465"/>
              <a:ext cx="502920" cy="352044"/>
            </a:xfrm>
            <a:prstGeom prst="rect">
              <a:avLst/>
            </a:prstGeom>
            <a:noFill/>
            <a:ln>
              <a:noFill/>
            </a:ln>
          </p:spPr>
          <p:txBody>
            <a:bodyPr wrap="none" lIns="0" tIns="0" rIns="0" bIns="0" anchor="t" anchorCtr="0">
              <a:spAutoFit/>
            </a:bodyPr>
            <a:lstStyle/>
            <a:p>
              <a:pPr algn="ctr"/>
              <a:r>
                <a:rPr lang="ja-JP" sz="1800" b="1" dirty="0">
                  <a:solidFill>
                    <a:schemeClr val="accent1"/>
                  </a:solidFill>
                  <a:latin typeface="+mn-lt"/>
                  <a:ea typeface="+mn-ea"/>
                  <a:cs typeface="+mn-cs"/>
                </a:rPr>
                <a:t>出力</a:t>
              </a:r>
            </a:p>
          </p:txBody>
        </p:sp>
        <p:sp>
          <p:nvSpPr>
            <p:cNvPr id="50" name="Line 50"/>
            <p:cNvSpPr/>
            <p:nvPr/>
          </p:nvSpPr>
          <p:spPr>
            <a:xfrm>
              <a:off x="9791700" y="3314700"/>
              <a:ext cx="1524000" cy="9525"/>
            </a:xfrm>
            <a:custGeom>
              <a:avLst/>
              <a:gdLst/>
              <a:ahLst/>
              <a:cxnLst/>
              <a:rect l="l" t="t" r="r" b="b"/>
              <a:pathLst>
                <a:path w="1524000" h="9525">
                  <a:moveTo>
                    <a:pt x="0" y="0"/>
                  </a:moveTo>
                  <a:lnTo>
                    <a:pt x="1524000" y="0"/>
                  </a:lnTo>
                </a:path>
              </a:pathLst>
            </a:custGeom>
            <a:noFill/>
            <a:ln w="19050">
              <a:solidFill>
                <a:srgbClr val="D8DDE3"/>
              </a:solidFill>
            </a:ln>
          </p:spPr>
        </p:sp>
        <p:sp>
          <p:nvSpPr>
            <p:cNvPr id="51" name="TextBox 51"/>
            <p:cNvSpPr txBox="1"/>
            <p:nvPr/>
          </p:nvSpPr>
          <p:spPr>
            <a:xfrm>
              <a:off x="9934441" y="3500914"/>
              <a:ext cx="1238517" cy="249364"/>
            </a:xfrm>
            <a:prstGeom prst="rect">
              <a:avLst/>
            </a:prstGeom>
            <a:noFill/>
            <a:ln>
              <a:noFill/>
            </a:ln>
          </p:spPr>
          <p:txBody>
            <a:bodyPr wrap="none" lIns="0" tIns="0" rIns="0" bIns="0" anchor="t" anchorCtr="0">
              <a:spAutoFit/>
            </a:bodyPr>
            <a:lstStyle/>
            <a:p>
              <a:pPr algn="ctr"/>
              <a:r>
                <a:rPr lang="ja-JP" sz="1280" dirty="0">
                  <a:solidFill>
                    <a:schemeClr val="dk1"/>
                  </a:solidFill>
                  <a:latin typeface="+mn-lt"/>
                  <a:ea typeface="+mn-ea"/>
                  <a:cs typeface="+mn-cs"/>
                </a:rPr>
                <a:t>21フレーム動画</a:t>
              </a:r>
            </a:p>
          </p:txBody>
        </p:sp>
        <p:sp>
          <p:nvSpPr>
            <p:cNvPr id="52" name="TextBox 52"/>
            <p:cNvSpPr txBox="1"/>
            <p:nvPr/>
          </p:nvSpPr>
          <p:spPr>
            <a:xfrm>
              <a:off x="9857969" y="3824764"/>
              <a:ext cx="1391463" cy="249364"/>
            </a:xfrm>
            <a:prstGeom prst="rect">
              <a:avLst/>
            </a:prstGeom>
            <a:noFill/>
            <a:ln>
              <a:noFill/>
            </a:ln>
          </p:spPr>
          <p:txBody>
            <a:bodyPr wrap="none" lIns="0" tIns="0" rIns="0" bIns="0" anchor="t" anchorCtr="0">
              <a:spAutoFit/>
            </a:bodyPr>
            <a:lstStyle/>
            <a:p>
              <a:pPr algn="ctr"/>
              <a:r>
                <a:rPr lang="ja-JP" sz="1280" dirty="0">
                  <a:solidFill>
                    <a:schemeClr val="dk1"/>
                  </a:solidFill>
                  <a:latin typeface="+mn-lt"/>
                  <a:ea typeface="+mn-ea"/>
                  <a:cs typeface="+mn-cs"/>
                </a:rPr>
                <a:t>安定フレーム選択</a:t>
              </a:r>
            </a:p>
          </p:txBody>
        </p:sp>
        <p:sp>
          <p:nvSpPr>
            <p:cNvPr id="53" name="TextBox 53"/>
            <p:cNvSpPr txBox="1"/>
            <p:nvPr/>
          </p:nvSpPr>
          <p:spPr>
            <a:xfrm>
              <a:off x="9944125" y="4148614"/>
              <a:ext cx="1219149" cy="249364"/>
            </a:xfrm>
            <a:prstGeom prst="rect">
              <a:avLst/>
            </a:prstGeom>
            <a:noFill/>
            <a:ln>
              <a:noFill/>
            </a:ln>
          </p:spPr>
          <p:txBody>
            <a:bodyPr wrap="none" lIns="0" tIns="0" rIns="0" bIns="0" anchor="t" anchorCtr="0">
              <a:spAutoFit/>
            </a:bodyPr>
            <a:lstStyle/>
            <a:p>
              <a:pPr algn="ctr"/>
              <a:r>
                <a:rPr lang="ja-JP" sz="1280" dirty="0">
                  <a:solidFill>
                    <a:schemeClr val="dk1"/>
                  </a:solidFill>
                  <a:latin typeface="+mn-lt"/>
                  <a:ea typeface="+mn-ea"/>
                  <a:cs typeface="+mn-cs"/>
                </a:rPr>
                <a:t>局所投影・合成</a:t>
              </a:r>
            </a:p>
          </p:txBody>
        </p:sp>
        <p:sp>
          <p:nvSpPr>
            <p:cNvPr id="54" name="TextBox 54"/>
            <p:cNvSpPr txBox="1"/>
            <p:nvPr/>
          </p:nvSpPr>
          <p:spPr>
            <a:xfrm>
              <a:off x="678180" y="4743450"/>
              <a:ext cx="2123542" cy="293370"/>
            </a:xfrm>
            <a:prstGeom prst="rect">
              <a:avLst/>
            </a:prstGeom>
            <a:noFill/>
            <a:ln>
              <a:noFill/>
            </a:ln>
          </p:spPr>
          <p:txBody>
            <a:bodyPr wrap="none" lIns="0" tIns="0" rIns="0" bIns="0" anchor="t" anchorCtr="0">
              <a:spAutoFit/>
            </a:bodyPr>
            <a:lstStyle/>
            <a:p>
              <a:pPr algn="l"/>
              <a:r>
                <a:rPr lang="ja-JP" sz="1500" b="1" dirty="0">
                  <a:solidFill>
                    <a:schemeClr val="accent1"/>
                  </a:solidFill>
                  <a:latin typeface="+mn-lt"/>
                  <a:ea typeface="+mn-ea"/>
                  <a:cs typeface="+mn-cs"/>
                </a:rPr>
                <a:t>VACEへ渡す三つの信号</a:t>
              </a:r>
            </a:p>
          </p:txBody>
        </p:sp>
        <p:sp>
          <p:nvSpPr>
            <p:cNvPr id="55" name="Line 55"/>
            <p:cNvSpPr/>
            <p:nvPr/>
          </p:nvSpPr>
          <p:spPr>
            <a:xfrm>
              <a:off x="685800" y="5048250"/>
              <a:ext cx="10820400" cy="9525"/>
            </a:xfrm>
            <a:custGeom>
              <a:avLst/>
              <a:gdLst/>
              <a:ahLst/>
              <a:cxnLst/>
              <a:rect l="l" t="t" r="r" b="b"/>
              <a:pathLst>
                <a:path w="10820400" h="9525">
                  <a:moveTo>
                    <a:pt x="0" y="0"/>
                  </a:moveTo>
                  <a:lnTo>
                    <a:pt x="10820400" y="0"/>
                  </a:lnTo>
                </a:path>
              </a:pathLst>
            </a:custGeom>
            <a:noFill/>
            <a:ln w="19050">
              <a:solidFill>
                <a:srgbClr val="D8DDE3"/>
              </a:solidFill>
            </a:ln>
          </p:spPr>
        </p:sp>
        <p:sp>
          <p:nvSpPr>
            <p:cNvPr id="56" name="TextBox 56"/>
            <p:cNvSpPr txBox="1"/>
            <p:nvPr/>
          </p:nvSpPr>
          <p:spPr>
            <a:xfrm>
              <a:off x="869442" y="5254942"/>
              <a:ext cx="993787" cy="264033"/>
            </a:xfrm>
            <a:prstGeom prst="rect">
              <a:avLst/>
            </a:prstGeom>
            <a:noFill/>
            <a:ln>
              <a:noFill/>
            </a:ln>
          </p:spPr>
          <p:txBody>
            <a:bodyPr wrap="none" lIns="0" tIns="0" rIns="0" bIns="0" anchor="t" anchorCtr="0">
              <a:spAutoFit/>
            </a:bodyPr>
            <a:lstStyle/>
            <a:p>
              <a:pPr algn="l"/>
              <a:r>
                <a:rPr lang="ja-JP" sz="1350" b="1" dirty="0">
                  <a:solidFill>
                    <a:srgbClr val="2E8B57"/>
                  </a:solidFill>
                  <a:latin typeface="+mn-lt"/>
                  <a:ea typeface="+mn-ea"/>
                  <a:cs typeface="+mn-cs"/>
                </a:rPr>
                <a:t>vace_video</a:t>
              </a:r>
            </a:p>
          </p:txBody>
        </p:sp>
        <p:sp>
          <p:nvSpPr>
            <p:cNvPr id="57" name="TextBox 57"/>
            <p:cNvSpPr txBox="1"/>
            <p:nvPr/>
          </p:nvSpPr>
          <p:spPr>
            <a:xfrm>
              <a:off x="3611880" y="5238750"/>
              <a:ext cx="4457700" cy="293370"/>
            </a:xfrm>
            <a:prstGeom prst="rect">
              <a:avLst/>
            </a:prstGeom>
            <a:noFill/>
            <a:ln>
              <a:noFill/>
            </a:ln>
          </p:spPr>
          <p:txBody>
            <a:bodyPr wrap="none" lIns="0" tIns="0" rIns="0" bIns="0" anchor="t" anchorCtr="0">
              <a:spAutoFit/>
            </a:bodyPr>
            <a:lstStyle/>
            <a:p>
              <a:pPr algn="l"/>
              <a:r>
                <a:rPr lang="ja-JP" sz="1500" b="1" dirty="0">
                  <a:solidFill>
                    <a:schemeClr val="dk1"/>
                  </a:solidFill>
                  <a:latin typeface="+mn-lt"/>
                  <a:ea typeface="+mn-ea"/>
                  <a:cs typeface="+mn-cs"/>
                </a:rPr>
                <a:t>道具と食物を、どの位置で、どの時刻に動かすか</a:t>
              </a:r>
            </a:p>
          </p:txBody>
        </p:sp>
        <p:sp>
          <p:nvSpPr>
            <p:cNvPr id="58" name="TextBox 58"/>
            <p:cNvSpPr txBox="1"/>
            <p:nvPr/>
          </p:nvSpPr>
          <p:spPr>
            <a:xfrm>
              <a:off x="869442" y="5578792"/>
              <a:ext cx="1559716" cy="264033"/>
            </a:xfrm>
            <a:prstGeom prst="rect">
              <a:avLst/>
            </a:prstGeom>
            <a:noFill/>
            <a:ln>
              <a:noFill/>
            </a:ln>
          </p:spPr>
          <p:txBody>
            <a:bodyPr wrap="none" lIns="0" tIns="0" rIns="0" bIns="0" anchor="t" anchorCtr="0">
              <a:spAutoFit/>
            </a:bodyPr>
            <a:lstStyle/>
            <a:p>
              <a:pPr algn="l"/>
              <a:r>
                <a:rPr lang="ja-JP" sz="1350" b="1" dirty="0">
                  <a:solidFill>
                    <a:srgbClr val="2E8B57"/>
                  </a:solidFill>
                  <a:latin typeface="+mn-lt"/>
                  <a:ea typeface="+mn-ea"/>
                  <a:cs typeface="+mn-cs"/>
                </a:rPr>
                <a:t>vace_video_mask</a:t>
              </a:r>
            </a:p>
          </p:txBody>
        </p:sp>
        <p:sp>
          <p:nvSpPr>
            <p:cNvPr id="59" name="TextBox 59"/>
            <p:cNvSpPr txBox="1"/>
            <p:nvPr/>
          </p:nvSpPr>
          <p:spPr>
            <a:xfrm>
              <a:off x="3611880" y="5562600"/>
              <a:ext cx="5094789" cy="293370"/>
            </a:xfrm>
            <a:prstGeom prst="rect">
              <a:avLst/>
            </a:prstGeom>
            <a:noFill/>
            <a:ln>
              <a:noFill/>
            </a:ln>
          </p:spPr>
          <p:txBody>
            <a:bodyPr wrap="none" lIns="0" tIns="0" rIns="0" bIns="0" anchor="t" anchorCtr="0">
              <a:spAutoFit/>
            </a:bodyPr>
            <a:lstStyle/>
            <a:p>
              <a:pPr algn="l"/>
              <a:r>
                <a:rPr lang="ja-JP" sz="1500" b="1" dirty="0">
                  <a:solidFill>
                    <a:schemeClr val="dk1"/>
                  </a:solidFill>
                  <a:latin typeface="+mn-lt"/>
                  <a:ea typeface="+mn-ea"/>
                  <a:cs typeface="+mn-cs"/>
                </a:rPr>
                <a:t>21フレームの変化領域を和集合し、膨張・羽化して生成</a:t>
              </a:r>
            </a:p>
          </p:txBody>
        </p:sp>
        <p:sp>
          <p:nvSpPr>
            <p:cNvPr id="60" name="TextBox 60"/>
            <p:cNvSpPr txBox="1"/>
            <p:nvPr/>
          </p:nvSpPr>
          <p:spPr>
            <a:xfrm>
              <a:off x="869442" y="5902642"/>
              <a:ext cx="2796836" cy="264033"/>
            </a:xfrm>
            <a:prstGeom prst="rect">
              <a:avLst/>
            </a:prstGeom>
            <a:noFill/>
            <a:ln>
              <a:noFill/>
            </a:ln>
          </p:spPr>
          <p:txBody>
            <a:bodyPr wrap="none" lIns="0" tIns="0" rIns="0" bIns="0" anchor="t" anchorCtr="0">
              <a:spAutoFit/>
            </a:bodyPr>
            <a:lstStyle/>
            <a:p>
              <a:pPr algn="l"/>
              <a:r>
                <a:rPr lang="ja-JP" sz="1350" b="1" dirty="0">
                  <a:solidFill>
                    <a:srgbClr val="2E8B57"/>
                  </a:solidFill>
                  <a:latin typeface="+mn-lt"/>
                  <a:ea typeface="+mn-ea"/>
                  <a:cs typeface="+mn-cs"/>
                </a:rPr>
                <a:t>vace_reference_image + prompt</a:t>
              </a:r>
            </a:p>
          </p:txBody>
        </p:sp>
        <p:sp>
          <p:nvSpPr>
            <p:cNvPr id="61" name="TextBox 61"/>
            <p:cNvSpPr txBox="1"/>
            <p:nvPr/>
          </p:nvSpPr>
          <p:spPr>
            <a:xfrm>
              <a:off x="3611880" y="5886450"/>
              <a:ext cx="6364072" cy="293370"/>
            </a:xfrm>
            <a:prstGeom prst="rect">
              <a:avLst/>
            </a:prstGeom>
            <a:noFill/>
            <a:ln>
              <a:noFill/>
            </a:ln>
          </p:spPr>
          <p:txBody>
            <a:bodyPr wrap="none" lIns="0" tIns="0" rIns="0" bIns="0" anchor="t" anchorCtr="0">
              <a:spAutoFit/>
            </a:bodyPr>
            <a:lstStyle/>
            <a:p>
              <a:pPr algn="l"/>
              <a:r>
                <a:rPr lang="ja-JP" sz="1500" b="1" dirty="0">
                  <a:solidFill>
                    <a:schemeClr val="dk1"/>
                  </a:solidFill>
                  <a:latin typeface="+mn-lt"/>
                  <a:ea typeface="+mn-ea"/>
                  <a:cs typeface="+mn-cs"/>
                </a:rPr>
                <a:t>元画像の内容と、写真的な道具・食物外観をVACEの事前分布から生成</a:t>
              </a:r>
            </a:p>
          </p:txBody>
        </p:sp>
        <p:sp>
          <p:nvSpPr>
            <p:cNvPr id="62" name="TextBox 62"/>
            <p:cNvSpPr txBox="1"/>
            <p:nvPr/>
          </p:nvSpPr>
          <p:spPr>
            <a:xfrm>
              <a:off x="680466" y="6230302"/>
              <a:ext cx="5639612" cy="205359"/>
            </a:xfrm>
            <a:prstGeom prst="rect">
              <a:avLst/>
            </a:prstGeom>
            <a:noFill/>
            <a:ln>
              <a:noFill/>
            </a:ln>
          </p:spPr>
          <p:txBody>
            <a:bodyPr wrap="none" lIns="0" tIns="0" rIns="0" bIns="0" anchor="t" anchorCtr="0">
              <a:spAutoFit/>
            </a:bodyPr>
            <a:lstStyle/>
            <a:p>
              <a:pPr algn="l"/>
              <a:r>
                <a:rPr lang="ja-JP" sz="1050" b="1" dirty="0">
                  <a:solidFill>
                    <a:schemeClr val="accent2"/>
                  </a:solidFill>
                  <a:latin typeface="+mn-lt"/>
                  <a:ea typeface="+mn-ea"/>
                  <a:cs typeface="+mn-cs"/>
                </a:rPr>
                <a:t>※ maskはSAM出力ではなく代理軌跡から生成。相対深度は正規化した制御用scaffold。</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400050"/>
            <a:ext cx="10820400" cy="9525"/>
          </a:xfrm>
          <a:custGeom>
            <a:avLst/>
            <a:gdLst/>
            <a:ahLst/>
            <a:cxnLst/>
            <a:rect l="l" t="t" r="r" b="b"/>
            <a:pathLst>
              <a:path w="10820400" h="9525">
                <a:moveTo>
                  <a:pt x="0" y="0"/>
                </a:moveTo>
                <a:lnTo>
                  <a:pt x="10820400" y="0"/>
                </a:lnTo>
              </a:path>
            </a:pathLst>
          </a:custGeom>
          <a:noFill/>
          <a:ln w="19050">
            <a:solidFill>
              <a:srgbClr val="D8DDE3"/>
            </a:solidFill>
          </a:ln>
        </p:spPr>
      </p:sp>
      <p:sp>
        <p:nvSpPr>
          <p:cNvPr id="3" name="TextBox 3"/>
          <p:cNvSpPr txBox="1"/>
          <p:nvPr/>
        </p:nvSpPr>
        <p:spPr>
          <a:xfrm>
            <a:off x="679704" y="594360"/>
            <a:ext cx="2014362" cy="234696"/>
          </a:xfrm>
          <a:prstGeom prst="rect">
            <a:avLst/>
          </a:prstGeom>
          <a:noFill/>
          <a:ln>
            <a:noFill/>
          </a:ln>
        </p:spPr>
        <p:txBody>
          <a:bodyPr wrap="none" lIns="0" tIns="0" rIns="0" bIns="0" anchor="t" anchorCtr="0">
            <a:spAutoFit/>
          </a:bodyPr>
          <a:lstStyle/>
          <a:p>
            <a:pPr algn="l"/>
            <a:r>
              <a:rPr lang="ja-JP" sz="1200" b="1" spc="135" dirty="0">
                <a:solidFill>
                  <a:schemeClr val="accent1"/>
                </a:solidFill>
                <a:latin typeface="+mn-lt"/>
                <a:ea typeface="+mn-ea"/>
                <a:cs typeface="+mn-cs"/>
              </a:rPr>
              <a:t>QUALITATIVE RESULT</a:t>
            </a:r>
          </a:p>
        </p:txBody>
      </p:sp>
      <p:sp>
        <p:nvSpPr>
          <p:cNvPr id="4" name="TextBox 4"/>
          <p:cNvSpPr txBox="1"/>
          <p:nvPr/>
        </p:nvSpPr>
        <p:spPr>
          <a:xfrm>
            <a:off x="669798" y="831533"/>
            <a:ext cx="5120640" cy="616077"/>
          </a:xfrm>
          <a:prstGeom prst="rect">
            <a:avLst/>
          </a:prstGeom>
          <a:noFill/>
          <a:ln>
            <a:noFill/>
          </a:ln>
        </p:spPr>
        <p:txBody>
          <a:bodyPr wrap="none" lIns="0" tIns="0" rIns="0" bIns="0" anchor="t" anchorCtr="0">
            <a:spAutoFit/>
          </a:bodyPr>
          <a:lstStyle/>
          <a:p>
            <a:pPr algn="l"/>
            <a:r>
              <a:rPr lang="ja-JP" sz="3150" b="1" dirty="0">
                <a:solidFill>
                  <a:schemeClr val="dk1"/>
                </a:solidFill>
                <a:latin typeface="+mn-lt"/>
                <a:ea typeface="+mn-ea"/>
                <a:cs typeface="+mn-cs"/>
              </a:rPr>
              <a:t>同一入力での生成結果比較</a:t>
            </a:r>
          </a:p>
        </p:txBody>
      </p:sp>
      <p:sp>
        <p:nvSpPr>
          <p:cNvPr id="5" name="Rectangle 5"/>
          <p:cNvSpPr/>
          <p:nvPr/>
        </p:nvSpPr>
        <p:spPr>
          <a:xfrm>
            <a:off x="685800" y="1352550"/>
            <a:ext cx="704850" cy="38100"/>
          </a:xfrm>
          <a:prstGeom prst="rect">
            <a:avLst/>
          </a:prstGeom>
          <a:solidFill>
            <a:schemeClr val="accent1"/>
          </a:solidFill>
          <a:ln>
            <a:noFill/>
          </a:ln>
        </p:spPr>
      </p:sp>
      <p:sp>
        <p:nvSpPr>
          <p:cNvPr id="6" name="TextBox 6"/>
          <p:cNvSpPr txBox="1"/>
          <p:nvPr/>
        </p:nvSpPr>
        <p:spPr>
          <a:xfrm>
            <a:off x="680466" y="6420802"/>
            <a:ext cx="2129538" cy="205359"/>
          </a:xfrm>
          <a:prstGeom prst="rect">
            <a:avLst/>
          </a:prstGeom>
          <a:noFill/>
          <a:ln>
            <a:noFill/>
          </a:ln>
        </p:spPr>
        <p:txBody>
          <a:bodyPr wrap="none" lIns="0" tIns="0" rIns="0" bIns="0" anchor="t" anchorCtr="0">
            <a:spAutoFit/>
          </a:bodyPr>
          <a:lstStyle/>
          <a:p>
            <a:pPr algn="l"/>
            <a:r>
              <a:rPr lang="ja-JP" sz="1050" dirty="0">
                <a:solidFill>
                  <a:schemeClr val="accent6"/>
                </a:solidFill>
                <a:latin typeface="+mn-lt"/>
                <a:ea typeface="+mn-ea"/>
                <a:cs typeface="+mn-cs"/>
              </a:rPr>
              <a:t>FoodStateEdit｜メディア情報学</a:t>
            </a:r>
          </a:p>
        </p:txBody>
      </p:sp>
      <p:sp>
        <p:nvSpPr>
          <p:cNvPr id="7" name="TextBox 7"/>
          <p:cNvSpPr txBox="1"/>
          <p:nvPr/>
        </p:nvSpPr>
        <p:spPr>
          <a:xfrm>
            <a:off x="11320402" y="6404610"/>
            <a:ext cx="191894" cy="234696"/>
          </a:xfrm>
          <a:prstGeom prst="rect">
            <a:avLst/>
          </a:prstGeom>
          <a:noFill/>
          <a:ln>
            <a:noFill/>
          </a:ln>
        </p:spPr>
        <p:txBody>
          <a:bodyPr wrap="none" lIns="0" tIns="0" rIns="0" bIns="0" anchor="t" anchorCtr="0">
            <a:spAutoFit/>
          </a:bodyPr>
          <a:lstStyle/>
          <a:p>
            <a:pPr algn="r"/>
            <a:r>
              <a:rPr lang="ja-JP" sz="1200" b="1" dirty="0">
                <a:solidFill>
                  <a:schemeClr val="accent1"/>
                </a:solidFill>
                <a:latin typeface="+mn-lt"/>
                <a:ea typeface="+mn-ea"/>
                <a:cs typeface="+mn-cs"/>
              </a:rPr>
              <a:t>08</a:t>
            </a:r>
          </a:p>
        </p:txBody>
      </p:sp>
      <p:grpSp>
        <p:nvGrpSpPr>
          <p:cNvPr id="26" name="same-input-triptych"/>
          <p:cNvGrpSpPr/>
          <p:nvPr/>
        </p:nvGrpSpPr>
        <p:grpSpPr>
          <a:xfrm>
            <a:off x="685800" y="1657350"/>
            <a:ext cx="10820400" cy="4790789"/>
            <a:chOff x="685800" y="1657350"/>
            <a:chExt cx="10820400" cy="4790789"/>
          </a:xfrm>
        </p:grpSpPr>
        <p:sp>
          <p:nvSpPr>
            <p:cNvPr id="8" name="Rectangle 8"/>
            <p:cNvSpPr/>
            <p:nvPr/>
          </p:nvSpPr>
          <p:spPr>
            <a:xfrm>
              <a:off x="685800" y="1657350"/>
              <a:ext cx="3429000" cy="552450"/>
            </a:xfrm>
            <a:prstGeom prst="roundRect">
              <a:avLst>
                <a:gd name="adj" fmla="val 8621"/>
              </a:avLst>
            </a:prstGeom>
            <a:solidFill>
              <a:srgbClr val="365F7D"/>
            </a:solidFill>
            <a:ln w="9525">
              <a:solidFill>
                <a:srgbClr val="365F7D"/>
              </a:solidFill>
            </a:ln>
          </p:spPr>
        </p:sp>
        <p:sp>
          <p:nvSpPr>
            <p:cNvPr id="9" name="TextBox 9"/>
            <p:cNvSpPr txBox="1"/>
            <p:nvPr/>
          </p:nvSpPr>
          <p:spPr>
            <a:xfrm>
              <a:off x="1295583" y="1816894"/>
              <a:ext cx="2209434" cy="366712"/>
            </a:xfrm>
            <a:prstGeom prst="rect">
              <a:avLst/>
            </a:prstGeom>
            <a:noFill/>
            <a:ln>
              <a:noFill/>
            </a:ln>
          </p:spPr>
          <p:txBody>
            <a:bodyPr wrap="none" lIns="0" tIns="0" rIns="0" bIns="0" anchor="t" anchorCtr="0">
              <a:spAutoFit/>
            </a:bodyPr>
            <a:lstStyle/>
            <a:p>
              <a:pPr algn="ctr"/>
              <a:r>
                <a:rPr lang="ja-JP" sz="1880" b="1" dirty="0">
                  <a:solidFill>
                    <a:srgbClr val="FFFFFF"/>
                  </a:solidFill>
                  <a:latin typeface="+mn-lt"/>
                  <a:ea typeface="+mn-ea"/>
                  <a:cs typeface="+mn-cs"/>
                </a:rPr>
                <a:t>Input（参照画像）</a:t>
              </a:r>
            </a:p>
          </p:txBody>
        </p:sp>
        <p:sp>
          <p:nvSpPr>
            <p:cNvPr id="10" name="Rectangle 10"/>
            <p:cNvSpPr/>
            <p:nvPr/>
          </p:nvSpPr>
          <p:spPr>
            <a:xfrm>
              <a:off x="685800" y="2324100"/>
              <a:ext cx="3429000" cy="2952750"/>
            </a:xfrm>
            <a:prstGeom prst="roundRect">
              <a:avLst>
                <a:gd name="adj" fmla="val 1613"/>
              </a:avLst>
            </a:prstGeom>
            <a:solidFill>
              <a:srgbClr val="F7F9FB"/>
            </a:solidFill>
            <a:ln w="9525">
              <a:solidFill>
                <a:srgbClr val="365F7D"/>
              </a:solidFill>
            </a:ln>
          </p:spPr>
        </p:sp>
        <p:pic>
          <p:nvPicPr>
            <p:cNvPr id="11" name="Image 11"/>
            <p:cNvPicPr>
              <a:picLocks noChangeAspect="1"/>
            </p:cNvPicPr>
            <p:nvPr/>
          </p:nvPicPr>
          <p:blipFill>
            <a:blip r:embed="rId2"/>
            <a:stretch>
              <a:fillRect/>
            </a:stretch>
          </p:blipFill>
          <p:spPr>
            <a:xfrm>
              <a:off x="762000" y="2482712"/>
              <a:ext cx="3276600" cy="2635526"/>
            </a:xfrm>
            <a:prstGeom prst="rect">
              <a:avLst/>
            </a:prstGeom>
          </p:spPr>
        </p:pic>
        <p:sp>
          <p:nvSpPr>
            <p:cNvPr id="12" name="TextBox 12"/>
            <p:cNvSpPr txBox="1"/>
            <p:nvPr/>
          </p:nvSpPr>
          <p:spPr>
            <a:xfrm>
              <a:off x="1757362" y="5435918"/>
              <a:ext cx="1285875" cy="264033"/>
            </a:xfrm>
            <a:prstGeom prst="rect">
              <a:avLst/>
            </a:prstGeom>
            <a:noFill/>
            <a:ln>
              <a:noFill/>
            </a:ln>
          </p:spPr>
          <p:txBody>
            <a:bodyPr wrap="none" lIns="0" tIns="0" rIns="0" bIns="0" anchor="t" anchorCtr="0">
              <a:spAutoFit/>
            </a:bodyPr>
            <a:lstStyle/>
            <a:p>
              <a:pPr algn="ctr"/>
              <a:r>
                <a:rPr lang="ja-JP" sz="1350" b="1" dirty="0">
                  <a:solidFill>
                    <a:srgbClr val="365F7D"/>
                  </a:solidFill>
                  <a:latin typeface="+mn-lt"/>
                  <a:ea typeface="+mn-ea"/>
                  <a:cs typeface="+mn-cs"/>
                </a:rPr>
                <a:t>元のスープ画像</a:t>
              </a:r>
            </a:p>
          </p:txBody>
        </p:sp>
        <p:sp>
          <p:nvSpPr>
            <p:cNvPr id="13" name="Rectangle 13"/>
            <p:cNvSpPr/>
            <p:nvPr/>
          </p:nvSpPr>
          <p:spPr>
            <a:xfrm>
              <a:off x="4381500" y="1657350"/>
              <a:ext cx="3429000" cy="552450"/>
            </a:xfrm>
            <a:prstGeom prst="roundRect">
              <a:avLst>
                <a:gd name="adj" fmla="val 8621"/>
              </a:avLst>
            </a:prstGeom>
            <a:solidFill>
              <a:schemeClr val="accent2"/>
            </a:solidFill>
            <a:ln w="9525">
              <a:solidFill>
                <a:schemeClr val="accent2"/>
              </a:solidFill>
            </a:ln>
          </p:spPr>
        </p:sp>
        <p:sp>
          <p:nvSpPr>
            <p:cNvPr id="14" name="TextBox 14"/>
            <p:cNvSpPr txBox="1"/>
            <p:nvPr/>
          </p:nvSpPr>
          <p:spPr>
            <a:xfrm>
              <a:off x="5333044" y="1816894"/>
              <a:ext cx="1525912" cy="366712"/>
            </a:xfrm>
            <a:prstGeom prst="rect">
              <a:avLst/>
            </a:prstGeom>
            <a:noFill/>
            <a:ln>
              <a:noFill/>
            </a:ln>
          </p:spPr>
          <p:txBody>
            <a:bodyPr wrap="none" lIns="0" tIns="0" rIns="0" bIns="0" anchor="t" anchorCtr="0">
              <a:spAutoFit/>
            </a:bodyPr>
            <a:lstStyle/>
            <a:p>
              <a:pPr algn="ctr"/>
              <a:r>
                <a:rPr lang="ja-JP" sz="1880" b="1" dirty="0">
                  <a:solidFill>
                    <a:srgbClr val="FFFFFF"/>
                  </a:solidFill>
                  <a:latin typeface="+mn-lt"/>
                  <a:ea typeface="+mn-ea"/>
                  <a:cs typeface="+mn-cs"/>
                </a:rPr>
                <a:t>Qwen Image</a:t>
              </a:r>
            </a:p>
          </p:txBody>
        </p:sp>
        <p:sp>
          <p:nvSpPr>
            <p:cNvPr id="15" name="Rectangle 15"/>
            <p:cNvSpPr/>
            <p:nvPr/>
          </p:nvSpPr>
          <p:spPr>
            <a:xfrm>
              <a:off x="4381500" y="2324100"/>
              <a:ext cx="3429000" cy="2952750"/>
            </a:xfrm>
            <a:prstGeom prst="roundRect">
              <a:avLst>
                <a:gd name="adj" fmla="val 1613"/>
              </a:avLst>
            </a:prstGeom>
            <a:solidFill>
              <a:srgbClr val="F7F9FB"/>
            </a:solidFill>
            <a:ln w="9525">
              <a:solidFill>
                <a:schemeClr val="accent2"/>
              </a:solidFill>
            </a:ln>
          </p:spPr>
        </p:sp>
        <p:pic>
          <p:nvPicPr>
            <p:cNvPr id="16" name="Image 16"/>
            <p:cNvPicPr>
              <a:picLocks noChangeAspect="1"/>
            </p:cNvPicPr>
            <p:nvPr/>
          </p:nvPicPr>
          <p:blipFill>
            <a:blip r:embed="rId3"/>
            <a:stretch>
              <a:fillRect/>
            </a:stretch>
          </p:blipFill>
          <p:spPr>
            <a:xfrm>
              <a:off x="4457700" y="2480733"/>
              <a:ext cx="3276600" cy="2639483"/>
            </a:xfrm>
            <a:prstGeom prst="rect">
              <a:avLst/>
            </a:prstGeom>
          </p:spPr>
        </p:pic>
        <p:sp>
          <p:nvSpPr>
            <p:cNvPr id="17" name="TextBox 17"/>
            <p:cNvSpPr txBox="1"/>
            <p:nvPr/>
          </p:nvSpPr>
          <p:spPr>
            <a:xfrm>
              <a:off x="4726114" y="5435918"/>
              <a:ext cx="2739771" cy="264033"/>
            </a:xfrm>
            <a:prstGeom prst="rect">
              <a:avLst/>
            </a:prstGeom>
            <a:noFill/>
            <a:ln>
              <a:noFill/>
            </a:ln>
          </p:spPr>
          <p:txBody>
            <a:bodyPr wrap="none" lIns="0" tIns="0" rIns="0" bIns="0" anchor="t" anchorCtr="0">
              <a:spAutoFit/>
            </a:bodyPr>
            <a:lstStyle/>
            <a:p>
              <a:pPr algn="ctr"/>
              <a:r>
                <a:rPr lang="ja-JP" sz="1350" b="1" dirty="0">
                  <a:solidFill>
                    <a:schemeClr val="accent2"/>
                  </a:solidFill>
                  <a:latin typeface="+mn-lt"/>
                  <a:ea typeface="+mn-ea"/>
                  <a:cs typeface="+mn-cs"/>
                </a:rPr>
                <a:t>写真らしいが画角・背景も再構成</a:t>
              </a:r>
            </a:p>
          </p:txBody>
        </p:sp>
        <p:sp>
          <p:nvSpPr>
            <p:cNvPr id="18" name="Rectangle 18"/>
            <p:cNvSpPr/>
            <p:nvPr/>
          </p:nvSpPr>
          <p:spPr>
            <a:xfrm>
              <a:off x="8077200" y="1657350"/>
              <a:ext cx="3429000" cy="552450"/>
            </a:xfrm>
            <a:prstGeom prst="roundRect">
              <a:avLst>
                <a:gd name="adj" fmla="val 8621"/>
              </a:avLst>
            </a:prstGeom>
            <a:solidFill>
              <a:srgbClr val="2E8B57"/>
            </a:solidFill>
            <a:ln w="9525">
              <a:solidFill>
                <a:srgbClr val="2E8B57"/>
              </a:solidFill>
            </a:ln>
          </p:spPr>
        </p:sp>
        <p:sp>
          <p:nvSpPr>
            <p:cNvPr id="19" name="TextBox 19"/>
            <p:cNvSpPr txBox="1"/>
            <p:nvPr/>
          </p:nvSpPr>
          <p:spPr>
            <a:xfrm>
              <a:off x="8094140" y="1816894"/>
              <a:ext cx="3395120" cy="366712"/>
            </a:xfrm>
            <a:prstGeom prst="rect">
              <a:avLst/>
            </a:prstGeom>
            <a:noFill/>
            <a:ln>
              <a:noFill/>
            </a:ln>
          </p:spPr>
          <p:txBody>
            <a:bodyPr wrap="none" lIns="0" tIns="0" rIns="0" bIns="0" anchor="t" anchorCtr="0">
              <a:spAutoFit/>
            </a:bodyPr>
            <a:lstStyle/>
            <a:p>
              <a:pPr algn="ctr"/>
              <a:r>
                <a:rPr lang="ja-JP" sz="1880" b="1" dirty="0">
                  <a:solidFill>
                    <a:srgbClr val="FFFFFF"/>
                  </a:solidFill>
                  <a:latin typeface="+mn-lt"/>
                  <a:ea typeface="+mn-ea"/>
                  <a:cs typeface="+mn-cs"/>
                </a:rPr>
                <a:t>FoodStateEdit（提案手法）</a:t>
              </a:r>
            </a:p>
          </p:txBody>
        </p:sp>
        <p:sp>
          <p:nvSpPr>
            <p:cNvPr id="20" name="Rectangle 20"/>
            <p:cNvSpPr/>
            <p:nvPr/>
          </p:nvSpPr>
          <p:spPr>
            <a:xfrm>
              <a:off x="8077200" y="2324100"/>
              <a:ext cx="3429000" cy="2952750"/>
            </a:xfrm>
            <a:prstGeom prst="roundRect">
              <a:avLst>
                <a:gd name="adj" fmla="val 1613"/>
              </a:avLst>
            </a:prstGeom>
            <a:solidFill>
              <a:srgbClr val="F1FAF4"/>
            </a:solidFill>
            <a:ln w="28575">
              <a:solidFill>
                <a:srgbClr val="2E8B57"/>
              </a:solidFill>
            </a:ln>
          </p:spPr>
        </p:sp>
        <p:pic>
          <p:nvPicPr>
            <p:cNvPr id="21" name="Image 21"/>
            <p:cNvPicPr>
              <a:picLocks noChangeAspect="1"/>
            </p:cNvPicPr>
            <p:nvPr/>
          </p:nvPicPr>
          <p:blipFill>
            <a:blip r:embed="rId4"/>
            <a:stretch>
              <a:fillRect/>
            </a:stretch>
          </p:blipFill>
          <p:spPr>
            <a:xfrm>
              <a:off x="8153400" y="2482712"/>
              <a:ext cx="3276600" cy="2635526"/>
            </a:xfrm>
            <a:prstGeom prst="rect">
              <a:avLst/>
            </a:prstGeom>
          </p:spPr>
        </p:pic>
        <p:sp>
          <p:nvSpPr>
            <p:cNvPr id="22" name="TextBox 22"/>
            <p:cNvSpPr txBox="1"/>
            <p:nvPr/>
          </p:nvSpPr>
          <p:spPr>
            <a:xfrm>
              <a:off x="8330946" y="5435918"/>
              <a:ext cx="2921508" cy="264033"/>
            </a:xfrm>
            <a:prstGeom prst="rect">
              <a:avLst/>
            </a:prstGeom>
            <a:noFill/>
            <a:ln>
              <a:noFill/>
            </a:ln>
          </p:spPr>
          <p:txBody>
            <a:bodyPr wrap="none" lIns="0" tIns="0" rIns="0" bIns="0" anchor="t" anchorCtr="0">
              <a:spAutoFit/>
            </a:bodyPr>
            <a:lstStyle/>
            <a:p>
              <a:pPr algn="ctr"/>
              <a:r>
                <a:rPr lang="ja-JP" sz="1350" b="1" dirty="0">
                  <a:solidFill>
                    <a:srgbClr val="2E8B57"/>
                  </a:solidFill>
                  <a:latin typeface="+mn-lt"/>
                  <a:ea typeface="+mn-ea"/>
                  <a:cs typeface="+mn-cs"/>
                </a:rPr>
                <a:t>スプーン動作を追加し領域外を保持</a:t>
              </a:r>
            </a:p>
          </p:txBody>
        </p:sp>
        <p:sp>
          <p:nvSpPr>
            <p:cNvPr id="23" name="Rectangle 23"/>
            <p:cNvSpPr/>
            <p:nvPr/>
          </p:nvSpPr>
          <p:spPr>
            <a:xfrm>
              <a:off x="685800" y="5829300"/>
              <a:ext cx="10820400" cy="419100"/>
            </a:xfrm>
            <a:prstGeom prst="roundRect">
              <a:avLst>
                <a:gd name="adj" fmla="val 9091"/>
              </a:avLst>
            </a:prstGeom>
            <a:solidFill>
              <a:schemeClr val="accent5"/>
            </a:solidFill>
            <a:ln w="9525">
              <a:solidFill>
                <a:schemeClr val="accent1"/>
              </a:solidFill>
            </a:ln>
          </p:spPr>
        </p:sp>
        <p:sp>
          <p:nvSpPr>
            <p:cNvPr id="24" name="TextBox 24"/>
            <p:cNvSpPr txBox="1"/>
            <p:nvPr/>
          </p:nvSpPr>
          <p:spPr>
            <a:xfrm>
              <a:off x="2636566" y="5958364"/>
              <a:ext cx="6918869" cy="249364"/>
            </a:xfrm>
            <a:prstGeom prst="rect">
              <a:avLst/>
            </a:prstGeom>
            <a:noFill/>
            <a:ln>
              <a:noFill/>
            </a:ln>
          </p:spPr>
          <p:txBody>
            <a:bodyPr wrap="none" lIns="0" tIns="0" rIns="0" bIns="0" anchor="t" anchorCtr="0">
              <a:spAutoFit/>
            </a:bodyPr>
            <a:lstStyle/>
            <a:p>
              <a:pPr algn="ctr"/>
              <a:r>
                <a:rPr lang="ja-JP" sz="1280" b="1" dirty="0">
                  <a:solidFill>
                    <a:schemeClr val="accent1"/>
                  </a:solidFill>
                  <a:latin typeface="+mn-lt"/>
                  <a:ea typeface="+mn-ea"/>
                  <a:cs typeface="+mn-cs"/>
                </a:rPr>
                <a:t>同一入力・seed 1｜目標動作の実画像GTは存在しないため、Inputを参照画像として表示</a:t>
              </a:r>
            </a:p>
          </p:txBody>
        </p:sp>
        <p:sp>
          <p:nvSpPr>
            <p:cNvPr id="25" name="TextBox 25"/>
            <p:cNvSpPr txBox="1"/>
            <p:nvPr/>
          </p:nvSpPr>
          <p:spPr>
            <a:xfrm>
              <a:off x="3877962" y="6257449"/>
              <a:ext cx="4436077" cy="190690"/>
            </a:xfrm>
            <a:prstGeom prst="rect">
              <a:avLst/>
            </a:prstGeom>
            <a:noFill/>
            <a:ln>
              <a:noFill/>
            </a:ln>
          </p:spPr>
          <p:txBody>
            <a:bodyPr wrap="none" lIns="0" tIns="0" rIns="0" bIns="0" anchor="t" anchorCtr="0">
              <a:spAutoFit/>
            </a:bodyPr>
            <a:lstStyle/>
            <a:p>
              <a:pPr algn="ctr"/>
              <a:r>
                <a:rPr lang="ja-JP" sz="980" dirty="0">
                  <a:solidFill>
                    <a:schemeClr val="accent6"/>
                  </a:solidFill>
                  <a:latin typeface="+mn-lt"/>
                  <a:ea typeface="+mn-ea"/>
                  <a:cs typeface="+mn-cs"/>
                </a:rPr>
                <a:t>選択済み合成1例の内部比較。統計的優位性・実画像への一般化は未証明。</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400050"/>
            <a:ext cx="10820400" cy="9525"/>
          </a:xfrm>
          <a:custGeom>
            <a:avLst/>
            <a:gdLst/>
            <a:ahLst/>
            <a:cxnLst/>
            <a:rect l="l" t="t" r="r" b="b"/>
            <a:pathLst>
              <a:path w="10820400" h="9525">
                <a:moveTo>
                  <a:pt x="0" y="0"/>
                </a:moveTo>
                <a:lnTo>
                  <a:pt x="10820400" y="0"/>
                </a:lnTo>
              </a:path>
            </a:pathLst>
          </a:custGeom>
          <a:noFill/>
          <a:ln w="19050">
            <a:solidFill>
              <a:srgbClr val="D8DDE3"/>
            </a:solidFill>
          </a:ln>
        </p:spPr>
      </p:sp>
      <p:sp>
        <p:nvSpPr>
          <p:cNvPr id="3" name="TextBox 3"/>
          <p:cNvSpPr txBox="1"/>
          <p:nvPr/>
        </p:nvSpPr>
        <p:spPr>
          <a:xfrm>
            <a:off x="679704" y="594360"/>
            <a:ext cx="1941393" cy="234696"/>
          </a:xfrm>
          <a:prstGeom prst="rect">
            <a:avLst/>
          </a:prstGeom>
          <a:noFill/>
          <a:ln>
            <a:noFill/>
          </a:ln>
        </p:spPr>
        <p:txBody>
          <a:bodyPr wrap="none" lIns="0" tIns="0" rIns="0" bIns="0" anchor="t" anchorCtr="0">
            <a:spAutoFit/>
          </a:bodyPr>
          <a:lstStyle/>
          <a:p>
            <a:pPr algn="l"/>
            <a:r>
              <a:rPr lang="ja-JP" sz="1200" b="1" spc="135" dirty="0">
                <a:solidFill>
                  <a:schemeClr val="accent1"/>
                </a:solidFill>
                <a:latin typeface="+mn-lt"/>
                <a:ea typeface="+mn-ea"/>
                <a:cs typeface="+mn-cs"/>
              </a:rPr>
              <a:t>MULTI-CASE RESULT</a:t>
            </a:r>
          </a:p>
        </p:txBody>
      </p:sp>
      <p:sp>
        <p:nvSpPr>
          <p:cNvPr id="4" name="TextBox 4"/>
          <p:cNvSpPr txBox="1"/>
          <p:nvPr/>
        </p:nvSpPr>
        <p:spPr>
          <a:xfrm>
            <a:off x="669798" y="831533"/>
            <a:ext cx="4696587" cy="616077"/>
          </a:xfrm>
          <a:prstGeom prst="rect">
            <a:avLst/>
          </a:prstGeom>
          <a:noFill/>
          <a:ln>
            <a:noFill/>
          </a:ln>
        </p:spPr>
        <p:txBody>
          <a:bodyPr wrap="none" lIns="0" tIns="0" rIns="0" bIns="0" anchor="t" anchorCtr="0">
            <a:spAutoFit/>
          </a:bodyPr>
          <a:lstStyle/>
          <a:p>
            <a:pPr algn="l"/>
            <a:r>
              <a:rPr lang="ja-JP" sz="3150" b="1" dirty="0">
                <a:solidFill>
                  <a:schemeClr val="dk1"/>
                </a:solidFill>
                <a:latin typeface="+mn-lt"/>
                <a:ea typeface="+mn-ea"/>
                <a:cs typeface="+mn-cs"/>
              </a:rPr>
              <a:t>複数食品での多手法比較</a:t>
            </a:r>
          </a:p>
        </p:txBody>
      </p:sp>
      <p:sp>
        <p:nvSpPr>
          <p:cNvPr id="5" name="Rectangle 5"/>
          <p:cNvSpPr/>
          <p:nvPr/>
        </p:nvSpPr>
        <p:spPr>
          <a:xfrm>
            <a:off x="685800" y="1352550"/>
            <a:ext cx="704850" cy="38100"/>
          </a:xfrm>
          <a:prstGeom prst="rect">
            <a:avLst/>
          </a:prstGeom>
          <a:solidFill>
            <a:schemeClr val="accent1"/>
          </a:solidFill>
          <a:ln>
            <a:noFill/>
          </a:ln>
        </p:spPr>
      </p:sp>
      <p:sp>
        <p:nvSpPr>
          <p:cNvPr id="6" name="TextBox 6"/>
          <p:cNvSpPr txBox="1"/>
          <p:nvPr/>
        </p:nvSpPr>
        <p:spPr>
          <a:xfrm>
            <a:off x="680466" y="6420802"/>
            <a:ext cx="2129538" cy="205359"/>
          </a:xfrm>
          <a:prstGeom prst="rect">
            <a:avLst/>
          </a:prstGeom>
          <a:noFill/>
          <a:ln>
            <a:noFill/>
          </a:ln>
        </p:spPr>
        <p:txBody>
          <a:bodyPr wrap="none" lIns="0" tIns="0" rIns="0" bIns="0" anchor="t" anchorCtr="0">
            <a:spAutoFit/>
          </a:bodyPr>
          <a:lstStyle/>
          <a:p>
            <a:pPr algn="l"/>
            <a:r>
              <a:rPr lang="ja-JP" sz="1050" dirty="0">
                <a:solidFill>
                  <a:schemeClr val="accent6"/>
                </a:solidFill>
                <a:latin typeface="+mn-lt"/>
                <a:ea typeface="+mn-ea"/>
                <a:cs typeface="+mn-cs"/>
              </a:rPr>
              <a:t>FoodStateEdit｜メディア情報学</a:t>
            </a:r>
          </a:p>
        </p:txBody>
      </p:sp>
      <p:sp>
        <p:nvSpPr>
          <p:cNvPr id="7" name="TextBox 7"/>
          <p:cNvSpPr txBox="1"/>
          <p:nvPr/>
        </p:nvSpPr>
        <p:spPr>
          <a:xfrm>
            <a:off x="11320402" y="6404610"/>
            <a:ext cx="191894" cy="234696"/>
          </a:xfrm>
          <a:prstGeom prst="rect">
            <a:avLst/>
          </a:prstGeom>
          <a:noFill/>
          <a:ln>
            <a:noFill/>
          </a:ln>
        </p:spPr>
        <p:txBody>
          <a:bodyPr wrap="none" lIns="0" tIns="0" rIns="0" bIns="0" anchor="t" anchorCtr="0">
            <a:spAutoFit/>
          </a:bodyPr>
          <a:lstStyle/>
          <a:p>
            <a:pPr algn="r"/>
            <a:r>
              <a:rPr lang="ja-JP" sz="1200" b="1" dirty="0">
                <a:solidFill>
                  <a:schemeClr val="accent1"/>
                </a:solidFill>
                <a:latin typeface="+mn-lt"/>
                <a:ea typeface="+mn-ea"/>
                <a:cs typeface="+mn-cs"/>
              </a:rPr>
              <a:t>09</a:t>
            </a:r>
          </a:p>
        </p:txBody>
      </p:sp>
      <p:grpSp>
        <p:nvGrpSpPr>
          <p:cNvPr id="14" name="multi-case-comparison"/>
          <p:cNvGrpSpPr/>
          <p:nvPr/>
        </p:nvGrpSpPr>
        <p:grpSpPr>
          <a:xfrm>
            <a:off x="685800" y="1466850"/>
            <a:ext cx="10820400" cy="5019389"/>
            <a:chOff x="685800" y="1466850"/>
            <a:chExt cx="10820400" cy="5019389"/>
          </a:xfrm>
        </p:grpSpPr>
        <p:pic>
          <p:nvPicPr>
            <p:cNvPr id="8" name="Image 8"/>
            <p:cNvPicPr>
              <a:picLocks noChangeAspect="1"/>
            </p:cNvPicPr>
            <p:nvPr/>
          </p:nvPicPr>
          <p:blipFill>
            <a:blip r:embed="rId2"/>
            <a:stretch>
              <a:fillRect/>
            </a:stretch>
          </p:blipFill>
          <p:spPr>
            <a:xfrm>
              <a:off x="1754481" y="1466850"/>
              <a:ext cx="8683037" cy="1238250"/>
            </a:xfrm>
            <a:prstGeom prst="rect">
              <a:avLst/>
            </a:prstGeom>
          </p:spPr>
        </p:pic>
        <p:pic>
          <p:nvPicPr>
            <p:cNvPr id="9" name="Image 9"/>
            <p:cNvPicPr>
              <a:picLocks noChangeAspect="1"/>
            </p:cNvPicPr>
            <p:nvPr/>
          </p:nvPicPr>
          <p:blipFill>
            <a:blip r:embed="rId3"/>
            <a:stretch>
              <a:fillRect/>
            </a:stretch>
          </p:blipFill>
          <p:spPr>
            <a:xfrm>
              <a:off x="1754481" y="2895600"/>
              <a:ext cx="8683037" cy="1238250"/>
            </a:xfrm>
            <a:prstGeom prst="rect">
              <a:avLst/>
            </a:prstGeom>
          </p:spPr>
        </p:pic>
        <p:pic>
          <p:nvPicPr>
            <p:cNvPr id="10" name="Image 10"/>
            <p:cNvPicPr>
              <a:picLocks noChangeAspect="1"/>
            </p:cNvPicPr>
            <p:nvPr/>
          </p:nvPicPr>
          <p:blipFill>
            <a:blip r:embed="rId4"/>
            <a:stretch>
              <a:fillRect/>
            </a:stretch>
          </p:blipFill>
          <p:spPr>
            <a:xfrm>
              <a:off x="1754481" y="4324350"/>
              <a:ext cx="8683037" cy="1238250"/>
            </a:xfrm>
            <a:prstGeom prst="rect">
              <a:avLst/>
            </a:prstGeom>
          </p:spPr>
        </p:pic>
        <p:sp>
          <p:nvSpPr>
            <p:cNvPr id="11" name="Rectangle 11"/>
            <p:cNvSpPr/>
            <p:nvPr/>
          </p:nvSpPr>
          <p:spPr>
            <a:xfrm>
              <a:off x="685800" y="5829300"/>
              <a:ext cx="10820400" cy="400050"/>
            </a:xfrm>
            <a:prstGeom prst="roundRect">
              <a:avLst>
                <a:gd name="adj" fmla="val 9524"/>
              </a:avLst>
            </a:prstGeom>
            <a:solidFill>
              <a:schemeClr val="accent5"/>
            </a:solidFill>
            <a:ln w="9525">
              <a:solidFill>
                <a:schemeClr val="accent1"/>
              </a:solidFill>
            </a:ln>
          </p:spPr>
        </p:sp>
        <p:sp>
          <p:nvSpPr>
            <p:cNvPr id="12" name="TextBox 12"/>
            <p:cNvSpPr txBox="1"/>
            <p:nvPr/>
          </p:nvSpPr>
          <p:spPr>
            <a:xfrm>
              <a:off x="2772346" y="5940742"/>
              <a:ext cx="6647308" cy="264033"/>
            </a:xfrm>
            <a:prstGeom prst="rect">
              <a:avLst/>
            </a:prstGeom>
            <a:noFill/>
            <a:ln>
              <a:noFill/>
            </a:ln>
          </p:spPr>
          <p:txBody>
            <a:bodyPr wrap="none" lIns="0" tIns="0" rIns="0" bIns="0" anchor="t" anchorCtr="0">
              <a:spAutoFit/>
            </a:bodyPr>
            <a:lstStyle/>
            <a:p>
              <a:pPr algn="ctr"/>
              <a:r>
                <a:rPr lang="ja-JP" sz="1350" b="1" dirty="0">
                  <a:solidFill>
                    <a:schemeClr val="accent1"/>
                  </a:solidFill>
                  <a:latin typeface="+mn-lt"/>
                  <a:ea typeface="+mn-ea"/>
                  <a:cs typeface="+mn-cs"/>
                </a:rPr>
                <a:t>Input｜ChordEdit｜Qwen Image｜FoodStateEdit（Ours）を同一入力で比較</a:t>
              </a:r>
            </a:p>
          </p:txBody>
        </p:sp>
        <p:sp>
          <p:nvSpPr>
            <p:cNvPr id="13" name="TextBox 13"/>
            <p:cNvSpPr txBox="1"/>
            <p:nvPr/>
          </p:nvSpPr>
          <p:spPr>
            <a:xfrm>
              <a:off x="3768312" y="6295549"/>
              <a:ext cx="4655376" cy="190690"/>
            </a:xfrm>
            <a:prstGeom prst="rect">
              <a:avLst/>
            </a:prstGeom>
            <a:noFill/>
            <a:ln>
              <a:noFill/>
            </a:ln>
          </p:spPr>
          <p:txBody>
            <a:bodyPr wrap="none" lIns="0" tIns="0" rIns="0" bIns="0" anchor="t" anchorCtr="0">
              <a:spAutoFit/>
            </a:bodyPr>
            <a:lstStyle/>
            <a:p>
              <a:pPr algn="ctr"/>
              <a:r>
                <a:rPr lang="ja-JP" sz="980" dirty="0">
                  <a:solidFill>
                    <a:schemeClr val="accent6"/>
                  </a:solidFill>
                  <a:latin typeface="+mn-lt"/>
                  <a:ea typeface="+mn-ea"/>
                  <a:cs typeface="+mn-cs"/>
                </a:rPr>
                <a:t>選択済みseed 1の内部比較。実画像GTなし。統計的優位性・一般化は未証明。</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400050"/>
            <a:ext cx="10820400" cy="9525"/>
          </a:xfrm>
          <a:custGeom>
            <a:avLst/>
            <a:gdLst/>
            <a:ahLst/>
            <a:cxnLst/>
            <a:rect l="l" t="t" r="r" b="b"/>
            <a:pathLst>
              <a:path w="10820400" h="9525">
                <a:moveTo>
                  <a:pt x="0" y="0"/>
                </a:moveTo>
                <a:lnTo>
                  <a:pt x="10820400" y="0"/>
                </a:lnTo>
              </a:path>
            </a:pathLst>
          </a:custGeom>
          <a:noFill/>
          <a:ln w="19050">
            <a:solidFill>
              <a:srgbClr val="D8DDE3"/>
            </a:solidFill>
          </a:ln>
        </p:spPr>
      </p:sp>
      <p:sp>
        <p:nvSpPr>
          <p:cNvPr id="3" name="TextBox 3"/>
          <p:cNvSpPr txBox="1"/>
          <p:nvPr/>
        </p:nvSpPr>
        <p:spPr>
          <a:xfrm>
            <a:off x="679704" y="594360"/>
            <a:ext cx="1161776" cy="234696"/>
          </a:xfrm>
          <a:prstGeom prst="rect">
            <a:avLst/>
          </a:prstGeom>
          <a:noFill/>
          <a:ln>
            <a:noFill/>
          </a:ln>
        </p:spPr>
        <p:txBody>
          <a:bodyPr wrap="none" lIns="0" tIns="0" rIns="0" bIns="0" anchor="t" anchorCtr="0">
            <a:spAutoFit/>
          </a:bodyPr>
          <a:lstStyle/>
          <a:p>
            <a:pPr algn="l"/>
            <a:r>
              <a:rPr lang="ja-JP" sz="1200" b="1" spc="135" dirty="0">
                <a:solidFill>
                  <a:schemeClr val="accent1"/>
                </a:solidFill>
                <a:latin typeface="+mn-lt"/>
                <a:ea typeface="+mn-ea"/>
                <a:cs typeface="+mn-cs"/>
              </a:rPr>
              <a:t>EXPERIMENT</a:t>
            </a:r>
          </a:p>
        </p:txBody>
      </p:sp>
      <p:sp>
        <p:nvSpPr>
          <p:cNvPr id="4" name="TextBox 4"/>
          <p:cNvSpPr txBox="1"/>
          <p:nvPr/>
        </p:nvSpPr>
        <p:spPr>
          <a:xfrm>
            <a:off x="669798" y="831533"/>
            <a:ext cx="1728216" cy="616077"/>
          </a:xfrm>
          <a:prstGeom prst="rect">
            <a:avLst/>
          </a:prstGeom>
          <a:noFill/>
          <a:ln>
            <a:noFill/>
          </a:ln>
        </p:spPr>
        <p:txBody>
          <a:bodyPr wrap="none" lIns="0" tIns="0" rIns="0" bIns="0" anchor="t" anchorCtr="0">
            <a:spAutoFit/>
          </a:bodyPr>
          <a:lstStyle/>
          <a:p>
            <a:pPr algn="l"/>
            <a:r>
              <a:rPr lang="ja-JP" sz="3150" b="1" dirty="0">
                <a:solidFill>
                  <a:schemeClr val="dk1"/>
                </a:solidFill>
                <a:latin typeface="+mn-lt"/>
                <a:ea typeface="+mn-ea"/>
                <a:cs typeface="+mn-cs"/>
              </a:rPr>
              <a:t>実験設定</a:t>
            </a:r>
          </a:p>
        </p:txBody>
      </p:sp>
      <p:sp>
        <p:nvSpPr>
          <p:cNvPr id="5" name="Rectangle 5"/>
          <p:cNvSpPr/>
          <p:nvPr/>
        </p:nvSpPr>
        <p:spPr>
          <a:xfrm>
            <a:off x="685800" y="1352550"/>
            <a:ext cx="704850" cy="38100"/>
          </a:xfrm>
          <a:prstGeom prst="rect">
            <a:avLst/>
          </a:prstGeom>
          <a:solidFill>
            <a:schemeClr val="accent1"/>
          </a:solidFill>
          <a:ln>
            <a:noFill/>
          </a:ln>
        </p:spPr>
      </p:sp>
      <p:sp>
        <p:nvSpPr>
          <p:cNvPr id="6" name="TextBox 6"/>
          <p:cNvSpPr txBox="1"/>
          <p:nvPr/>
        </p:nvSpPr>
        <p:spPr>
          <a:xfrm>
            <a:off x="680466" y="6420802"/>
            <a:ext cx="2129538" cy="205359"/>
          </a:xfrm>
          <a:prstGeom prst="rect">
            <a:avLst/>
          </a:prstGeom>
          <a:noFill/>
          <a:ln>
            <a:noFill/>
          </a:ln>
        </p:spPr>
        <p:txBody>
          <a:bodyPr wrap="none" lIns="0" tIns="0" rIns="0" bIns="0" anchor="t" anchorCtr="0">
            <a:spAutoFit/>
          </a:bodyPr>
          <a:lstStyle/>
          <a:p>
            <a:pPr algn="l"/>
            <a:r>
              <a:rPr lang="ja-JP" sz="1050" dirty="0">
                <a:solidFill>
                  <a:schemeClr val="accent6"/>
                </a:solidFill>
                <a:latin typeface="+mn-lt"/>
                <a:ea typeface="+mn-ea"/>
                <a:cs typeface="+mn-cs"/>
              </a:rPr>
              <a:t>FoodStateEdit｜メディア情報学</a:t>
            </a:r>
          </a:p>
        </p:txBody>
      </p:sp>
      <p:sp>
        <p:nvSpPr>
          <p:cNvPr id="7" name="TextBox 7"/>
          <p:cNvSpPr txBox="1"/>
          <p:nvPr/>
        </p:nvSpPr>
        <p:spPr>
          <a:xfrm>
            <a:off x="11320402" y="6404610"/>
            <a:ext cx="191894" cy="234696"/>
          </a:xfrm>
          <a:prstGeom prst="rect">
            <a:avLst/>
          </a:prstGeom>
          <a:noFill/>
          <a:ln>
            <a:noFill/>
          </a:ln>
        </p:spPr>
        <p:txBody>
          <a:bodyPr wrap="none" lIns="0" tIns="0" rIns="0" bIns="0" anchor="t" anchorCtr="0">
            <a:spAutoFit/>
          </a:bodyPr>
          <a:lstStyle/>
          <a:p>
            <a:pPr algn="r"/>
            <a:r>
              <a:rPr lang="ja-JP" sz="1200" b="1" dirty="0">
                <a:solidFill>
                  <a:schemeClr val="accent1"/>
                </a:solidFill>
                <a:latin typeface="+mn-lt"/>
                <a:ea typeface="+mn-ea"/>
                <a:cs typeface="+mn-cs"/>
              </a:rPr>
              <a:t>10</a:t>
            </a:r>
          </a:p>
        </p:txBody>
      </p:sp>
      <p:grpSp>
        <p:nvGrpSpPr>
          <p:cNvPr id="39" name="slide-content"/>
          <p:cNvGrpSpPr/>
          <p:nvPr/>
        </p:nvGrpSpPr>
        <p:grpSpPr>
          <a:xfrm>
            <a:off x="685800" y="1752600"/>
            <a:ext cx="10820400" cy="4298156"/>
            <a:chOff x="685800" y="1752600"/>
            <a:chExt cx="10820400" cy="4298156"/>
          </a:xfrm>
        </p:grpSpPr>
        <p:sp>
          <p:nvSpPr>
            <p:cNvPr id="8" name="Rectangle 8"/>
            <p:cNvSpPr/>
            <p:nvPr/>
          </p:nvSpPr>
          <p:spPr>
            <a:xfrm>
              <a:off x="685800" y="1752600"/>
              <a:ext cx="5257800" cy="3486150"/>
            </a:xfrm>
            <a:prstGeom prst="roundRect">
              <a:avLst>
                <a:gd name="adj" fmla="val 1639"/>
              </a:avLst>
            </a:prstGeom>
            <a:solidFill>
              <a:schemeClr val="lt1"/>
            </a:solidFill>
            <a:ln w="19050">
              <a:solidFill>
                <a:srgbClr val="D8DDE3"/>
              </a:solidFill>
            </a:ln>
          </p:spPr>
        </p:sp>
        <p:sp>
          <p:nvSpPr>
            <p:cNvPr id="9" name="Rectangle 9"/>
            <p:cNvSpPr/>
            <p:nvPr/>
          </p:nvSpPr>
          <p:spPr>
            <a:xfrm>
              <a:off x="685800" y="1752600"/>
              <a:ext cx="5257800" cy="457200"/>
            </a:xfrm>
            <a:prstGeom prst="rect">
              <a:avLst/>
            </a:prstGeom>
            <a:solidFill>
              <a:schemeClr val="accent1"/>
            </a:solidFill>
            <a:ln>
              <a:noFill/>
            </a:ln>
          </p:spPr>
        </p:sp>
        <p:sp>
          <p:nvSpPr>
            <p:cNvPr id="10" name="TextBox 10"/>
            <p:cNvSpPr txBox="1"/>
            <p:nvPr/>
          </p:nvSpPr>
          <p:spPr>
            <a:xfrm>
              <a:off x="905256" y="1872615"/>
              <a:ext cx="1229868" cy="352044"/>
            </a:xfrm>
            <a:prstGeom prst="rect">
              <a:avLst/>
            </a:prstGeom>
            <a:noFill/>
            <a:ln>
              <a:noFill/>
            </a:ln>
          </p:spPr>
          <p:txBody>
            <a:bodyPr wrap="none" lIns="0" tIns="0" rIns="0" bIns="0" anchor="t" anchorCtr="0">
              <a:spAutoFit/>
            </a:bodyPr>
            <a:lstStyle/>
            <a:p>
              <a:pPr algn="l"/>
              <a:r>
                <a:rPr lang="ja-JP" sz="1800" b="1" dirty="0">
                  <a:solidFill>
                    <a:srgbClr val="FFFFFF"/>
                  </a:solidFill>
                  <a:latin typeface="+mn-lt"/>
                  <a:ea typeface="+mn-ea"/>
                  <a:cs typeface="+mn-cs"/>
                </a:rPr>
                <a:t>同条件消融</a:t>
              </a:r>
            </a:p>
          </p:txBody>
        </p:sp>
        <p:sp>
          <p:nvSpPr>
            <p:cNvPr id="11" name="TextBox 11"/>
            <p:cNvSpPr txBox="1"/>
            <p:nvPr/>
          </p:nvSpPr>
          <p:spPr>
            <a:xfrm>
              <a:off x="952500" y="2363152"/>
              <a:ext cx="341346" cy="790575"/>
            </a:xfrm>
            <a:prstGeom prst="rect">
              <a:avLst/>
            </a:prstGeom>
            <a:noFill/>
            <a:ln>
              <a:noFill/>
            </a:ln>
          </p:spPr>
          <p:txBody>
            <a:bodyPr wrap="none" lIns="0" tIns="0" rIns="0" bIns="0" anchor="t" anchorCtr="0">
              <a:spAutoFit/>
            </a:bodyPr>
            <a:lstStyle/>
            <a:p>
              <a:pPr algn="l"/>
              <a:r>
                <a:rPr lang="ja-JP" sz="4050" b="1" dirty="0">
                  <a:solidFill>
                    <a:schemeClr val="accent1"/>
                  </a:solidFill>
                  <a:latin typeface="+mn-lt"/>
                  <a:ea typeface="+mn-ea"/>
                  <a:cs typeface="+mn-cs"/>
                </a:rPr>
                <a:t>4</a:t>
              </a:r>
            </a:p>
          </p:txBody>
        </p:sp>
        <p:sp>
          <p:nvSpPr>
            <p:cNvPr id="12" name="TextBox 12"/>
            <p:cNvSpPr txBox="1"/>
            <p:nvPr/>
          </p:nvSpPr>
          <p:spPr>
            <a:xfrm>
              <a:off x="1514856" y="2558415"/>
              <a:ext cx="1284195" cy="352044"/>
            </a:xfrm>
            <a:prstGeom prst="rect">
              <a:avLst/>
            </a:prstGeom>
            <a:noFill/>
            <a:ln>
              <a:noFill/>
            </a:ln>
          </p:spPr>
          <p:txBody>
            <a:bodyPr wrap="none" lIns="0" tIns="0" rIns="0" bIns="0" anchor="t" anchorCtr="0">
              <a:spAutoFit/>
            </a:bodyPr>
            <a:lstStyle/>
            <a:p>
              <a:pPr algn="l"/>
              <a:r>
                <a:rPr lang="ja-JP" sz="1800" b="1" dirty="0">
                  <a:solidFill>
                    <a:schemeClr val="dk1"/>
                  </a:solidFill>
                  <a:latin typeface="+mn-lt"/>
                  <a:ea typeface="+mn-ea"/>
                  <a:cs typeface="+mn-cs"/>
                </a:rPr>
                <a:t>food cases</a:t>
              </a:r>
            </a:p>
          </p:txBody>
        </p:sp>
        <p:sp>
          <p:nvSpPr>
            <p:cNvPr id="13" name="TextBox 13"/>
            <p:cNvSpPr txBox="1"/>
            <p:nvPr/>
          </p:nvSpPr>
          <p:spPr>
            <a:xfrm>
              <a:off x="952500" y="3096578"/>
              <a:ext cx="341346" cy="790575"/>
            </a:xfrm>
            <a:prstGeom prst="rect">
              <a:avLst/>
            </a:prstGeom>
            <a:noFill/>
            <a:ln>
              <a:noFill/>
            </a:ln>
          </p:spPr>
          <p:txBody>
            <a:bodyPr wrap="none" lIns="0" tIns="0" rIns="0" bIns="0" anchor="t" anchorCtr="0">
              <a:spAutoFit/>
            </a:bodyPr>
            <a:lstStyle/>
            <a:p>
              <a:pPr algn="l"/>
              <a:r>
                <a:rPr lang="ja-JP" sz="4050" b="1" dirty="0">
                  <a:solidFill>
                    <a:schemeClr val="accent1"/>
                  </a:solidFill>
                  <a:latin typeface="+mn-lt"/>
                  <a:ea typeface="+mn-ea"/>
                  <a:cs typeface="+mn-cs"/>
                </a:rPr>
                <a:t>3</a:t>
              </a:r>
            </a:p>
          </p:txBody>
        </p:sp>
        <p:sp>
          <p:nvSpPr>
            <p:cNvPr id="14" name="TextBox 14"/>
            <p:cNvSpPr txBox="1"/>
            <p:nvPr/>
          </p:nvSpPr>
          <p:spPr>
            <a:xfrm>
              <a:off x="1514856" y="3291840"/>
              <a:ext cx="705399" cy="352044"/>
            </a:xfrm>
            <a:prstGeom prst="rect">
              <a:avLst/>
            </a:prstGeom>
            <a:noFill/>
            <a:ln>
              <a:noFill/>
            </a:ln>
          </p:spPr>
          <p:txBody>
            <a:bodyPr wrap="none" lIns="0" tIns="0" rIns="0" bIns="0" anchor="t" anchorCtr="0">
              <a:spAutoFit/>
            </a:bodyPr>
            <a:lstStyle/>
            <a:p>
              <a:pPr algn="l"/>
              <a:r>
                <a:rPr lang="ja-JP" sz="1800" b="1" dirty="0">
                  <a:solidFill>
                    <a:schemeClr val="dk1"/>
                  </a:solidFill>
                  <a:latin typeface="+mn-lt"/>
                  <a:ea typeface="+mn-ea"/>
                  <a:cs typeface="+mn-cs"/>
                </a:rPr>
                <a:t>seeds</a:t>
              </a:r>
            </a:p>
          </p:txBody>
        </p:sp>
        <p:sp>
          <p:nvSpPr>
            <p:cNvPr id="15" name="TextBox 15"/>
            <p:cNvSpPr txBox="1"/>
            <p:nvPr/>
          </p:nvSpPr>
          <p:spPr>
            <a:xfrm>
              <a:off x="952500" y="3830002"/>
              <a:ext cx="341346" cy="790575"/>
            </a:xfrm>
            <a:prstGeom prst="rect">
              <a:avLst/>
            </a:prstGeom>
            <a:noFill/>
            <a:ln>
              <a:noFill/>
            </a:ln>
          </p:spPr>
          <p:txBody>
            <a:bodyPr wrap="none" lIns="0" tIns="0" rIns="0" bIns="0" anchor="t" anchorCtr="0">
              <a:spAutoFit/>
            </a:bodyPr>
            <a:lstStyle/>
            <a:p>
              <a:pPr algn="l"/>
              <a:r>
                <a:rPr lang="ja-JP" sz="4050" b="1" dirty="0">
                  <a:solidFill>
                    <a:schemeClr val="accent1"/>
                  </a:solidFill>
                  <a:latin typeface="+mn-lt"/>
                  <a:ea typeface="+mn-ea"/>
                  <a:cs typeface="+mn-cs"/>
                </a:rPr>
                <a:t>5</a:t>
              </a:r>
            </a:p>
          </p:txBody>
        </p:sp>
        <p:sp>
          <p:nvSpPr>
            <p:cNvPr id="16" name="TextBox 16"/>
            <p:cNvSpPr txBox="1"/>
            <p:nvPr/>
          </p:nvSpPr>
          <p:spPr>
            <a:xfrm>
              <a:off x="1514856" y="4025265"/>
              <a:ext cx="1243195" cy="352044"/>
            </a:xfrm>
            <a:prstGeom prst="rect">
              <a:avLst/>
            </a:prstGeom>
            <a:noFill/>
            <a:ln>
              <a:noFill/>
            </a:ln>
          </p:spPr>
          <p:txBody>
            <a:bodyPr wrap="none" lIns="0" tIns="0" rIns="0" bIns="0" anchor="t" anchorCtr="0">
              <a:spAutoFit/>
            </a:bodyPr>
            <a:lstStyle/>
            <a:p>
              <a:pPr algn="l"/>
              <a:r>
                <a:rPr lang="ja-JP" sz="1800" b="1" dirty="0">
                  <a:solidFill>
                    <a:schemeClr val="dk1"/>
                  </a:solidFill>
                  <a:latin typeface="+mn-lt"/>
                  <a:ea typeface="+mn-ea"/>
                  <a:cs typeface="+mn-cs"/>
                </a:rPr>
                <a:t>conditions</a:t>
              </a:r>
            </a:p>
          </p:txBody>
        </p:sp>
        <p:sp>
          <p:nvSpPr>
            <p:cNvPr id="17" name="Line 17"/>
            <p:cNvSpPr/>
            <p:nvPr/>
          </p:nvSpPr>
          <p:spPr>
            <a:xfrm>
              <a:off x="3124200" y="2476500"/>
              <a:ext cx="9525" cy="2171700"/>
            </a:xfrm>
            <a:custGeom>
              <a:avLst/>
              <a:gdLst/>
              <a:ahLst/>
              <a:cxnLst/>
              <a:rect l="l" t="t" r="r" b="b"/>
              <a:pathLst>
                <a:path w="9525" h="2171700">
                  <a:moveTo>
                    <a:pt x="0" y="0"/>
                  </a:moveTo>
                  <a:lnTo>
                    <a:pt x="0" y="2171700"/>
                  </a:lnTo>
                </a:path>
              </a:pathLst>
            </a:custGeom>
            <a:noFill/>
            <a:ln w="19050">
              <a:solidFill>
                <a:srgbClr val="D8DDE3"/>
              </a:solidFill>
            </a:ln>
          </p:spPr>
        </p:sp>
        <p:sp>
          <p:nvSpPr>
            <p:cNvPr id="18" name="TextBox 18"/>
            <p:cNvSpPr txBox="1"/>
            <p:nvPr/>
          </p:nvSpPr>
          <p:spPr>
            <a:xfrm>
              <a:off x="3383280" y="2552700"/>
              <a:ext cx="1048112" cy="293370"/>
            </a:xfrm>
            <a:prstGeom prst="rect">
              <a:avLst/>
            </a:prstGeom>
            <a:noFill/>
            <a:ln>
              <a:noFill/>
            </a:ln>
          </p:spPr>
          <p:txBody>
            <a:bodyPr wrap="none" lIns="0" tIns="0" rIns="0" bIns="0" anchor="t" anchorCtr="0">
              <a:spAutoFit/>
            </a:bodyPr>
            <a:lstStyle/>
            <a:p>
              <a:pPr algn="l"/>
              <a:r>
                <a:rPr lang="ja-JP" sz="1500" dirty="0">
                  <a:solidFill>
                    <a:schemeClr val="dk1"/>
                  </a:solidFill>
                  <a:latin typeface="+mn-lt"/>
                  <a:ea typeface="+mn-ea"/>
                  <a:cs typeface="+mn-cs"/>
                </a:rPr>
                <a:t>native input</a:t>
              </a:r>
            </a:p>
          </p:txBody>
        </p:sp>
        <p:sp>
          <p:nvSpPr>
            <p:cNvPr id="19" name="TextBox 19"/>
            <p:cNvSpPr txBox="1"/>
            <p:nvPr/>
          </p:nvSpPr>
          <p:spPr>
            <a:xfrm>
              <a:off x="3383280" y="2857500"/>
              <a:ext cx="1447469" cy="293370"/>
            </a:xfrm>
            <a:prstGeom prst="rect">
              <a:avLst/>
            </a:prstGeom>
            <a:noFill/>
            <a:ln>
              <a:noFill/>
            </a:ln>
          </p:spPr>
          <p:txBody>
            <a:bodyPr wrap="none" lIns="0" tIns="0" rIns="0" bIns="0" anchor="t" anchorCtr="0">
              <a:spAutoFit/>
            </a:bodyPr>
            <a:lstStyle/>
            <a:p>
              <a:pPr algn="l"/>
              <a:r>
                <a:rPr lang="ja-JP" sz="1500" dirty="0">
                  <a:solidFill>
                    <a:schemeClr val="dk1"/>
                  </a:solidFill>
                  <a:latin typeface="+mn-lt"/>
                  <a:ea typeface="+mn-ea"/>
                  <a:cs typeface="+mn-cs"/>
                </a:rPr>
                <a:t>2D planar proxy</a:t>
              </a:r>
            </a:p>
          </p:txBody>
        </p:sp>
        <p:sp>
          <p:nvSpPr>
            <p:cNvPr id="20" name="TextBox 20"/>
            <p:cNvSpPr txBox="1"/>
            <p:nvPr/>
          </p:nvSpPr>
          <p:spPr>
            <a:xfrm>
              <a:off x="3383280" y="3162300"/>
              <a:ext cx="1412649" cy="293370"/>
            </a:xfrm>
            <a:prstGeom prst="rect">
              <a:avLst/>
            </a:prstGeom>
            <a:noFill/>
            <a:ln>
              <a:noFill/>
            </a:ln>
          </p:spPr>
          <p:txBody>
            <a:bodyPr wrap="none" lIns="0" tIns="0" rIns="0" bIns="0" anchor="t" anchorCtr="0">
              <a:spAutoFit/>
            </a:bodyPr>
            <a:lstStyle/>
            <a:p>
              <a:pPr algn="l"/>
              <a:r>
                <a:rPr lang="ja-JP" sz="1500" dirty="0">
                  <a:solidFill>
                    <a:schemeClr val="dk1"/>
                  </a:solidFill>
                  <a:latin typeface="+mn-lt"/>
                  <a:ea typeface="+mn-ea"/>
                  <a:cs typeface="+mn-cs"/>
                </a:rPr>
                <a:t>fixed relative3D</a:t>
              </a:r>
            </a:p>
          </p:txBody>
        </p:sp>
        <p:sp>
          <p:nvSpPr>
            <p:cNvPr id="21" name="TextBox 21"/>
            <p:cNvSpPr txBox="1"/>
            <p:nvPr/>
          </p:nvSpPr>
          <p:spPr>
            <a:xfrm>
              <a:off x="3383280" y="3467100"/>
              <a:ext cx="2535123" cy="293370"/>
            </a:xfrm>
            <a:prstGeom prst="rect">
              <a:avLst/>
            </a:prstGeom>
            <a:noFill/>
            <a:ln>
              <a:noFill/>
            </a:ln>
          </p:spPr>
          <p:txBody>
            <a:bodyPr wrap="none" lIns="0" tIns="0" rIns="0" bIns="0" anchor="t" anchorCtr="0">
              <a:spAutoFit/>
            </a:bodyPr>
            <a:lstStyle/>
            <a:p>
              <a:pPr algn="l"/>
              <a:r>
                <a:rPr lang="ja-JP" sz="1500" dirty="0">
                  <a:solidFill>
                    <a:schemeClr val="dk1"/>
                  </a:solidFill>
                  <a:latin typeface="+mn-lt"/>
                  <a:ea typeface="+mn-ea"/>
                  <a:cs typeface="+mn-cs"/>
                </a:rPr>
                <a:t>material-adaptive relative3D</a:t>
              </a:r>
            </a:p>
          </p:txBody>
        </p:sp>
        <p:sp>
          <p:nvSpPr>
            <p:cNvPr id="22" name="TextBox 22"/>
            <p:cNvSpPr txBox="1"/>
            <p:nvPr/>
          </p:nvSpPr>
          <p:spPr>
            <a:xfrm>
              <a:off x="3383280" y="3771900"/>
              <a:ext cx="2260257" cy="293370"/>
            </a:xfrm>
            <a:prstGeom prst="rect">
              <a:avLst/>
            </a:prstGeom>
            <a:noFill/>
            <a:ln>
              <a:noFill/>
            </a:ln>
          </p:spPr>
          <p:txBody>
            <a:bodyPr wrap="none" lIns="0" tIns="0" rIns="0" bIns="0" anchor="t" anchorCtr="0">
              <a:spAutoFit/>
            </a:bodyPr>
            <a:lstStyle/>
            <a:p>
              <a:pPr algn="l"/>
              <a:r>
                <a:rPr lang="ja-JP" sz="1500" dirty="0">
                  <a:solidFill>
                    <a:schemeClr val="dk1"/>
                  </a:solidFill>
                  <a:latin typeface="+mn-lt"/>
                  <a:ea typeface="+mn-ea"/>
                  <a:cs typeface="+mn-cs"/>
                </a:rPr>
                <a:t>rollback-related condition</a:t>
              </a:r>
            </a:p>
          </p:txBody>
        </p:sp>
        <p:sp>
          <p:nvSpPr>
            <p:cNvPr id="23" name="Rectangle 23"/>
            <p:cNvSpPr/>
            <p:nvPr/>
          </p:nvSpPr>
          <p:spPr>
            <a:xfrm>
              <a:off x="6248400" y="1752600"/>
              <a:ext cx="5257800" cy="3486150"/>
            </a:xfrm>
            <a:prstGeom prst="roundRect">
              <a:avLst>
                <a:gd name="adj" fmla="val 1639"/>
              </a:avLst>
            </a:prstGeom>
            <a:solidFill>
              <a:schemeClr val="accent5"/>
            </a:solidFill>
            <a:ln>
              <a:noFill/>
            </a:ln>
          </p:spPr>
        </p:sp>
        <p:sp>
          <p:nvSpPr>
            <p:cNvPr id="24" name="TextBox 24"/>
            <p:cNvSpPr txBox="1"/>
            <p:nvPr/>
          </p:nvSpPr>
          <p:spPr>
            <a:xfrm>
              <a:off x="6505956" y="1929765"/>
              <a:ext cx="987552" cy="352044"/>
            </a:xfrm>
            <a:prstGeom prst="rect">
              <a:avLst/>
            </a:prstGeom>
            <a:noFill/>
            <a:ln>
              <a:noFill/>
            </a:ln>
          </p:spPr>
          <p:txBody>
            <a:bodyPr wrap="none" lIns="0" tIns="0" rIns="0" bIns="0" anchor="t" anchorCtr="0">
              <a:spAutoFit/>
            </a:bodyPr>
            <a:lstStyle/>
            <a:p>
              <a:pPr algn="l"/>
              <a:r>
                <a:rPr lang="ja-JP" sz="1800" b="1" dirty="0">
                  <a:solidFill>
                    <a:schemeClr val="accent1"/>
                  </a:solidFill>
                  <a:latin typeface="+mn-lt"/>
                  <a:ea typeface="+mn-ea"/>
                  <a:cs typeface="+mn-cs"/>
                </a:rPr>
                <a:t>評価項目</a:t>
              </a:r>
            </a:p>
          </p:txBody>
        </p:sp>
        <p:sp>
          <p:nvSpPr>
            <p:cNvPr id="25" name="Ellipse 25"/>
            <p:cNvSpPr/>
            <p:nvPr/>
          </p:nvSpPr>
          <p:spPr>
            <a:xfrm>
              <a:off x="6505575" y="2390775"/>
              <a:ext cx="152400" cy="152400"/>
            </a:xfrm>
            <a:prstGeom prst="ellipse">
              <a:avLst/>
            </a:prstGeom>
            <a:solidFill>
              <a:schemeClr val="accent1"/>
            </a:solidFill>
            <a:ln>
              <a:noFill/>
            </a:ln>
          </p:spPr>
        </p:sp>
        <p:sp>
          <p:nvSpPr>
            <p:cNvPr id="26" name="TextBox 26"/>
            <p:cNvSpPr txBox="1"/>
            <p:nvPr/>
          </p:nvSpPr>
          <p:spPr>
            <a:xfrm>
              <a:off x="6810756" y="2339340"/>
              <a:ext cx="779196" cy="352044"/>
            </a:xfrm>
            <a:prstGeom prst="rect">
              <a:avLst/>
            </a:prstGeom>
            <a:noFill/>
            <a:ln>
              <a:noFill/>
            </a:ln>
          </p:spPr>
          <p:txBody>
            <a:bodyPr wrap="none" lIns="0" tIns="0" rIns="0" bIns="0" anchor="t" anchorCtr="0">
              <a:spAutoFit/>
            </a:bodyPr>
            <a:lstStyle/>
            <a:p>
              <a:pPr algn="l"/>
              <a:r>
                <a:rPr lang="ja-JP" sz="1800" b="1" dirty="0">
                  <a:solidFill>
                    <a:schemeClr val="dk1"/>
                  </a:solidFill>
                  <a:latin typeface="+mn-lt"/>
                  <a:ea typeface="+mn-ea"/>
                  <a:cs typeface="+mn-cs"/>
                </a:rPr>
                <a:t>Action</a:t>
              </a:r>
            </a:p>
          </p:txBody>
        </p:sp>
        <p:sp>
          <p:nvSpPr>
            <p:cNvPr id="27" name="TextBox 27"/>
            <p:cNvSpPr txBox="1"/>
            <p:nvPr/>
          </p:nvSpPr>
          <p:spPr>
            <a:xfrm>
              <a:off x="9003030" y="2371725"/>
              <a:ext cx="1630680" cy="293370"/>
            </a:xfrm>
            <a:prstGeom prst="rect">
              <a:avLst/>
            </a:prstGeom>
            <a:noFill/>
            <a:ln>
              <a:noFill/>
            </a:ln>
          </p:spPr>
          <p:txBody>
            <a:bodyPr wrap="none" lIns="0" tIns="0" rIns="0" bIns="0" anchor="t" anchorCtr="0">
              <a:spAutoFit/>
            </a:bodyPr>
            <a:lstStyle/>
            <a:p>
              <a:pPr algn="l"/>
              <a:r>
                <a:rPr lang="ja-JP" sz="1500" dirty="0">
                  <a:solidFill>
                    <a:schemeClr val="accent6"/>
                  </a:solidFill>
                  <a:latin typeface="+mn-lt"/>
                  <a:ea typeface="+mn-ea"/>
                  <a:cs typeface="+mn-cs"/>
                </a:rPr>
                <a:t>道具・接触・動作</a:t>
              </a:r>
            </a:p>
          </p:txBody>
        </p:sp>
        <p:sp>
          <p:nvSpPr>
            <p:cNvPr id="28" name="Ellipse 28"/>
            <p:cNvSpPr/>
            <p:nvPr/>
          </p:nvSpPr>
          <p:spPr>
            <a:xfrm>
              <a:off x="6505575" y="3000375"/>
              <a:ext cx="152400" cy="152400"/>
            </a:xfrm>
            <a:prstGeom prst="ellipse">
              <a:avLst/>
            </a:prstGeom>
            <a:solidFill>
              <a:schemeClr val="accent1"/>
            </a:solidFill>
            <a:ln>
              <a:noFill/>
            </a:ln>
          </p:spPr>
        </p:sp>
        <p:sp>
          <p:nvSpPr>
            <p:cNvPr id="29" name="TextBox 29"/>
            <p:cNvSpPr txBox="1"/>
            <p:nvPr/>
          </p:nvSpPr>
          <p:spPr>
            <a:xfrm>
              <a:off x="6810756" y="2948940"/>
              <a:ext cx="712394" cy="352044"/>
            </a:xfrm>
            <a:prstGeom prst="rect">
              <a:avLst/>
            </a:prstGeom>
            <a:noFill/>
            <a:ln>
              <a:noFill/>
            </a:ln>
          </p:spPr>
          <p:txBody>
            <a:bodyPr wrap="none" lIns="0" tIns="0" rIns="0" bIns="0" anchor="t" anchorCtr="0">
              <a:spAutoFit/>
            </a:bodyPr>
            <a:lstStyle/>
            <a:p>
              <a:pPr algn="l"/>
              <a:r>
                <a:rPr lang="ja-JP" sz="1800" b="1" dirty="0">
                  <a:solidFill>
                    <a:schemeClr val="dk1"/>
                  </a:solidFill>
                  <a:latin typeface="+mn-lt"/>
                  <a:ea typeface="+mn-ea"/>
                  <a:cs typeface="+mn-cs"/>
                </a:rPr>
                <a:t>Photo</a:t>
              </a:r>
            </a:p>
          </p:txBody>
        </p:sp>
        <p:sp>
          <p:nvSpPr>
            <p:cNvPr id="30" name="TextBox 30"/>
            <p:cNvSpPr txBox="1"/>
            <p:nvPr/>
          </p:nvSpPr>
          <p:spPr>
            <a:xfrm>
              <a:off x="9003030" y="2981325"/>
              <a:ext cx="1428750" cy="293370"/>
            </a:xfrm>
            <a:prstGeom prst="rect">
              <a:avLst/>
            </a:prstGeom>
            <a:noFill/>
            <a:ln>
              <a:noFill/>
            </a:ln>
          </p:spPr>
          <p:txBody>
            <a:bodyPr wrap="none" lIns="0" tIns="0" rIns="0" bIns="0" anchor="t" anchorCtr="0">
              <a:spAutoFit/>
            </a:bodyPr>
            <a:lstStyle/>
            <a:p>
              <a:pPr algn="l"/>
              <a:r>
                <a:rPr lang="ja-JP" sz="1500" dirty="0">
                  <a:solidFill>
                    <a:schemeClr val="accent6"/>
                  </a:solidFill>
                  <a:latin typeface="+mn-lt"/>
                  <a:ea typeface="+mn-ea"/>
                  <a:cs typeface="+mn-cs"/>
                </a:rPr>
                <a:t>写真として自然</a:t>
              </a:r>
            </a:p>
          </p:txBody>
        </p:sp>
        <p:sp>
          <p:nvSpPr>
            <p:cNvPr id="31" name="Ellipse 31"/>
            <p:cNvSpPr/>
            <p:nvPr/>
          </p:nvSpPr>
          <p:spPr>
            <a:xfrm>
              <a:off x="6505575" y="3609975"/>
              <a:ext cx="152400" cy="152400"/>
            </a:xfrm>
            <a:prstGeom prst="ellipse">
              <a:avLst/>
            </a:prstGeom>
            <a:solidFill>
              <a:schemeClr val="accent1"/>
            </a:solidFill>
            <a:ln>
              <a:noFill/>
            </a:ln>
          </p:spPr>
        </p:sp>
        <p:sp>
          <p:nvSpPr>
            <p:cNvPr id="32" name="TextBox 32"/>
            <p:cNvSpPr txBox="1"/>
            <p:nvPr/>
          </p:nvSpPr>
          <p:spPr>
            <a:xfrm>
              <a:off x="6810756" y="3558540"/>
              <a:ext cx="1493357" cy="352044"/>
            </a:xfrm>
            <a:prstGeom prst="rect">
              <a:avLst/>
            </a:prstGeom>
            <a:noFill/>
            <a:ln>
              <a:noFill/>
            </a:ln>
          </p:spPr>
          <p:txBody>
            <a:bodyPr wrap="none" lIns="0" tIns="0" rIns="0" bIns="0" anchor="t" anchorCtr="0">
              <a:spAutoFit/>
            </a:bodyPr>
            <a:lstStyle/>
            <a:p>
              <a:pPr algn="l"/>
              <a:r>
                <a:rPr lang="ja-JP" sz="1800" b="1" dirty="0">
                  <a:solidFill>
                    <a:schemeClr val="dk1"/>
                  </a:solidFill>
                  <a:latin typeface="+mn-lt"/>
                  <a:ea typeface="+mn-ea"/>
                  <a:cs typeface="+mn-cs"/>
                </a:rPr>
                <a:t>Preservation</a:t>
              </a:r>
            </a:p>
          </p:txBody>
        </p:sp>
        <p:sp>
          <p:nvSpPr>
            <p:cNvPr id="33" name="TextBox 33"/>
            <p:cNvSpPr txBox="1"/>
            <p:nvPr/>
          </p:nvSpPr>
          <p:spPr>
            <a:xfrm>
              <a:off x="9003030" y="3590925"/>
              <a:ext cx="1630680" cy="293370"/>
            </a:xfrm>
            <a:prstGeom prst="rect">
              <a:avLst/>
            </a:prstGeom>
            <a:noFill/>
            <a:ln>
              <a:noFill/>
            </a:ln>
          </p:spPr>
          <p:txBody>
            <a:bodyPr wrap="none" lIns="0" tIns="0" rIns="0" bIns="0" anchor="t" anchorCtr="0">
              <a:spAutoFit/>
            </a:bodyPr>
            <a:lstStyle/>
            <a:p>
              <a:pPr algn="l"/>
              <a:r>
                <a:rPr lang="ja-JP" sz="1500" dirty="0">
                  <a:solidFill>
                    <a:schemeClr val="accent6"/>
                  </a:solidFill>
                  <a:latin typeface="+mn-lt"/>
                  <a:ea typeface="+mn-ea"/>
                  <a:cs typeface="+mn-cs"/>
                </a:rPr>
                <a:t>非編集領域を保持</a:t>
              </a:r>
            </a:p>
          </p:txBody>
        </p:sp>
        <p:sp>
          <p:nvSpPr>
            <p:cNvPr id="34" name="Ellipse 34"/>
            <p:cNvSpPr/>
            <p:nvPr/>
          </p:nvSpPr>
          <p:spPr>
            <a:xfrm>
              <a:off x="6505575" y="4219575"/>
              <a:ext cx="152400" cy="152400"/>
            </a:xfrm>
            <a:prstGeom prst="ellipse">
              <a:avLst/>
            </a:prstGeom>
            <a:solidFill>
              <a:schemeClr val="accent1"/>
            </a:solidFill>
            <a:ln>
              <a:noFill/>
            </a:ln>
          </p:spPr>
        </p:sp>
        <p:sp>
          <p:nvSpPr>
            <p:cNvPr id="35" name="TextBox 35"/>
            <p:cNvSpPr txBox="1"/>
            <p:nvPr/>
          </p:nvSpPr>
          <p:spPr>
            <a:xfrm>
              <a:off x="6810756" y="4168140"/>
              <a:ext cx="643540" cy="352044"/>
            </a:xfrm>
            <a:prstGeom prst="rect">
              <a:avLst/>
            </a:prstGeom>
            <a:noFill/>
            <a:ln>
              <a:noFill/>
            </a:ln>
          </p:spPr>
          <p:txBody>
            <a:bodyPr wrap="none" lIns="0" tIns="0" rIns="0" bIns="0" anchor="t" anchorCtr="0">
              <a:spAutoFit/>
            </a:bodyPr>
            <a:lstStyle/>
            <a:p>
              <a:pPr algn="l"/>
              <a:r>
                <a:rPr lang="ja-JP" sz="1800" b="1" dirty="0">
                  <a:solidFill>
                    <a:schemeClr val="dk1"/>
                  </a:solidFill>
                  <a:latin typeface="+mn-lt"/>
                  <a:ea typeface="+mn-ea"/>
                  <a:cs typeface="+mn-cs"/>
                </a:rPr>
                <a:t>Strict</a:t>
              </a:r>
            </a:p>
          </p:txBody>
        </p:sp>
        <p:sp>
          <p:nvSpPr>
            <p:cNvPr id="36" name="TextBox 36"/>
            <p:cNvSpPr txBox="1"/>
            <p:nvPr/>
          </p:nvSpPr>
          <p:spPr>
            <a:xfrm>
              <a:off x="9003030" y="4200525"/>
              <a:ext cx="1630680" cy="293370"/>
            </a:xfrm>
            <a:prstGeom prst="rect">
              <a:avLst/>
            </a:prstGeom>
            <a:noFill/>
            <a:ln>
              <a:noFill/>
            </a:ln>
          </p:spPr>
          <p:txBody>
            <a:bodyPr wrap="none" lIns="0" tIns="0" rIns="0" bIns="0" anchor="t" anchorCtr="0">
              <a:spAutoFit/>
            </a:bodyPr>
            <a:lstStyle/>
            <a:p>
              <a:pPr algn="l"/>
              <a:r>
                <a:rPr lang="ja-JP" sz="1500" dirty="0">
                  <a:solidFill>
                    <a:schemeClr val="accent6"/>
                  </a:solidFill>
                  <a:latin typeface="+mn-lt"/>
                  <a:ea typeface="+mn-ea"/>
                  <a:cs typeface="+mn-cs"/>
                </a:rPr>
                <a:t>三条件を同時達成</a:t>
              </a:r>
            </a:p>
          </p:txBody>
        </p:sp>
        <p:sp>
          <p:nvSpPr>
            <p:cNvPr id="37" name="Rectangle 37"/>
            <p:cNvSpPr/>
            <p:nvPr/>
          </p:nvSpPr>
          <p:spPr>
            <a:xfrm>
              <a:off x="1200150" y="5572125"/>
              <a:ext cx="9791700" cy="476250"/>
            </a:xfrm>
            <a:prstGeom prst="roundRect">
              <a:avLst>
                <a:gd name="adj" fmla="val 10000"/>
              </a:avLst>
            </a:prstGeom>
            <a:solidFill>
              <a:schemeClr val="lt1"/>
            </a:solidFill>
            <a:ln w="19050">
              <a:solidFill>
                <a:schemeClr val="accent1"/>
              </a:solidFill>
            </a:ln>
          </p:spPr>
        </p:sp>
        <p:sp>
          <p:nvSpPr>
            <p:cNvPr id="38" name="TextBox 38"/>
            <p:cNvSpPr txBox="1"/>
            <p:nvPr/>
          </p:nvSpPr>
          <p:spPr>
            <a:xfrm>
              <a:off x="2172278" y="5684044"/>
              <a:ext cx="7847443" cy="366712"/>
            </a:xfrm>
            <a:prstGeom prst="rect">
              <a:avLst/>
            </a:prstGeom>
            <a:noFill/>
            <a:ln>
              <a:noFill/>
            </a:ln>
          </p:spPr>
          <p:txBody>
            <a:bodyPr wrap="none" lIns="0" tIns="0" rIns="0" bIns="0" anchor="t" anchorCtr="0">
              <a:spAutoFit/>
            </a:bodyPr>
            <a:lstStyle/>
            <a:p>
              <a:pPr algn="ctr"/>
              <a:r>
                <a:rPr lang="ja-JP" sz="1880" b="1" dirty="0">
                  <a:solidFill>
                    <a:schemeClr val="accent1"/>
                  </a:solidFill>
                  <a:latin typeface="+mn-lt"/>
                  <a:ea typeface="+mn-ea"/>
                  <a:cs typeface="+mn-cs"/>
                </a:rPr>
                <a:t>4 × 3 × 5 = 60 cells　｜　21 frames　｜　20 steps　｜　同一 seed</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400050"/>
            <a:ext cx="10820400" cy="9525"/>
          </a:xfrm>
          <a:custGeom>
            <a:avLst/>
            <a:gdLst/>
            <a:ahLst/>
            <a:cxnLst/>
            <a:rect l="l" t="t" r="r" b="b"/>
            <a:pathLst>
              <a:path w="10820400" h="9525">
                <a:moveTo>
                  <a:pt x="0" y="0"/>
                </a:moveTo>
                <a:lnTo>
                  <a:pt x="10820400" y="0"/>
                </a:lnTo>
              </a:path>
            </a:pathLst>
          </a:custGeom>
          <a:noFill/>
          <a:ln w="19050">
            <a:solidFill>
              <a:srgbClr val="D8DDE3"/>
            </a:solidFill>
          </a:ln>
        </p:spPr>
      </p:sp>
      <p:sp>
        <p:nvSpPr>
          <p:cNvPr id="3" name="TextBox 3"/>
          <p:cNvSpPr txBox="1"/>
          <p:nvPr/>
        </p:nvSpPr>
        <p:spPr>
          <a:xfrm>
            <a:off x="679704" y="594360"/>
            <a:ext cx="817413" cy="234696"/>
          </a:xfrm>
          <a:prstGeom prst="rect">
            <a:avLst/>
          </a:prstGeom>
          <a:noFill/>
          <a:ln>
            <a:noFill/>
          </a:ln>
        </p:spPr>
        <p:txBody>
          <a:bodyPr wrap="none" lIns="0" tIns="0" rIns="0" bIns="0" anchor="t" anchorCtr="0">
            <a:spAutoFit/>
          </a:bodyPr>
          <a:lstStyle/>
          <a:p>
            <a:pPr algn="l"/>
            <a:r>
              <a:rPr lang="ja-JP" sz="1200" b="1" spc="135" dirty="0">
                <a:solidFill>
                  <a:schemeClr val="accent1"/>
                </a:solidFill>
                <a:latin typeface="+mn-lt"/>
                <a:ea typeface="+mn-ea"/>
                <a:cs typeface="+mn-cs"/>
              </a:rPr>
              <a:t>RESULTS</a:t>
            </a:r>
          </a:p>
        </p:txBody>
      </p:sp>
      <p:sp>
        <p:nvSpPr>
          <p:cNvPr id="4" name="TextBox 4"/>
          <p:cNvSpPr txBox="1"/>
          <p:nvPr/>
        </p:nvSpPr>
        <p:spPr>
          <a:xfrm>
            <a:off x="669798" y="831533"/>
            <a:ext cx="5544693" cy="616077"/>
          </a:xfrm>
          <a:prstGeom prst="rect">
            <a:avLst/>
          </a:prstGeom>
          <a:noFill/>
          <a:ln>
            <a:noFill/>
          </a:ln>
        </p:spPr>
        <p:txBody>
          <a:bodyPr wrap="none" lIns="0" tIns="0" rIns="0" bIns="0" anchor="t" anchorCtr="0">
            <a:spAutoFit/>
          </a:bodyPr>
          <a:lstStyle/>
          <a:p>
            <a:pPr algn="l"/>
            <a:r>
              <a:rPr lang="ja-JP" sz="3150" b="1" dirty="0">
                <a:solidFill>
                  <a:schemeClr val="dk1"/>
                </a:solidFill>
                <a:latin typeface="+mn-lt"/>
                <a:ea typeface="+mn-ea"/>
                <a:cs typeface="+mn-cs"/>
              </a:rPr>
              <a:t>評価結果：入力保持と編集量</a:t>
            </a:r>
          </a:p>
        </p:txBody>
      </p:sp>
      <p:sp>
        <p:nvSpPr>
          <p:cNvPr id="5" name="Rectangle 5"/>
          <p:cNvSpPr/>
          <p:nvPr/>
        </p:nvSpPr>
        <p:spPr>
          <a:xfrm>
            <a:off x="685800" y="1352550"/>
            <a:ext cx="704850" cy="38100"/>
          </a:xfrm>
          <a:prstGeom prst="rect">
            <a:avLst/>
          </a:prstGeom>
          <a:solidFill>
            <a:schemeClr val="accent1"/>
          </a:solidFill>
          <a:ln>
            <a:noFill/>
          </a:ln>
        </p:spPr>
      </p:sp>
      <p:sp>
        <p:nvSpPr>
          <p:cNvPr id="6" name="TextBox 6"/>
          <p:cNvSpPr txBox="1"/>
          <p:nvPr/>
        </p:nvSpPr>
        <p:spPr>
          <a:xfrm>
            <a:off x="680466" y="6420802"/>
            <a:ext cx="2129538" cy="205359"/>
          </a:xfrm>
          <a:prstGeom prst="rect">
            <a:avLst/>
          </a:prstGeom>
          <a:noFill/>
          <a:ln>
            <a:noFill/>
          </a:ln>
        </p:spPr>
        <p:txBody>
          <a:bodyPr wrap="none" lIns="0" tIns="0" rIns="0" bIns="0" anchor="t" anchorCtr="0">
            <a:spAutoFit/>
          </a:bodyPr>
          <a:lstStyle/>
          <a:p>
            <a:pPr algn="l"/>
            <a:r>
              <a:rPr lang="ja-JP" sz="1050" dirty="0">
                <a:solidFill>
                  <a:schemeClr val="accent6"/>
                </a:solidFill>
                <a:latin typeface="+mn-lt"/>
                <a:ea typeface="+mn-ea"/>
                <a:cs typeface="+mn-cs"/>
              </a:rPr>
              <a:t>FoodStateEdit｜メディア情報学</a:t>
            </a:r>
          </a:p>
        </p:txBody>
      </p:sp>
      <p:sp>
        <p:nvSpPr>
          <p:cNvPr id="7" name="TextBox 7"/>
          <p:cNvSpPr txBox="1"/>
          <p:nvPr/>
        </p:nvSpPr>
        <p:spPr>
          <a:xfrm>
            <a:off x="11320402" y="6404610"/>
            <a:ext cx="191894" cy="234696"/>
          </a:xfrm>
          <a:prstGeom prst="rect">
            <a:avLst/>
          </a:prstGeom>
          <a:noFill/>
          <a:ln>
            <a:noFill/>
          </a:ln>
        </p:spPr>
        <p:txBody>
          <a:bodyPr wrap="none" lIns="0" tIns="0" rIns="0" bIns="0" anchor="t" anchorCtr="0">
            <a:spAutoFit/>
          </a:bodyPr>
          <a:lstStyle/>
          <a:p>
            <a:pPr algn="r"/>
            <a:r>
              <a:rPr lang="ja-JP" sz="1200" b="1" dirty="0">
                <a:solidFill>
                  <a:schemeClr val="accent1"/>
                </a:solidFill>
                <a:latin typeface="+mn-lt"/>
                <a:ea typeface="+mn-ea"/>
                <a:cs typeface="+mn-cs"/>
              </a:rPr>
              <a:t>11</a:t>
            </a:r>
          </a:p>
        </p:txBody>
      </p:sp>
      <p:grpSp>
        <p:nvGrpSpPr>
          <p:cNvPr id="112" name="evaluation-table"/>
          <p:cNvGrpSpPr/>
          <p:nvPr/>
        </p:nvGrpSpPr>
        <p:grpSpPr>
          <a:xfrm>
            <a:off x="678180" y="1409700"/>
            <a:ext cx="10828020" cy="4873561"/>
            <a:chOff x="678180" y="1409700"/>
            <a:chExt cx="10828020" cy="4873561"/>
          </a:xfrm>
        </p:grpSpPr>
        <p:sp>
          <p:nvSpPr>
            <p:cNvPr id="8" name="TextBox 8"/>
            <p:cNvSpPr txBox="1"/>
            <p:nvPr/>
          </p:nvSpPr>
          <p:spPr>
            <a:xfrm>
              <a:off x="678180" y="1409700"/>
              <a:ext cx="6538589" cy="293370"/>
            </a:xfrm>
            <a:prstGeom prst="rect">
              <a:avLst/>
            </a:prstGeom>
            <a:noFill/>
            <a:ln>
              <a:noFill/>
            </a:ln>
          </p:spPr>
          <p:txBody>
            <a:bodyPr wrap="none" lIns="0" tIns="0" rIns="0" bIns="0" anchor="t" anchorCtr="0">
              <a:spAutoFit/>
            </a:bodyPr>
            <a:lstStyle/>
            <a:p>
              <a:pPr algn="l"/>
              <a:r>
                <a:rPr lang="ja-JP" sz="1500" b="1" dirty="0">
                  <a:solidFill>
                    <a:schemeClr val="accent1"/>
                  </a:solidFill>
                  <a:latin typeface="+mn-lt"/>
                  <a:ea typeface="+mn-ea"/>
                  <a:cs typeface="+mn-cs"/>
                </a:rPr>
                <a:t>従来画像指標（入力との類似度、各手法 n=12）｜緑の ★ 行＝提案手法</a:t>
              </a:r>
            </a:p>
          </p:txBody>
        </p:sp>
        <p:sp>
          <p:nvSpPr>
            <p:cNvPr id="9" name="Rectangle 9"/>
            <p:cNvSpPr/>
            <p:nvPr/>
          </p:nvSpPr>
          <p:spPr>
            <a:xfrm>
              <a:off x="685800" y="1733550"/>
              <a:ext cx="10820400" cy="3400425"/>
            </a:xfrm>
            <a:prstGeom prst="roundRect">
              <a:avLst>
                <a:gd name="adj" fmla="val 1120"/>
              </a:avLst>
            </a:prstGeom>
            <a:solidFill>
              <a:schemeClr val="lt1"/>
            </a:solidFill>
            <a:ln w="19050">
              <a:solidFill>
                <a:srgbClr val="D8DDE3"/>
              </a:solidFill>
            </a:ln>
          </p:spPr>
        </p:sp>
        <p:sp>
          <p:nvSpPr>
            <p:cNvPr id="10" name="Rectangle 10"/>
            <p:cNvSpPr/>
            <p:nvPr/>
          </p:nvSpPr>
          <p:spPr>
            <a:xfrm>
              <a:off x="685800" y="1733550"/>
              <a:ext cx="1962150" cy="428625"/>
            </a:xfrm>
            <a:prstGeom prst="rect">
              <a:avLst/>
            </a:prstGeom>
            <a:solidFill>
              <a:srgbClr val="365F7D"/>
            </a:solidFill>
            <a:ln w="9525">
              <a:solidFill>
                <a:srgbClr val="365F7D"/>
              </a:solidFill>
            </a:ln>
          </p:spPr>
        </p:sp>
        <p:sp>
          <p:nvSpPr>
            <p:cNvPr id="11" name="TextBox 11"/>
            <p:cNvSpPr txBox="1"/>
            <p:nvPr/>
          </p:nvSpPr>
          <p:spPr>
            <a:xfrm>
              <a:off x="832104" y="1889760"/>
              <a:ext cx="335280" cy="234696"/>
            </a:xfrm>
            <a:prstGeom prst="rect">
              <a:avLst/>
            </a:prstGeom>
            <a:noFill/>
            <a:ln>
              <a:noFill/>
            </a:ln>
          </p:spPr>
          <p:txBody>
            <a:bodyPr wrap="none" lIns="0" tIns="0" rIns="0" bIns="0" anchor="t" anchorCtr="0">
              <a:spAutoFit/>
            </a:bodyPr>
            <a:lstStyle/>
            <a:p>
              <a:pPr algn="l"/>
              <a:r>
                <a:rPr lang="ja-JP" sz="1200" b="1" dirty="0">
                  <a:solidFill>
                    <a:srgbClr val="FFFFFF"/>
                  </a:solidFill>
                  <a:latin typeface="+mn-lt"/>
                  <a:ea typeface="+mn-ea"/>
                  <a:cs typeface="+mn-cs"/>
                </a:rPr>
                <a:t>手法</a:t>
              </a:r>
            </a:p>
          </p:txBody>
        </p:sp>
        <p:sp>
          <p:nvSpPr>
            <p:cNvPr id="12" name="Rectangle 12"/>
            <p:cNvSpPr/>
            <p:nvPr/>
          </p:nvSpPr>
          <p:spPr>
            <a:xfrm>
              <a:off x="2647950" y="1733550"/>
              <a:ext cx="952500" cy="428625"/>
            </a:xfrm>
            <a:prstGeom prst="rect">
              <a:avLst/>
            </a:prstGeom>
            <a:solidFill>
              <a:srgbClr val="365F7D"/>
            </a:solidFill>
            <a:ln w="9525">
              <a:solidFill>
                <a:srgbClr val="365F7D"/>
              </a:solidFill>
            </a:ln>
          </p:spPr>
        </p:sp>
        <p:sp>
          <p:nvSpPr>
            <p:cNvPr id="13" name="TextBox 13"/>
            <p:cNvSpPr txBox="1"/>
            <p:nvPr/>
          </p:nvSpPr>
          <p:spPr>
            <a:xfrm>
              <a:off x="2794254" y="1889760"/>
              <a:ext cx="335280" cy="234696"/>
            </a:xfrm>
            <a:prstGeom prst="rect">
              <a:avLst/>
            </a:prstGeom>
            <a:noFill/>
            <a:ln>
              <a:noFill/>
            </a:ln>
          </p:spPr>
          <p:txBody>
            <a:bodyPr wrap="none" lIns="0" tIns="0" rIns="0" bIns="0" anchor="t" anchorCtr="0">
              <a:spAutoFit/>
            </a:bodyPr>
            <a:lstStyle/>
            <a:p>
              <a:pPr algn="l"/>
              <a:r>
                <a:rPr lang="ja-JP" sz="1200" b="1" dirty="0">
                  <a:solidFill>
                    <a:srgbClr val="FFFFFF"/>
                  </a:solidFill>
                  <a:latin typeface="+mn-lt"/>
                  <a:ea typeface="+mn-ea"/>
                  <a:cs typeface="+mn-cs"/>
                </a:rPr>
                <a:t>区分</a:t>
              </a:r>
            </a:p>
          </p:txBody>
        </p:sp>
        <p:sp>
          <p:nvSpPr>
            <p:cNvPr id="14" name="Rectangle 14"/>
            <p:cNvSpPr/>
            <p:nvPr/>
          </p:nvSpPr>
          <p:spPr>
            <a:xfrm>
              <a:off x="3600450" y="1733550"/>
              <a:ext cx="1333500" cy="428625"/>
            </a:xfrm>
            <a:prstGeom prst="rect">
              <a:avLst/>
            </a:prstGeom>
            <a:solidFill>
              <a:srgbClr val="365F7D"/>
            </a:solidFill>
            <a:ln w="9525">
              <a:solidFill>
                <a:srgbClr val="365F7D"/>
              </a:solidFill>
            </a:ln>
          </p:spPr>
        </p:sp>
        <p:sp>
          <p:nvSpPr>
            <p:cNvPr id="15" name="TextBox 15"/>
            <p:cNvSpPr txBox="1"/>
            <p:nvPr/>
          </p:nvSpPr>
          <p:spPr>
            <a:xfrm>
              <a:off x="3957604" y="1889760"/>
              <a:ext cx="619193" cy="234696"/>
            </a:xfrm>
            <a:prstGeom prst="rect">
              <a:avLst/>
            </a:prstGeom>
            <a:noFill/>
            <a:ln>
              <a:noFill/>
            </a:ln>
          </p:spPr>
          <p:txBody>
            <a:bodyPr wrap="none" lIns="0" tIns="0" rIns="0" bIns="0" anchor="t" anchorCtr="0">
              <a:spAutoFit/>
            </a:bodyPr>
            <a:lstStyle/>
            <a:p>
              <a:pPr algn="ctr"/>
              <a:r>
                <a:rPr lang="ja-JP" sz="1200" b="1" dirty="0">
                  <a:solidFill>
                    <a:srgbClr val="FFFFFF"/>
                  </a:solidFill>
                  <a:latin typeface="+mn-lt"/>
                  <a:ea typeface="+mn-ea"/>
                  <a:cs typeface="+mn-cs"/>
                </a:rPr>
                <a:t>PSNR ↑</a:t>
              </a:r>
            </a:p>
          </p:txBody>
        </p:sp>
        <p:sp>
          <p:nvSpPr>
            <p:cNvPr id="16" name="Rectangle 16"/>
            <p:cNvSpPr/>
            <p:nvPr/>
          </p:nvSpPr>
          <p:spPr>
            <a:xfrm>
              <a:off x="4933950" y="1733550"/>
              <a:ext cx="1333500" cy="428625"/>
            </a:xfrm>
            <a:prstGeom prst="rect">
              <a:avLst/>
            </a:prstGeom>
            <a:solidFill>
              <a:srgbClr val="365F7D"/>
            </a:solidFill>
            <a:ln w="9525">
              <a:solidFill>
                <a:srgbClr val="365F7D"/>
              </a:solidFill>
            </a:ln>
          </p:spPr>
        </p:sp>
        <p:sp>
          <p:nvSpPr>
            <p:cNvPr id="17" name="TextBox 17"/>
            <p:cNvSpPr txBox="1"/>
            <p:nvPr/>
          </p:nvSpPr>
          <p:spPr>
            <a:xfrm>
              <a:off x="5319574" y="1889760"/>
              <a:ext cx="562251" cy="234696"/>
            </a:xfrm>
            <a:prstGeom prst="rect">
              <a:avLst/>
            </a:prstGeom>
            <a:noFill/>
            <a:ln>
              <a:noFill/>
            </a:ln>
          </p:spPr>
          <p:txBody>
            <a:bodyPr wrap="none" lIns="0" tIns="0" rIns="0" bIns="0" anchor="t" anchorCtr="0">
              <a:spAutoFit/>
            </a:bodyPr>
            <a:lstStyle/>
            <a:p>
              <a:pPr algn="ctr"/>
              <a:r>
                <a:rPr lang="ja-JP" sz="1200" b="1" dirty="0">
                  <a:solidFill>
                    <a:srgbClr val="FFFFFF"/>
                  </a:solidFill>
                  <a:latin typeface="+mn-lt"/>
                  <a:ea typeface="+mn-ea"/>
                  <a:cs typeface="+mn-cs"/>
                </a:rPr>
                <a:t>SSIM ↑</a:t>
              </a:r>
            </a:p>
          </p:txBody>
        </p:sp>
        <p:sp>
          <p:nvSpPr>
            <p:cNvPr id="18" name="Rectangle 18"/>
            <p:cNvSpPr/>
            <p:nvPr/>
          </p:nvSpPr>
          <p:spPr>
            <a:xfrm>
              <a:off x="6267450" y="1733550"/>
              <a:ext cx="1762125" cy="428625"/>
            </a:xfrm>
            <a:prstGeom prst="rect">
              <a:avLst/>
            </a:prstGeom>
            <a:solidFill>
              <a:srgbClr val="365F7D"/>
            </a:solidFill>
            <a:ln w="9525">
              <a:solidFill>
                <a:srgbClr val="365F7D"/>
              </a:solidFill>
            </a:ln>
          </p:spPr>
        </p:sp>
        <p:sp>
          <p:nvSpPr>
            <p:cNvPr id="19" name="TextBox 19"/>
            <p:cNvSpPr txBox="1"/>
            <p:nvPr/>
          </p:nvSpPr>
          <p:spPr>
            <a:xfrm>
              <a:off x="6620360" y="1889760"/>
              <a:ext cx="1056305" cy="234696"/>
            </a:xfrm>
            <a:prstGeom prst="rect">
              <a:avLst/>
            </a:prstGeom>
            <a:noFill/>
            <a:ln>
              <a:noFill/>
            </a:ln>
          </p:spPr>
          <p:txBody>
            <a:bodyPr wrap="none" lIns="0" tIns="0" rIns="0" bIns="0" anchor="t" anchorCtr="0">
              <a:spAutoFit/>
            </a:bodyPr>
            <a:lstStyle/>
            <a:p>
              <a:pPr algn="ctr"/>
              <a:r>
                <a:rPr lang="ja-JP" sz="1200" b="1" dirty="0">
                  <a:solidFill>
                    <a:srgbClr val="FFFFFF"/>
                  </a:solidFill>
                  <a:latin typeface="+mn-lt"/>
                  <a:ea typeface="+mn-ea"/>
                  <a:cs typeface="+mn-cs"/>
                </a:rPr>
                <a:t>領域外 MAE ↓</a:t>
              </a:r>
            </a:p>
          </p:txBody>
        </p:sp>
        <p:sp>
          <p:nvSpPr>
            <p:cNvPr id="20" name="Rectangle 20"/>
            <p:cNvSpPr/>
            <p:nvPr/>
          </p:nvSpPr>
          <p:spPr>
            <a:xfrm>
              <a:off x="8029575" y="1733550"/>
              <a:ext cx="1666875" cy="428625"/>
            </a:xfrm>
            <a:prstGeom prst="rect">
              <a:avLst/>
            </a:prstGeom>
            <a:solidFill>
              <a:srgbClr val="365F7D"/>
            </a:solidFill>
            <a:ln w="9525">
              <a:solidFill>
                <a:srgbClr val="365F7D"/>
              </a:solidFill>
            </a:ln>
          </p:spPr>
        </p:sp>
        <p:sp>
          <p:nvSpPr>
            <p:cNvPr id="21" name="TextBox 21"/>
            <p:cNvSpPr txBox="1"/>
            <p:nvPr/>
          </p:nvSpPr>
          <p:spPr>
            <a:xfrm>
              <a:off x="8228688" y="1889760"/>
              <a:ext cx="1268649" cy="234696"/>
            </a:xfrm>
            <a:prstGeom prst="rect">
              <a:avLst/>
            </a:prstGeom>
            <a:noFill/>
            <a:ln>
              <a:noFill/>
            </a:ln>
          </p:spPr>
          <p:txBody>
            <a:bodyPr wrap="none" lIns="0" tIns="0" rIns="0" bIns="0" anchor="t" anchorCtr="0">
              <a:spAutoFit/>
            </a:bodyPr>
            <a:lstStyle/>
            <a:p>
              <a:pPr algn="ctr"/>
              <a:r>
                <a:rPr lang="ja-JP" sz="1200" b="1" dirty="0">
                  <a:solidFill>
                    <a:srgbClr val="FFFFFF"/>
                  </a:solidFill>
                  <a:latin typeface="+mn-lt"/>
                  <a:ea typeface="+mn-ea"/>
                  <a:cs typeface="+mn-cs"/>
                </a:rPr>
                <a:t>領域外完全保持 ↑</a:t>
              </a:r>
            </a:p>
          </p:txBody>
        </p:sp>
        <p:sp>
          <p:nvSpPr>
            <p:cNvPr id="22" name="Rectangle 22"/>
            <p:cNvSpPr/>
            <p:nvPr/>
          </p:nvSpPr>
          <p:spPr>
            <a:xfrm>
              <a:off x="9696450" y="1733550"/>
              <a:ext cx="1809750" cy="428625"/>
            </a:xfrm>
            <a:prstGeom prst="rect">
              <a:avLst/>
            </a:prstGeom>
            <a:solidFill>
              <a:srgbClr val="365F7D"/>
            </a:solidFill>
            <a:ln w="9525">
              <a:solidFill>
                <a:srgbClr val="365F7D"/>
              </a:solidFill>
            </a:ln>
          </p:spPr>
        </p:sp>
        <p:sp>
          <p:nvSpPr>
            <p:cNvPr id="23" name="TextBox 23"/>
            <p:cNvSpPr txBox="1"/>
            <p:nvPr/>
          </p:nvSpPr>
          <p:spPr>
            <a:xfrm>
              <a:off x="9816465" y="1889760"/>
              <a:ext cx="1569720" cy="234696"/>
            </a:xfrm>
            <a:prstGeom prst="rect">
              <a:avLst/>
            </a:prstGeom>
            <a:noFill/>
            <a:ln>
              <a:noFill/>
            </a:ln>
          </p:spPr>
          <p:txBody>
            <a:bodyPr wrap="none" lIns="0" tIns="0" rIns="0" bIns="0" anchor="t" anchorCtr="0">
              <a:spAutoFit/>
            </a:bodyPr>
            <a:lstStyle/>
            <a:p>
              <a:pPr algn="ctr"/>
              <a:r>
                <a:rPr lang="ja-JP" sz="1200" b="1" dirty="0">
                  <a:solidFill>
                    <a:srgbClr val="FFFFFF"/>
                  </a:solidFill>
                  <a:latin typeface="+mn-lt"/>
                  <a:ea typeface="+mn-ea"/>
                  <a:cs typeface="+mn-cs"/>
                </a:rPr>
                <a:t>編集領域内変化 MAE</a:t>
              </a:r>
            </a:p>
          </p:txBody>
        </p:sp>
        <p:sp>
          <p:nvSpPr>
            <p:cNvPr id="24" name="Rectangle 24"/>
            <p:cNvSpPr/>
            <p:nvPr/>
          </p:nvSpPr>
          <p:spPr>
            <a:xfrm>
              <a:off x="685800" y="2162175"/>
              <a:ext cx="1962150" cy="495300"/>
            </a:xfrm>
            <a:prstGeom prst="rect">
              <a:avLst/>
            </a:prstGeom>
            <a:solidFill>
              <a:srgbClr val="F2F5F8"/>
            </a:solidFill>
            <a:ln w="9525">
              <a:solidFill>
                <a:srgbClr val="D8DDE3"/>
              </a:solidFill>
            </a:ln>
          </p:spPr>
        </p:sp>
        <p:sp>
          <p:nvSpPr>
            <p:cNvPr id="25" name="TextBox 25"/>
            <p:cNvSpPr txBox="1"/>
            <p:nvPr/>
          </p:nvSpPr>
          <p:spPr>
            <a:xfrm>
              <a:off x="831723" y="2348389"/>
              <a:ext cx="856116" cy="249364"/>
            </a:xfrm>
            <a:prstGeom prst="rect">
              <a:avLst/>
            </a:prstGeom>
            <a:noFill/>
            <a:ln>
              <a:noFill/>
            </a:ln>
          </p:spPr>
          <p:txBody>
            <a:bodyPr wrap="none" lIns="0" tIns="0" rIns="0" bIns="0" anchor="t" anchorCtr="0">
              <a:spAutoFit/>
            </a:bodyPr>
            <a:lstStyle/>
            <a:p>
              <a:pPr algn="l"/>
              <a:r>
                <a:rPr lang="ja-JP" sz="1280" b="1" dirty="0">
                  <a:solidFill>
                    <a:srgbClr val="5D83A6"/>
                  </a:solidFill>
                  <a:latin typeface="+mn-lt"/>
                  <a:ea typeface="+mn-ea"/>
                  <a:cs typeface="+mn-cs"/>
                </a:rPr>
                <a:t>ChordEdit</a:t>
              </a:r>
            </a:p>
          </p:txBody>
        </p:sp>
        <p:sp>
          <p:nvSpPr>
            <p:cNvPr id="26" name="Rectangle 26"/>
            <p:cNvSpPr/>
            <p:nvPr/>
          </p:nvSpPr>
          <p:spPr>
            <a:xfrm>
              <a:off x="2647950" y="2162175"/>
              <a:ext cx="952500" cy="495300"/>
            </a:xfrm>
            <a:prstGeom prst="rect">
              <a:avLst/>
            </a:prstGeom>
            <a:solidFill>
              <a:srgbClr val="F2F5F8"/>
            </a:solidFill>
            <a:ln w="9525">
              <a:solidFill>
                <a:srgbClr val="D8DDE3"/>
              </a:solidFill>
            </a:ln>
          </p:spPr>
        </p:sp>
        <p:sp>
          <p:nvSpPr>
            <p:cNvPr id="27" name="TextBox 27"/>
            <p:cNvSpPr txBox="1"/>
            <p:nvPr/>
          </p:nvSpPr>
          <p:spPr>
            <a:xfrm>
              <a:off x="2737485" y="2364581"/>
              <a:ext cx="593923" cy="220028"/>
            </a:xfrm>
            <a:prstGeom prst="rect">
              <a:avLst/>
            </a:prstGeom>
            <a:noFill/>
            <a:ln>
              <a:noFill/>
            </a:ln>
          </p:spPr>
          <p:txBody>
            <a:bodyPr wrap="none" lIns="0" tIns="0" rIns="0" bIns="0" anchor="t" anchorCtr="0">
              <a:spAutoFit/>
            </a:bodyPr>
            <a:lstStyle/>
            <a:p>
              <a:pPr algn="l"/>
              <a:r>
                <a:rPr lang="ja-JP" sz="1120" dirty="0">
                  <a:solidFill>
                    <a:srgbClr val="5D83A6"/>
                  </a:solidFill>
                  <a:latin typeface="+mn-lt"/>
                  <a:ea typeface="+mn-ea"/>
                  <a:cs typeface="+mn-cs"/>
                </a:rPr>
                <a:t>Baseline</a:t>
              </a:r>
            </a:p>
          </p:txBody>
        </p:sp>
        <p:sp>
          <p:nvSpPr>
            <p:cNvPr id="28" name="Rectangle 28"/>
            <p:cNvSpPr/>
            <p:nvPr/>
          </p:nvSpPr>
          <p:spPr>
            <a:xfrm>
              <a:off x="3600450" y="2162175"/>
              <a:ext cx="1333500" cy="495300"/>
            </a:xfrm>
            <a:prstGeom prst="rect">
              <a:avLst/>
            </a:prstGeom>
            <a:solidFill>
              <a:srgbClr val="F2F5F8"/>
            </a:solidFill>
            <a:ln w="9525">
              <a:solidFill>
                <a:srgbClr val="D8DDE3"/>
              </a:solidFill>
            </a:ln>
          </p:spPr>
        </p:sp>
        <p:sp>
          <p:nvSpPr>
            <p:cNvPr id="29" name="TextBox 29"/>
            <p:cNvSpPr txBox="1"/>
            <p:nvPr/>
          </p:nvSpPr>
          <p:spPr>
            <a:xfrm>
              <a:off x="4045107" y="2348389"/>
              <a:ext cx="444186" cy="249364"/>
            </a:xfrm>
            <a:prstGeom prst="rect">
              <a:avLst/>
            </a:prstGeom>
            <a:noFill/>
            <a:ln>
              <a:noFill/>
            </a:ln>
          </p:spPr>
          <p:txBody>
            <a:bodyPr wrap="none" lIns="0" tIns="0" rIns="0" bIns="0" anchor="t" anchorCtr="0">
              <a:spAutoFit/>
            </a:bodyPr>
            <a:lstStyle/>
            <a:p>
              <a:pPr algn="ctr"/>
              <a:r>
                <a:rPr lang="ja-JP" sz="1280" dirty="0">
                  <a:solidFill>
                    <a:schemeClr val="dk1"/>
                  </a:solidFill>
                  <a:latin typeface="+mn-lt"/>
                  <a:ea typeface="+mn-ea"/>
                  <a:cs typeface="+mn-cs"/>
                </a:rPr>
                <a:t>26.29</a:t>
              </a:r>
            </a:p>
          </p:txBody>
        </p:sp>
        <p:sp>
          <p:nvSpPr>
            <p:cNvPr id="30" name="Rectangle 30"/>
            <p:cNvSpPr/>
            <p:nvPr/>
          </p:nvSpPr>
          <p:spPr>
            <a:xfrm>
              <a:off x="4933950" y="2162175"/>
              <a:ext cx="1333500" cy="495300"/>
            </a:xfrm>
            <a:prstGeom prst="rect">
              <a:avLst/>
            </a:prstGeom>
            <a:solidFill>
              <a:srgbClr val="F2F5F8"/>
            </a:solidFill>
            <a:ln w="9525">
              <a:solidFill>
                <a:srgbClr val="D8DDE3"/>
              </a:solidFill>
            </a:ln>
          </p:spPr>
        </p:sp>
        <p:sp>
          <p:nvSpPr>
            <p:cNvPr id="31" name="TextBox 31"/>
            <p:cNvSpPr txBox="1"/>
            <p:nvPr/>
          </p:nvSpPr>
          <p:spPr>
            <a:xfrm>
              <a:off x="5330687" y="2348389"/>
              <a:ext cx="540027" cy="249364"/>
            </a:xfrm>
            <a:prstGeom prst="rect">
              <a:avLst/>
            </a:prstGeom>
            <a:noFill/>
            <a:ln>
              <a:noFill/>
            </a:ln>
          </p:spPr>
          <p:txBody>
            <a:bodyPr wrap="none" lIns="0" tIns="0" rIns="0" bIns="0" anchor="t" anchorCtr="0">
              <a:spAutoFit/>
            </a:bodyPr>
            <a:lstStyle/>
            <a:p>
              <a:pPr algn="ctr"/>
              <a:r>
                <a:rPr lang="ja-JP" sz="1280" dirty="0">
                  <a:solidFill>
                    <a:schemeClr val="dk1"/>
                  </a:solidFill>
                  <a:latin typeface="+mn-lt"/>
                  <a:ea typeface="+mn-ea"/>
                  <a:cs typeface="+mn-cs"/>
                </a:rPr>
                <a:t>0.9438</a:t>
              </a:r>
            </a:p>
          </p:txBody>
        </p:sp>
        <p:sp>
          <p:nvSpPr>
            <p:cNvPr id="32" name="Rectangle 32"/>
            <p:cNvSpPr/>
            <p:nvPr/>
          </p:nvSpPr>
          <p:spPr>
            <a:xfrm>
              <a:off x="6267450" y="2162175"/>
              <a:ext cx="1762125" cy="495300"/>
            </a:xfrm>
            <a:prstGeom prst="rect">
              <a:avLst/>
            </a:prstGeom>
            <a:solidFill>
              <a:srgbClr val="F2F5F8"/>
            </a:solidFill>
            <a:ln w="9525">
              <a:solidFill>
                <a:srgbClr val="D8DDE3"/>
              </a:solidFill>
            </a:ln>
          </p:spPr>
        </p:sp>
        <p:sp>
          <p:nvSpPr>
            <p:cNvPr id="33" name="TextBox 33"/>
            <p:cNvSpPr txBox="1"/>
            <p:nvPr/>
          </p:nvSpPr>
          <p:spPr>
            <a:xfrm>
              <a:off x="6926419" y="2348389"/>
              <a:ext cx="444186" cy="249364"/>
            </a:xfrm>
            <a:prstGeom prst="rect">
              <a:avLst/>
            </a:prstGeom>
            <a:noFill/>
            <a:ln>
              <a:noFill/>
            </a:ln>
          </p:spPr>
          <p:txBody>
            <a:bodyPr wrap="none" lIns="0" tIns="0" rIns="0" bIns="0" anchor="t" anchorCtr="0">
              <a:spAutoFit/>
            </a:bodyPr>
            <a:lstStyle/>
            <a:p>
              <a:pPr algn="ctr"/>
              <a:r>
                <a:rPr lang="ja-JP" sz="1280" dirty="0">
                  <a:solidFill>
                    <a:schemeClr val="dk1"/>
                  </a:solidFill>
                  <a:latin typeface="+mn-lt"/>
                  <a:ea typeface="+mn-ea"/>
                  <a:cs typeface="+mn-cs"/>
                </a:rPr>
                <a:t>0.000</a:t>
              </a:r>
            </a:p>
          </p:txBody>
        </p:sp>
        <p:sp>
          <p:nvSpPr>
            <p:cNvPr id="34" name="Rectangle 34"/>
            <p:cNvSpPr/>
            <p:nvPr/>
          </p:nvSpPr>
          <p:spPr>
            <a:xfrm>
              <a:off x="8029575" y="2162175"/>
              <a:ext cx="1666875" cy="495300"/>
            </a:xfrm>
            <a:prstGeom prst="rect">
              <a:avLst/>
            </a:prstGeom>
            <a:solidFill>
              <a:srgbClr val="F2F5F8"/>
            </a:solidFill>
            <a:ln w="9525">
              <a:solidFill>
                <a:srgbClr val="D8DDE3"/>
              </a:solidFill>
            </a:ln>
          </p:spPr>
        </p:sp>
        <p:sp>
          <p:nvSpPr>
            <p:cNvPr id="35" name="TextBox 35"/>
            <p:cNvSpPr txBox="1"/>
            <p:nvPr/>
          </p:nvSpPr>
          <p:spPr>
            <a:xfrm>
              <a:off x="8564309" y="2348389"/>
              <a:ext cx="597407" cy="249364"/>
            </a:xfrm>
            <a:prstGeom prst="rect">
              <a:avLst/>
            </a:prstGeom>
            <a:noFill/>
            <a:ln>
              <a:noFill/>
            </a:ln>
          </p:spPr>
          <p:txBody>
            <a:bodyPr wrap="none" lIns="0" tIns="0" rIns="0" bIns="0" anchor="t" anchorCtr="0">
              <a:spAutoFit/>
            </a:bodyPr>
            <a:lstStyle/>
            <a:p>
              <a:pPr algn="ctr"/>
              <a:r>
                <a:rPr lang="ja-JP" sz="1280" dirty="0">
                  <a:solidFill>
                    <a:schemeClr val="dk1"/>
                  </a:solidFill>
                  <a:latin typeface="+mn-lt"/>
                  <a:ea typeface="+mn-ea"/>
                  <a:cs typeface="+mn-cs"/>
                </a:rPr>
                <a:t>100.0%</a:t>
              </a:r>
            </a:p>
          </p:txBody>
        </p:sp>
        <p:sp>
          <p:nvSpPr>
            <p:cNvPr id="36" name="Rectangle 36"/>
            <p:cNvSpPr/>
            <p:nvPr/>
          </p:nvSpPr>
          <p:spPr>
            <a:xfrm>
              <a:off x="9696450" y="2162175"/>
              <a:ext cx="1809750" cy="495300"/>
            </a:xfrm>
            <a:prstGeom prst="rect">
              <a:avLst/>
            </a:prstGeom>
            <a:solidFill>
              <a:srgbClr val="F2F5F8"/>
            </a:solidFill>
            <a:ln w="9525">
              <a:solidFill>
                <a:srgbClr val="D8DDE3"/>
              </a:solidFill>
            </a:ln>
          </p:spPr>
        </p:sp>
        <p:sp>
          <p:nvSpPr>
            <p:cNvPr id="37" name="TextBox 37"/>
            <p:cNvSpPr txBox="1"/>
            <p:nvPr/>
          </p:nvSpPr>
          <p:spPr>
            <a:xfrm>
              <a:off x="10379232" y="2348389"/>
              <a:ext cx="444186" cy="249364"/>
            </a:xfrm>
            <a:prstGeom prst="rect">
              <a:avLst/>
            </a:prstGeom>
            <a:noFill/>
            <a:ln>
              <a:noFill/>
            </a:ln>
          </p:spPr>
          <p:txBody>
            <a:bodyPr wrap="none" lIns="0" tIns="0" rIns="0" bIns="0" anchor="t" anchorCtr="0">
              <a:spAutoFit/>
            </a:bodyPr>
            <a:lstStyle/>
            <a:p>
              <a:pPr algn="ctr"/>
              <a:r>
                <a:rPr lang="ja-JP" sz="1280" dirty="0">
                  <a:solidFill>
                    <a:schemeClr val="dk1"/>
                  </a:solidFill>
                  <a:latin typeface="+mn-lt"/>
                  <a:ea typeface="+mn-ea"/>
                  <a:cs typeface="+mn-cs"/>
                </a:rPr>
                <a:t>20.99</a:t>
              </a:r>
            </a:p>
          </p:txBody>
        </p:sp>
        <p:sp>
          <p:nvSpPr>
            <p:cNvPr id="38" name="Rectangle 38"/>
            <p:cNvSpPr/>
            <p:nvPr/>
          </p:nvSpPr>
          <p:spPr>
            <a:xfrm>
              <a:off x="685800" y="2657475"/>
              <a:ext cx="1962150" cy="495300"/>
            </a:xfrm>
            <a:prstGeom prst="rect">
              <a:avLst/>
            </a:prstGeom>
            <a:solidFill>
              <a:srgbClr val="FFF7F7"/>
            </a:solidFill>
            <a:ln w="9525">
              <a:solidFill>
                <a:srgbClr val="D8DDE3"/>
              </a:solidFill>
            </a:ln>
          </p:spPr>
        </p:sp>
        <p:sp>
          <p:nvSpPr>
            <p:cNvPr id="39" name="TextBox 39"/>
            <p:cNvSpPr txBox="1"/>
            <p:nvPr/>
          </p:nvSpPr>
          <p:spPr>
            <a:xfrm>
              <a:off x="831723" y="2843689"/>
              <a:ext cx="1040752" cy="249364"/>
            </a:xfrm>
            <a:prstGeom prst="rect">
              <a:avLst/>
            </a:prstGeom>
            <a:noFill/>
            <a:ln>
              <a:noFill/>
            </a:ln>
          </p:spPr>
          <p:txBody>
            <a:bodyPr wrap="none" lIns="0" tIns="0" rIns="0" bIns="0" anchor="t" anchorCtr="0">
              <a:spAutoFit/>
            </a:bodyPr>
            <a:lstStyle/>
            <a:p>
              <a:pPr algn="l"/>
              <a:r>
                <a:rPr lang="ja-JP" sz="1280" b="1" dirty="0">
                  <a:solidFill>
                    <a:schemeClr val="accent2"/>
                  </a:solidFill>
                  <a:latin typeface="+mn-lt"/>
                  <a:ea typeface="+mn-ea"/>
                  <a:cs typeface="+mn-cs"/>
                </a:rPr>
                <a:t>Qwen Image</a:t>
              </a:r>
            </a:p>
          </p:txBody>
        </p:sp>
        <p:sp>
          <p:nvSpPr>
            <p:cNvPr id="40" name="Rectangle 40"/>
            <p:cNvSpPr/>
            <p:nvPr/>
          </p:nvSpPr>
          <p:spPr>
            <a:xfrm>
              <a:off x="2647950" y="2657475"/>
              <a:ext cx="952500" cy="495300"/>
            </a:xfrm>
            <a:prstGeom prst="rect">
              <a:avLst/>
            </a:prstGeom>
            <a:solidFill>
              <a:srgbClr val="FFF7F7"/>
            </a:solidFill>
            <a:ln w="9525">
              <a:solidFill>
                <a:srgbClr val="D8DDE3"/>
              </a:solidFill>
            </a:ln>
          </p:spPr>
        </p:sp>
        <p:sp>
          <p:nvSpPr>
            <p:cNvPr id="41" name="TextBox 41"/>
            <p:cNvSpPr txBox="1"/>
            <p:nvPr/>
          </p:nvSpPr>
          <p:spPr>
            <a:xfrm>
              <a:off x="2737485" y="2859881"/>
              <a:ext cx="593923" cy="220028"/>
            </a:xfrm>
            <a:prstGeom prst="rect">
              <a:avLst/>
            </a:prstGeom>
            <a:noFill/>
            <a:ln>
              <a:noFill/>
            </a:ln>
          </p:spPr>
          <p:txBody>
            <a:bodyPr wrap="none" lIns="0" tIns="0" rIns="0" bIns="0" anchor="t" anchorCtr="0">
              <a:spAutoFit/>
            </a:bodyPr>
            <a:lstStyle/>
            <a:p>
              <a:pPr algn="l"/>
              <a:r>
                <a:rPr lang="ja-JP" sz="1120" dirty="0">
                  <a:solidFill>
                    <a:srgbClr val="B04A4A"/>
                  </a:solidFill>
                  <a:latin typeface="+mn-lt"/>
                  <a:ea typeface="+mn-ea"/>
                  <a:cs typeface="+mn-cs"/>
                </a:rPr>
                <a:t>Baseline</a:t>
              </a:r>
            </a:p>
          </p:txBody>
        </p:sp>
        <p:sp>
          <p:nvSpPr>
            <p:cNvPr id="42" name="Rectangle 42"/>
            <p:cNvSpPr/>
            <p:nvPr/>
          </p:nvSpPr>
          <p:spPr>
            <a:xfrm>
              <a:off x="3600450" y="2657475"/>
              <a:ext cx="1333500" cy="495300"/>
            </a:xfrm>
            <a:prstGeom prst="rect">
              <a:avLst/>
            </a:prstGeom>
            <a:solidFill>
              <a:srgbClr val="FFF7F7"/>
            </a:solidFill>
            <a:ln w="9525">
              <a:solidFill>
                <a:srgbClr val="D8DDE3"/>
              </a:solidFill>
            </a:ln>
          </p:spPr>
        </p:sp>
        <p:sp>
          <p:nvSpPr>
            <p:cNvPr id="43" name="TextBox 43"/>
            <p:cNvSpPr txBox="1"/>
            <p:nvPr/>
          </p:nvSpPr>
          <p:spPr>
            <a:xfrm>
              <a:off x="4045107" y="2843689"/>
              <a:ext cx="444186" cy="249364"/>
            </a:xfrm>
            <a:prstGeom prst="rect">
              <a:avLst/>
            </a:prstGeom>
            <a:noFill/>
            <a:ln>
              <a:noFill/>
            </a:ln>
          </p:spPr>
          <p:txBody>
            <a:bodyPr wrap="none" lIns="0" tIns="0" rIns="0" bIns="0" anchor="t" anchorCtr="0">
              <a:spAutoFit/>
            </a:bodyPr>
            <a:lstStyle/>
            <a:p>
              <a:pPr algn="ctr"/>
              <a:r>
                <a:rPr lang="ja-JP" sz="1280" dirty="0">
                  <a:solidFill>
                    <a:schemeClr val="dk1"/>
                  </a:solidFill>
                  <a:latin typeface="+mn-lt"/>
                  <a:ea typeface="+mn-ea"/>
                  <a:cs typeface="+mn-cs"/>
                </a:rPr>
                <a:t>13.90</a:t>
              </a:r>
            </a:p>
          </p:txBody>
        </p:sp>
        <p:sp>
          <p:nvSpPr>
            <p:cNvPr id="44" name="Rectangle 44"/>
            <p:cNvSpPr/>
            <p:nvPr/>
          </p:nvSpPr>
          <p:spPr>
            <a:xfrm>
              <a:off x="4933950" y="2657475"/>
              <a:ext cx="1333500" cy="495300"/>
            </a:xfrm>
            <a:prstGeom prst="rect">
              <a:avLst/>
            </a:prstGeom>
            <a:solidFill>
              <a:srgbClr val="FFF7F7"/>
            </a:solidFill>
            <a:ln w="9525">
              <a:solidFill>
                <a:srgbClr val="D8DDE3"/>
              </a:solidFill>
            </a:ln>
          </p:spPr>
        </p:sp>
        <p:sp>
          <p:nvSpPr>
            <p:cNvPr id="45" name="TextBox 45"/>
            <p:cNvSpPr txBox="1"/>
            <p:nvPr/>
          </p:nvSpPr>
          <p:spPr>
            <a:xfrm>
              <a:off x="5330687" y="2843689"/>
              <a:ext cx="540027" cy="249364"/>
            </a:xfrm>
            <a:prstGeom prst="rect">
              <a:avLst/>
            </a:prstGeom>
            <a:noFill/>
            <a:ln>
              <a:noFill/>
            </a:ln>
          </p:spPr>
          <p:txBody>
            <a:bodyPr wrap="none" lIns="0" tIns="0" rIns="0" bIns="0" anchor="t" anchorCtr="0">
              <a:spAutoFit/>
            </a:bodyPr>
            <a:lstStyle/>
            <a:p>
              <a:pPr algn="ctr"/>
              <a:r>
                <a:rPr lang="ja-JP" sz="1280" dirty="0">
                  <a:solidFill>
                    <a:schemeClr val="dk1"/>
                  </a:solidFill>
                  <a:latin typeface="+mn-lt"/>
                  <a:ea typeface="+mn-ea"/>
                  <a:cs typeface="+mn-cs"/>
                </a:rPr>
                <a:t>0.4506</a:t>
              </a:r>
            </a:p>
          </p:txBody>
        </p:sp>
        <p:sp>
          <p:nvSpPr>
            <p:cNvPr id="46" name="Rectangle 46"/>
            <p:cNvSpPr/>
            <p:nvPr/>
          </p:nvSpPr>
          <p:spPr>
            <a:xfrm>
              <a:off x="6267450" y="2657475"/>
              <a:ext cx="1762125" cy="495300"/>
            </a:xfrm>
            <a:prstGeom prst="rect">
              <a:avLst/>
            </a:prstGeom>
            <a:solidFill>
              <a:srgbClr val="FFF7F7"/>
            </a:solidFill>
            <a:ln w="9525">
              <a:solidFill>
                <a:srgbClr val="D8DDE3"/>
              </a:solidFill>
            </a:ln>
          </p:spPr>
        </p:sp>
        <p:sp>
          <p:nvSpPr>
            <p:cNvPr id="47" name="TextBox 47"/>
            <p:cNvSpPr txBox="1"/>
            <p:nvPr/>
          </p:nvSpPr>
          <p:spPr>
            <a:xfrm>
              <a:off x="6878499" y="2843689"/>
              <a:ext cx="540027" cy="249364"/>
            </a:xfrm>
            <a:prstGeom prst="rect">
              <a:avLst/>
            </a:prstGeom>
            <a:noFill/>
            <a:ln>
              <a:noFill/>
            </a:ln>
          </p:spPr>
          <p:txBody>
            <a:bodyPr wrap="none" lIns="0" tIns="0" rIns="0" bIns="0" anchor="t" anchorCtr="0">
              <a:spAutoFit/>
            </a:bodyPr>
            <a:lstStyle/>
            <a:p>
              <a:pPr algn="ctr"/>
              <a:r>
                <a:rPr lang="ja-JP" sz="1280" dirty="0">
                  <a:solidFill>
                    <a:schemeClr val="dk1"/>
                  </a:solidFill>
                  <a:latin typeface="+mn-lt"/>
                  <a:ea typeface="+mn-ea"/>
                  <a:cs typeface="+mn-cs"/>
                </a:rPr>
                <a:t>35.468</a:t>
              </a:r>
            </a:p>
          </p:txBody>
        </p:sp>
        <p:sp>
          <p:nvSpPr>
            <p:cNvPr id="48" name="Rectangle 48"/>
            <p:cNvSpPr/>
            <p:nvPr/>
          </p:nvSpPr>
          <p:spPr>
            <a:xfrm>
              <a:off x="8029575" y="2657475"/>
              <a:ext cx="1666875" cy="495300"/>
            </a:xfrm>
            <a:prstGeom prst="rect">
              <a:avLst/>
            </a:prstGeom>
            <a:solidFill>
              <a:srgbClr val="FFF7F7"/>
            </a:solidFill>
            <a:ln w="9525">
              <a:solidFill>
                <a:srgbClr val="D8DDE3"/>
              </a:solidFill>
            </a:ln>
          </p:spPr>
        </p:sp>
        <p:sp>
          <p:nvSpPr>
            <p:cNvPr id="49" name="TextBox 49"/>
            <p:cNvSpPr txBox="1"/>
            <p:nvPr/>
          </p:nvSpPr>
          <p:spPr>
            <a:xfrm>
              <a:off x="8612229" y="2843689"/>
              <a:ext cx="501566" cy="249364"/>
            </a:xfrm>
            <a:prstGeom prst="rect">
              <a:avLst/>
            </a:prstGeom>
            <a:noFill/>
            <a:ln>
              <a:noFill/>
            </a:ln>
          </p:spPr>
          <p:txBody>
            <a:bodyPr wrap="none" lIns="0" tIns="0" rIns="0" bIns="0" anchor="t" anchorCtr="0">
              <a:spAutoFit/>
            </a:bodyPr>
            <a:lstStyle/>
            <a:p>
              <a:pPr algn="ctr"/>
              <a:r>
                <a:rPr lang="ja-JP" sz="1280" dirty="0">
                  <a:solidFill>
                    <a:schemeClr val="dk1"/>
                  </a:solidFill>
                  <a:latin typeface="+mn-lt"/>
                  <a:ea typeface="+mn-ea"/>
                  <a:cs typeface="+mn-cs"/>
                </a:rPr>
                <a:t>0.17%</a:t>
              </a:r>
            </a:p>
          </p:txBody>
        </p:sp>
        <p:sp>
          <p:nvSpPr>
            <p:cNvPr id="50" name="Rectangle 50"/>
            <p:cNvSpPr/>
            <p:nvPr/>
          </p:nvSpPr>
          <p:spPr>
            <a:xfrm>
              <a:off x="9696450" y="2657475"/>
              <a:ext cx="1809750" cy="495300"/>
            </a:xfrm>
            <a:prstGeom prst="rect">
              <a:avLst/>
            </a:prstGeom>
            <a:solidFill>
              <a:srgbClr val="FFF7F7"/>
            </a:solidFill>
            <a:ln w="9525">
              <a:solidFill>
                <a:srgbClr val="D8DDE3"/>
              </a:solidFill>
            </a:ln>
          </p:spPr>
        </p:sp>
        <p:sp>
          <p:nvSpPr>
            <p:cNvPr id="51" name="TextBox 51"/>
            <p:cNvSpPr txBox="1"/>
            <p:nvPr/>
          </p:nvSpPr>
          <p:spPr>
            <a:xfrm>
              <a:off x="10379232" y="2843689"/>
              <a:ext cx="444186" cy="249364"/>
            </a:xfrm>
            <a:prstGeom prst="rect">
              <a:avLst/>
            </a:prstGeom>
            <a:noFill/>
            <a:ln>
              <a:noFill/>
            </a:ln>
          </p:spPr>
          <p:txBody>
            <a:bodyPr wrap="none" lIns="0" tIns="0" rIns="0" bIns="0" anchor="t" anchorCtr="0">
              <a:spAutoFit/>
            </a:bodyPr>
            <a:lstStyle/>
            <a:p>
              <a:pPr algn="ctr"/>
              <a:r>
                <a:rPr lang="ja-JP" sz="1280" dirty="0">
                  <a:solidFill>
                    <a:schemeClr val="dk1"/>
                  </a:solidFill>
                  <a:latin typeface="+mn-lt"/>
                  <a:ea typeface="+mn-ea"/>
                  <a:cs typeface="+mn-cs"/>
                </a:rPr>
                <a:t>51.12</a:t>
              </a:r>
            </a:p>
          </p:txBody>
        </p:sp>
        <p:sp>
          <p:nvSpPr>
            <p:cNvPr id="52" name="Rectangle 52"/>
            <p:cNvSpPr/>
            <p:nvPr/>
          </p:nvSpPr>
          <p:spPr>
            <a:xfrm>
              <a:off x="685800" y="3152775"/>
              <a:ext cx="1962150" cy="495300"/>
            </a:xfrm>
            <a:prstGeom prst="rect">
              <a:avLst/>
            </a:prstGeom>
            <a:solidFill>
              <a:schemeClr val="lt1"/>
            </a:solidFill>
            <a:ln w="9525">
              <a:solidFill>
                <a:srgbClr val="D8DDE3"/>
              </a:solidFill>
            </a:ln>
          </p:spPr>
        </p:sp>
        <p:sp>
          <p:nvSpPr>
            <p:cNvPr id="53" name="TextBox 53"/>
            <p:cNvSpPr txBox="1"/>
            <p:nvPr/>
          </p:nvSpPr>
          <p:spPr>
            <a:xfrm>
              <a:off x="831723" y="3338989"/>
              <a:ext cx="1086338" cy="249364"/>
            </a:xfrm>
            <a:prstGeom prst="rect">
              <a:avLst/>
            </a:prstGeom>
            <a:noFill/>
            <a:ln>
              <a:noFill/>
            </a:ln>
          </p:spPr>
          <p:txBody>
            <a:bodyPr wrap="none" lIns="0" tIns="0" rIns="0" bIns="0" anchor="t" anchorCtr="0">
              <a:spAutoFit/>
            </a:bodyPr>
            <a:lstStyle/>
            <a:p>
              <a:pPr algn="l"/>
              <a:r>
                <a:rPr lang="ja-JP" sz="1280" b="1" dirty="0">
                  <a:solidFill>
                    <a:schemeClr val="accent1"/>
                  </a:solidFill>
                  <a:latin typeface="+mn-lt"/>
                  <a:ea typeface="+mn-ea"/>
                  <a:cs typeface="+mn-cs"/>
                </a:rPr>
                <a:t>Native VACE</a:t>
              </a:r>
            </a:p>
          </p:txBody>
        </p:sp>
        <p:sp>
          <p:nvSpPr>
            <p:cNvPr id="54" name="Rectangle 54"/>
            <p:cNvSpPr/>
            <p:nvPr/>
          </p:nvSpPr>
          <p:spPr>
            <a:xfrm>
              <a:off x="2647950" y="3152775"/>
              <a:ext cx="952500" cy="495300"/>
            </a:xfrm>
            <a:prstGeom prst="rect">
              <a:avLst/>
            </a:prstGeom>
            <a:solidFill>
              <a:schemeClr val="lt1"/>
            </a:solidFill>
            <a:ln w="9525">
              <a:solidFill>
                <a:srgbClr val="D8DDE3"/>
              </a:solidFill>
            </a:ln>
          </p:spPr>
        </p:sp>
        <p:sp>
          <p:nvSpPr>
            <p:cNvPr id="55" name="TextBox 55"/>
            <p:cNvSpPr txBox="1"/>
            <p:nvPr/>
          </p:nvSpPr>
          <p:spPr>
            <a:xfrm>
              <a:off x="2737485" y="3355181"/>
              <a:ext cx="945879" cy="220028"/>
            </a:xfrm>
            <a:prstGeom prst="rect">
              <a:avLst/>
            </a:prstGeom>
            <a:noFill/>
            <a:ln>
              <a:noFill/>
            </a:ln>
          </p:spPr>
          <p:txBody>
            <a:bodyPr wrap="none" lIns="0" tIns="0" rIns="0" bIns="0" anchor="t" anchorCtr="0">
              <a:spAutoFit/>
            </a:bodyPr>
            <a:lstStyle/>
            <a:p>
              <a:pPr algn="l"/>
              <a:r>
                <a:rPr lang="ja-JP" sz="1120" dirty="0">
                  <a:solidFill>
                    <a:srgbClr val="2E8B57"/>
                  </a:solidFill>
                  <a:latin typeface="+mn-lt"/>
                  <a:ea typeface="+mn-ea"/>
                  <a:cs typeface="+mn-cs"/>
                </a:rPr>
                <a:t>Ours（条件）</a:t>
              </a:r>
            </a:p>
          </p:txBody>
        </p:sp>
        <p:sp>
          <p:nvSpPr>
            <p:cNvPr id="56" name="Rectangle 56"/>
            <p:cNvSpPr/>
            <p:nvPr/>
          </p:nvSpPr>
          <p:spPr>
            <a:xfrm>
              <a:off x="3600450" y="3152775"/>
              <a:ext cx="1333500" cy="495300"/>
            </a:xfrm>
            <a:prstGeom prst="rect">
              <a:avLst/>
            </a:prstGeom>
            <a:solidFill>
              <a:schemeClr val="lt1"/>
            </a:solidFill>
            <a:ln w="9525">
              <a:solidFill>
                <a:srgbClr val="D8DDE3"/>
              </a:solidFill>
            </a:ln>
          </p:spPr>
        </p:sp>
        <p:sp>
          <p:nvSpPr>
            <p:cNvPr id="57" name="TextBox 57"/>
            <p:cNvSpPr txBox="1"/>
            <p:nvPr/>
          </p:nvSpPr>
          <p:spPr>
            <a:xfrm>
              <a:off x="4045107" y="3338989"/>
              <a:ext cx="444186" cy="249364"/>
            </a:xfrm>
            <a:prstGeom prst="rect">
              <a:avLst/>
            </a:prstGeom>
            <a:noFill/>
            <a:ln>
              <a:noFill/>
            </a:ln>
          </p:spPr>
          <p:txBody>
            <a:bodyPr wrap="none" lIns="0" tIns="0" rIns="0" bIns="0" anchor="t" anchorCtr="0">
              <a:spAutoFit/>
            </a:bodyPr>
            <a:lstStyle/>
            <a:p>
              <a:pPr algn="ctr"/>
              <a:r>
                <a:rPr lang="ja-JP" sz="1280" dirty="0">
                  <a:solidFill>
                    <a:schemeClr val="dk1"/>
                  </a:solidFill>
                  <a:latin typeface="+mn-lt"/>
                  <a:ea typeface="+mn-ea"/>
                  <a:cs typeface="+mn-cs"/>
                </a:rPr>
                <a:t>34.60</a:t>
              </a:r>
            </a:p>
          </p:txBody>
        </p:sp>
        <p:sp>
          <p:nvSpPr>
            <p:cNvPr id="58" name="Rectangle 58"/>
            <p:cNvSpPr/>
            <p:nvPr/>
          </p:nvSpPr>
          <p:spPr>
            <a:xfrm>
              <a:off x="4933950" y="3152775"/>
              <a:ext cx="1333500" cy="495300"/>
            </a:xfrm>
            <a:prstGeom prst="rect">
              <a:avLst/>
            </a:prstGeom>
            <a:solidFill>
              <a:schemeClr val="lt1"/>
            </a:solidFill>
            <a:ln w="9525">
              <a:solidFill>
                <a:srgbClr val="D8DDE3"/>
              </a:solidFill>
            </a:ln>
          </p:spPr>
        </p:sp>
        <p:sp>
          <p:nvSpPr>
            <p:cNvPr id="59" name="TextBox 59"/>
            <p:cNvSpPr txBox="1"/>
            <p:nvPr/>
          </p:nvSpPr>
          <p:spPr>
            <a:xfrm>
              <a:off x="5330687" y="3338989"/>
              <a:ext cx="540027" cy="249364"/>
            </a:xfrm>
            <a:prstGeom prst="rect">
              <a:avLst/>
            </a:prstGeom>
            <a:noFill/>
            <a:ln>
              <a:noFill/>
            </a:ln>
          </p:spPr>
          <p:txBody>
            <a:bodyPr wrap="none" lIns="0" tIns="0" rIns="0" bIns="0" anchor="t" anchorCtr="0">
              <a:spAutoFit/>
            </a:bodyPr>
            <a:lstStyle/>
            <a:p>
              <a:pPr algn="ctr"/>
              <a:r>
                <a:rPr lang="ja-JP" sz="1280" dirty="0">
                  <a:solidFill>
                    <a:schemeClr val="dk1"/>
                  </a:solidFill>
                  <a:latin typeface="+mn-lt"/>
                  <a:ea typeface="+mn-ea"/>
                  <a:cs typeface="+mn-cs"/>
                </a:rPr>
                <a:t>0.9823</a:t>
              </a:r>
            </a:p>
          </p:txBody>
        </p:sp>
        <p:sp>
          <p:nvSpPr>
            <p:cNvPr id="60" name="Rectangle 60"/>
            <p:cNvSpPr/>
            <p:nvPr/>
          </p:nvSpPr>
          <p:spPr>
            <a:xfrm>
              <a:off x="6267450" y="3152775"/>
              <a:ext cx="1762125" cy="495300"/>
            </a:xfrm>
            <a:prstGeom prst="rect">
              <a:avLst/>
            </a:prstGeom>
            <a:solidFill>
              <a:schemeClr val="lt1"/>
            </a:solidFill>
            <a:ln w="9525">
              <a:solidFill>
                <a:srgbClr val="D8DDE3"/>
              </a:solidFill>
            </a:ln>
          </p:spPr>
        </p:sp>
        <p:sp>
          <p:nvSpPr>
            <p:cNvPr id="61" name="TextBox 61"/>
            <p:cNvSpPr txBox="1"/>
            <p:nvPr/>
          </p:nvSpPr>
          <p:spPr>
            <a:xfrm>
              <a:off x="6926419" y="3338989"/>
              <a:ext cx="444186" cy="249364"/>
            </a:xfrm>
            <a:prstGeom prst="rect">
              <a:avLst/>
            </a:prstGeom>
            <a:noFill/>
            <a:ln>
              <a:noFill/>
            </a:ln>
          </p:spPr>
          <p:txBody>
            <a:bodyPr wrap="none" lIns="0" tIns="0" rIns="0" bIns="0" anchor="t" anchorCtr="0">
              <a:spAutoFit/>
            </a:bodyPr>
            <a:lstStyle/>
            <a:p>
              <a:pPr algn="ctr"/>
              <a:r>
                <a:rPr lang="ja-JP" sz="1280" dirty="0">
                  <a:solidFill>
                    <a:schemeClr val="dk1"/>
                  </a:solidFill>
                  <a:latin typeface="+mn-lt"/>
                  <a:ea typeface="+mn-ea"/>
                  <a:cs typeface="+mn-cs"/>
                </a:rPr>
                <a:t>0.000</a:t>
              </a:r>
            </a:p>
          </p:txBody>
        </p:sp>
        <p:sp>
          <p:nvSpPr>
            <p:cNvPr id="62" name="Rectangle 62"/>
            <p:cNvSpPr/>
            <p:nvPr/>
          </p:nvSpPr>
          <p:spPr>
            <a:xfrm>
              <a:off x="8029575" y="3152775"/>
              <a:ext cx="1666875" cy="495300"/>
            </a:xfrm>
            <a:prstGeom prst="rect">
              <a:avLst/>
            </a:prstGeom>
            <a:solidFill>
              <a:schemeClr val="lt1"/>
            </a:solidFill>
            <a:ln w="9525">
              <a:solidFill>
                <a:srgbClr val="D8DDE3"/>
              </a:solidFill>
            </a:ln>
          </p:spPr>
        </p:sp>
        <p:sp>
          <p:nvSpPr>
            <p:cNvPr id="63" name="TextBox 63"/>
            <p:cNvSpPr txBox="1"/>
            <p:nvPr/>
          </p:nvSpPr>
          <p:spPr>
            <a:xfrm>
              <a:off x="8564309" y="3338989"/>
              <a:ext cx="597407" cy="249364"/>
            </a:xfrm>
            <a:prstGeom prst="rect">
              <a:avLst/>
            </a:prstGeom>
            <a:noFill/>
            <a:ln>
              <a:noFill/>
            </a:ln>
          </p:spPr>
          <p:txBody>
            <a:bodyPr wrap="none" lIns="0" tIns="0" rIns="0" bIns="0" anchor="t" anchorCtr="0">
              <a:spAutoFit/>
            </a:bodyPr>
            <a:lstStyle/>
            <a:p>
              <a:pPr algn="ctr"/>
              <a:r>
                <a:rPr lang="ja-JP" sz="1280" dirty="0">
                  <a:solidFill>
                    <a:schemeClr val="dk1"/>
                  </a:solidFill>
                  <a:latin typeface="+mn-lt"/>
                  <a:ea typeface="+mn-ea"/>
                  <a:cs typeface="+mn-cs"/>
                </a:rPr>
                <a:t>100.0%</a:t>
              </a:r>
            </a:p>
          </p:txBody>
        </p:sp>
        <p:sp>
          <p:nvSpPr>
            <p:cNvPr id="64" name="Rectangle 64"/>
            <p:cNvSpPr/>
            <p:nvPr/>
          </p:nvSpPr>
          <p:spPr>
            <a:xfrm>
              <a:off x="9696450" y="3152775"/>
              <a:ext cx="1809750" cy="495300"/>
            </a:xfrm>
            <a:prstGeom prst="rect">
              <a:avLst/>
            </a:prstGeom>
            <a:solidFill>
              <a:schemeClr val="lt1"/>
            </a:solidFill>
            <a:ln w="9525">
              <a:solidFill>
                <a:srgbClr val="D8DDE3"/>
              </a:solidFill>
            </a:ln>
          </p:spPr>
        </p:sp>
        <p:sp>
          <p:nvSpPr>
            <p:cNvPr id="65" name="TextBox 65"/>
            <p:cNvSpPr txBox="1"/>
            <p:nvPr/>
          </p:nvSpPr>
          <p:spPr>
            <a:xfrm>
              <a:off x="10427152" y="3338989"/>
              <a:ext cx="348345" cy="249364"/>
            </a:xfrm>
            <a:prstGeom prst="rect">
              <a:avLst/>
            </a:prstGeom>
            <a:noFill/>
            <a:ln>
              <a:noFill/>
            </a:ln>
          </p:spPr>
          <p:txBody>
            <a:bodyPr wrap="none" lIns="0" tIns="0" rIns="0" bIns="0" anchor="t" anchorCtr="0">
              <a:spAutoFit/>
            </a:bodyPr>
            <a:lstStyle/>
            <a:p>
              <a:pPr algn="ctr"/>
              <a:r>
                <a:rPr lang="ja-JP" sz="1280" dirty="0">
                  <a:solidFill>
                    <a:schemeClr val="dk1"/>
                  </a:solidFill>
                  <a:latin typeface="+mn-lt"/>
                  <a:ea typeface="+mn-ea"/>
                  <a:cs typeface="+mn-cs"/>
                </a:rPr>
                <a:t>8.33</a:t>
              </a:r>
            </a:p>
          </p:txBody>
        </p:sp>
        <p:sp>
          <p:nvSpPr>
            <p:cNvPr id="66" name="Rectangle 66"/>
            <p:cNvSpPr/>
            <p:nvPr/>
          </p:nvSpPr>
          <p:spPr>
            <a:xfrm>
              <a:off x="685800" y="3648075"/>
              <a:ext cx="1962150" cy="495300"/>
            </a:xfrm>
            <a:prstGeom prst="rect">
              <a:avLst/>
            </a:prstGeom>
            <a:solidFill>
              <a:schemeClr val="lt1"/>
            </a:solidFill>
            <a:ln w="9525">
              <a:solidFill>
                <a:srgbClr val="D8DDE3"/>
              </a:solidFill>
            </a:ln>
          </p:spPr>
        </p:sp>
        <p:sp>
          <p:nvSpPr>
            <p:cNvPr id="67" name="TextBox 67"/>
            <p:cNvSpPr txBox="1"/>
            <p:nvPr/>
          </p:nvSpPr>
          <p:spPr>
            <a:xfrm>
              <a:off x="831723" y="3834289"/>
              <a:ext cx="1321478" cy="249364"/>
            </a:xfrm>
            <a:prstGeom prst="rect">
              <a:avLst/>
            </a:prstGeom>
            <a:noFill/>
            <a:ln>
              <a:noFill/>
            </a:ln>
          </p:spPr>
          <p:txBody>
            <a:bodyPr wrap="none" lIns="0" tIns="0" rIns="0" bIns="0" anchor="t" anchorCtr="0">
              <a:spAutoFit/>
            </a:bodyPr>
            <a:lstStyle/>
            <a:p>
              <a:pPr algn="l"/>
              <a:r>
                <a:rPr lang="ja-JP" sz="1280" b="1" dirty="0">
                  <a:solidFill>
                    <a:schemeClr val="accent1"/>
                  </a:solidFill>
                  <a:latin typeface="+mn-lt"/>
                  <a:ea typeface="+mn-ea"/>
                  <a:cs typeface="+mn-cs"/>
                </a:rPr>
                <a:t>2D planar proxy</a:t>
              </a:r>
            </a:p>
          </p:txBody>
        </p:sp>
        <p:sp>
          <p:nvSpPr>
            <p:cNvPr id="68" name="Rectangle 68"/>
            <p:cNvSpPr/>
            <p:nvPr/>
          </p:nvSpPr>
          <p:spPr>
            <a:xfrm>
              <a:off x="2647950" y="3648075"/>
              <a:ext cx="952500" cy="495300"/>
            </a:xfrm>
            <a:prstGeom prst="rect">
              <a:avLst/>
            </a:prstGeom>
            <a:solidFill>
              <a:schemeClr val="lt1"/>
            </a:solidFill>
            <a:ln w="9525">
              <a:solidFill>
                <a:srgbClr val="D8DDE3"/>
              </a:solidFill>
            </a:ln>
          </p:spPr>
        </p:sp>
        <p:sp>
          <p:nvSpPr>
            <p:cNvPr id="69" name="TextBox 69"/>
            <p:cNvSpPr txBox="1"/>
            <p:nvPr/>
          </p:nvSpPr>
          <p:spPr>
            <a:xfrm>
              <a:off x="2737485" y="3850481"/>
              <a:ext cx="945879" cy="220028"/>
            </a:xfrm>
            <a:prstGeom prst="rect">
              <a:avLst/>
            </a:prstGeom>
            <a:noFill/>
            <a:ln>
              <a:noFill/>
            </a:ln>
          </p:spPr>
          <p:txBody>
            <a:bodyPr wrap="none" lIns="0" tIns="0" rIns="0" bIns="0" anchor="t" anchorCtr="0">
              <a:spAutoFit/>
            </a:bodyPr>
            <a:lstStyle/>
            <a:p>
              <a:pPr algn="l"/>
              <a:r>
                <a:rPr lang="ja-JP" sz="1120" dirty="0">
                  <a:solidFill>
                    <a:srgbClr val="2E8B57"/>
                  </a:solidFill>
                  <a:latin typeface="+mn-lt"/>
                  <a:ea typeface="+mn-ea"/>
                  <a:cs typeface="+mn-cs"/>
                </a:rPr>
                <a:t>Ours（条件）</a:t>
              </a:r>
            </a:p>
          </p:txBody>
        </p:sp>
        <p:sp>
          <p:nvSpPr>
            <p:cNvPr id="70" name="Rectangle 70"/>
            <p:cNvSpPr/>
            <p:nvPr/>
          </p:nvSpPr>
          <p:spPr>
            <a:xfrm>
              <a:off x="3600450" y="3648075"/>
              <a:ext cx="1333500" cy="495300"/>
            </a:xfrm>
            <a:prstGeom prst="rect">
              <a:avLst/>
            </a:prstGeom>
            <a:solidFill>
              <a:schemeClr val="lt1"/>
            </a:solidFill>
            <a:ln w="9525">
              <a:solidFill>
                <a:srgbClr val="D8DDE3"/>
              </a:solidFill>
            </a:ln>
          </p:spPr>
        </p:sp>
        <p:sp>
          <p:nvSpPr>
            <p:cNvPr id="71" name="TextBox 71"/>
            <p:cNvSpPr txBox="1"/>
            <p:nvPr/>
          </p:nvSpPr>
          <p:spPr>
            <a:xfrm>
              <a:off x="4045107" y="3834289"/>
              <a:ext cx="444186" cy="249364"/>
            </a:xfrm>
            <a:prstGeom prst="rect">
              <a:avLst/>
            </a:prstGeom>
            <a:noFill/>
            <a:ln>
              <a:noFill/>
            </a:ln>
          </p:spPr>
          <p:txBody>
            <a:bodyPr wrap="none" lIns="0" tIns="0" rIns="0" bIns="0" anchor="t" anchorCtr="0">
              <a:spAutoFit/>
            </a:bodyPr>
            <a:lstStyle/>
            <a:p>
              <a:pPr algn="ctr"/>
              <a:r>
                <a:rPr lang="ja-JP" sz="1280" dirty="0">
                  <a:solidFill>
                    <a:schemeClr val="dk1"/>
                  </a:solidFill>
                  <a:latin typeface="+mn-lt"/>
                  <a:ea typeface="+mn-ea"/>
                  <a:cs typeface="+mn-cs"/>
                </a:rPr>
                <a:t>24.86</a:t>
              </a:r>
            </a:p>
          </p:txBody>
        </p:sp>
        <p:sp>
          <p:nvSpPr>
            <p:cNvPr id="72" name="Rectangle 72"/>
            <p:cNvSpPr/>
            <p:nvPr/>
          </p:nvSpPr>
          <p:spPr>
            <a:xfrm>
              <a:off x="4933950" y="3648075"/>
              <a:ext cx="1333500" cy="495300"/>
            </a:xfrm>
            <a:prstGeom prst="rect">
              <a:avLst/>
            </a:prstGeom>
            <a:solidFill>
              <a:schemeClr val="lt1"/>
            </a:solidFill>
            <a:ln w="9525">
              <a:solidFill>
                <a:srgbClr val="D8DDE3"/>
              </a:solidFill>
            </a:ln>
          </p:spPr>
        </p:sp>
        <p:sp>
          <p:nvSpPr>
            <p:cNvPr id="73" name="TextBox 73"/>
            <p:cNvSpPr txBox="1"/>
            <p:nvPr/>
          </p:nvSpPr>
          <p:spPr>
            <a:xfrm>
              <a:off x="5330687" y="3834289"/>
              <a:ext cx="540027" cy="249364"/>
            </a:xfrm>
            <a:prstGeom prst="rect">
              <a:avLst/>
            </a:prstGeom>
            <a:noFill/>
            <a:ln>
              <a:noFill/>
            </a:ln>
          </p:spPr>
          <p:txBody>
            <a:bodyPr wrap="none" lIns="0" tIns="0" rIns="0" bIns="0" anchor="t" anchorCtr="0">
              <a:spAutoFit/>
            </a:bodyPr>
            <a:lstStyle/>
            <a:p>
              <a:pPr algn="ctr"/>
              <a:r>
                <a:rPr lang="ja-JP" sz="1280" dirty="0">
                  <a:solidFill>
                    <a:schemeClr val="dk1"/>
                  </a:solidFill>
                  <a:latin typeface="+mn-lt"/>
                  <a:ea typeface="+mn-ea"/>
                  <a:cs typeface="+mn-cs"/>
                </a:rPr>
                <a:t>0.9473</a:t>
              </a:r>
            </a:p>
          </p:txBody>
        </p:sp>
        <p:sp>
          <p:nvSpPr>
            <p:cNvPr id="74" name="Rectangle 74"/>
            <p:cNvSpPr/>
            <p:nvPr/>
          </p:nvSpPr>
          <p:spPr>
            <a:xfrm>
              <a:off x="6267450" y="3648075"/>
              <a:ext cx="1762125" cy="495300"/>
            </a:xfrm>
            <a:prstGeom prst="rect">
              <a:avLst/>
            </a:prstGeom>
            <a:solidFill>
              <a:schemeClr val="lt1"/>
            </a:solidFill>
            <a:ln w="9525">
              <a:solidFill>
                <a:srgbClr val="D8DDE3"/>
              </a:solidFill>
            </a:ln>
          </p:spPr>
        </p:sp>
        <p:sp>
          <p:nvSpPr>
            <p:cNvPr id="75" name="TextBox 75"/>
            <p:cNvSpPr txBox="1"/>
            <p:nvPr/>
          </p:nvSpPr>
          <p:spPr>
            <a:xfrm>
              <a:off x="6926419" y="3834289"/>
              <a:ext cx="444186" cy="249364"/>
            </a:xfrm>
            <a:prstGeom prst="rect">
              <a:avLst/>
            </a:prstGeom>
            <a:noFill/>
            <a:ln>
              <a:noFill/>
            </a:ln>
          </p:spPr>
          <p:txBody>
            <a:bodyPr wrap="none" lIns="0" tIns="0" rIns="0" bIns="0" anchor="t" anchorCtr="0">
              <a:spAutoFit/>
            </a:bodyPr>
            <a:lstStyle/>
            <a:p>
              <a:pPr algn="ctr"/>
              <a:r>
                <a:rPr lang="ja-JP" sz="1280" dirty="0">
                  <a:solidFill>
                    <a:schemeClr val="dk1"/>
                  </a:solidFill>
                  <a:latin typeface="+mn-lt"/>
                  <a:ea typeface="+mn-ea"/>
                  <a:cs typeface="+mn-cs"/>
                </a:rPr>
                <a:t>0.000</a:t>
              </a:r>
            </a:p>
          </p:txBody>
        </p:sp>
        <p:sp>
          <p:nvSpPr>
            <p:cNvPr id="76" name="Rectangle 76"/>
            <p:cNvSpPr/>
            <p:nvPr/>
          </p:nvSpPr>
          <p:spPr>
            <a:xfrm>
              <a:off x="8029575" y="3648075"/>
              <a:ext cx="1666875" cy="495300"/>
            </a:xfrm>
            <a:prstGeom prst="rect">
              <a:avLst/>
            </a:prstGeom>
            <a:solidFill>
              <a:schemeClr val="lt1"/>
            </a:solidFill>
            <a:ln w="9525">
              <a:solidFill>
                <a:srgbClr val="D8DDE3"/>
              </a:solidFill>
            </a:ln>
          </p:spPr>
        </p:sp>
        <p:sp>
          <p:nvSpPr>
            <p:cNvPr id="77" name="TextBox 77"/>
            <p:cNvSpPr txBox="1"/>
            <p:nvPr/>
          </p:nvSpPr>
          <p:spPr>
            <a:xfrm>
              <a:off x="8564309" y="3834289"/>
              <a:ext cx="597407" cy="249364"/>
            </a:xfrm>
            <a:prstGeom prst="rect">
              <a:avLst/>
            </a:prstGeom>
            <a:noFill/>
            <a:ln>
              <a:noFill/>
            </a:ln>
          </p:spPr>
          <p:txBody>
            <a:bodyPr wrap="none" lIns="0" tIns="0" rIns="0" bIns="0" anchor="t" anchorCtr="0">
              <a:spAutoFit/>
            </a:bodyPr>
            <a:lstStyle/>
            <a:p>
              <a:pPr algn="ctr"/>
              <a:r>
                <a:rPr lang="ja-JP" sz="1280" dirty="0">
                  <a:solidFill>
                    <a:schemeClr val="dk1"/>
                  </a:solidFill>
                  <a:latin typeface="+mn-lt"/>
                  <a:ea typeface="+mn-ea"/>
                  <a:cs typeface="+mn-cs"/>
                </a:rPr>
                <a:t>100.0%</a:t>
              </a:r>
            </a:p>
          </p:txBody>
        </p:sp>
        <p:sp>
          <p:nvSpPr>
            <p:cNvPr id="78" name="Rectangle 78"/>
            <p:cNvSpPr/>
            <p:nvPr/>
          </p:nvSpPr>
          <p:spPr>
            <a:xfrm>
              <a:off x="9696450" y="3648075"/>
              <a:ext cx="1809750" cy="495300"/>
            </a:xfrm>
            <a:prstGeom prst="rect">
              <a:avLst/>
            </a:prstGeom>
            <a:solidFill>
              <a:schemeClr val="lt1"/>
            </a:solidFill>
            <a:ln w="9525">
              <a:solidFill>
                <a:srgbClr val="D8DDE3"/>
              </a:solidFill>
            </a:ln>
          </p:spPr>
        </p:sp>
        <p:sp>
          <p:nvSpPr>
            <p:cNvPr id="79" name="TextBox 79"/>
            <p:cNvSpPr txBox="1"/>
            <p:nvPr/>
          </p:nvSpPr>
          <p:spPr>
            <a:xfrm>
              <a:off x="10379232" y="3834289"/>
              <a:ext cx="444186" cy="249364"/>
            </a:xfrm>
            <a:prstGeom prst="rect">
              <a:avLst/>
            </a:prstGeom>
            <a:noFill/>
            <a:ln>
              <a:noFill/>
            </a:ln>
          </p:spPr>
          <p:txBody>
            <a:bodyPr wrap="none" lIns="0" tIns="0" rIns="0" bIns="0" anchor="t" anchorCtr="0">
              <a:spAutoFit/>
            </a:bodyPr>
            <a:lstStyle/>
            <a:p>
              <a:pPr algn="ctr"/>
              <a:r>
                <a:rPr lang="ja-JP" sz="1280" dirty="0">
                  <a:solidFill>
                    <a:schemeClr val="dk1"/>
                  </a:solidFill>
                  <a:latin typeface="+mn-lt"/>
                  <a:ea typeface="+mn-ea"/>
                  <a:cs typeface="+mn-cs"/>
                </a:rPr>
                <a:t>20.18</a:t>
              </a:r>
            </a:p>
          </p:txBody>
        </p:sp>
        <p:sp>
          <p:nvSpPr>
            <p:cNvPr id="80" name="Rectangle 80"/>
            <p:cNvSpPr/>
            <p:nvPr/>
          </p:nvSpPr>
          <p:spPr>
            <a:xfrm>
              <a:off x="685800" y="4143375"/>
              <a:ext cx="1962150" cy="495300"/>
            </a:xfrm>
            <a:prstGeom prst="rect">
              <a:avLst/>
            </a:prstGeom>
            <a:solidFill>
              <a:schemeClr val="lt1"/>
            </a:solidFill>
            <a:ln w="9525">
              <a:solidFill>
                <a:srgbClr val="D8DDE3"/>
              </a:solidFill>
            </a:ln>
          </p:spPr>
        </p:sp>
        <p:sp>
          <p:nvSpPr>
            <p:cNvPr id="81" name="TextBox 81"/>
            <p:cNvSpPr txBox="1"/>
            <p:nvPr/>
          </p:nvSpPr>
          <p:spPr>
            <a:xfrm>
              <a:off x="831723" y="4329589"/>
              <a:ext cx="1291984" cy="249364"/>
            </a:xfrm>
            <a:prstGeom prst="rect">
              <a:avLst/>
            </a:prstGeom>
            <a:noFill/>
            <a:ln>
              <a:noFill/>
            </a:ln>
          </p:spPr>
          <p:txBody>
            <a:bodyPr wrap="none" lIns="0" tIns="0" rIns="0" bIns="0" anchor="t" anchorCtr="0">
              <a:spAutoFit/>
            </a:bodyPr>
            <a:lstStyle/>
            <a:p>
              <a:pPr algn="l"/>
              <a:r>
                <a:rPr lang="ja-JP" sz="1280" b="1" dirty="0">
                  <a:solidFill>
                    <a:schemeClr val="accent1"/>
                  </a:solidFill>
                  <a:latin typeface="+mn-lt"/>
                  <a:ea typeface="+mn-ea"/>
                  <a:cs typeface="+mn-cs"/>
                </a:rPr>
                <a:t>fixed relative3D</a:t>
              </a:r>
            </a:p>
          </p:txBody>
        </p:sp>
        <p:sp>
          <p:nvSpPr>
            <p:cNvPr id="82" name="Rectangle 82"/>
            <p:cNvSpPr/>
            <p:nvPr/>
          </p:nvSpPr>
          <p:spPr>
            <a:xfrm>
              <a:off x="2647950" y="4143375"/>
              <a:ext cx="952500" cy="495300"/>
            </a:xfrm>
            <a:prstGeom prst="rect">
              <a:avLst/>
            </a:prstGeom>
            <a:solidFill>
              <a:schemeClr val="lt1"/>
            </a:solidFill>
            <a:ln w="9525">
              <a:solidFill>
                <a:srgbClr val="D8DDE3"/>
              </a:solidFill>
            </a:ln>
          </p:spPr>
        </p:sp>
        <p:sp>
          <p:nvSpPr>
            <p:cNvPr id="83" name="TextBox 83"/>
            <p:cNvSpPr txBox="1"/>
            <p:nvPr/>
          </p:nvSpPr>
          <p:spPr>
            <a:xfrm>
              <a:off x="2737485" y="4345781"/>
              <a:ext cx="945879" cy="220028"/>
            </a:xfrm>
            <a:prstGeom prst="rect">
              <a:avLst/>
            </a:prstGeom>
            <a:noFill/>
            <a:ln>
              <a:noFill/>
            </a:ln>
          </p:spPr>
          <p:txBody>
            <a:bodyPr wrap="none" lIns="0" tIns="0" rIns="0" bIns="0" anchor="t" anchorCtr="0">
              <a:spAutoFit/>
            </a:bodyPr>
            <a:lstStyle/>
            <a:p>
              <a:pPr algn="l"/>
              <a:r>
                <a:rPr lang="ja-JP" sz="1120" dirty="0">
                  <a:solidFill>
                    <a:srgbClr val="2E8B57"/>
                  </a:solidFill>
                  <a:latin typeface="+mn-lt"/>
                  <a:ea typeface="+mn-ea"/>
                  <a:cs typeface="+mn-cs"/>
                </a:rPr>
                <a:t>Ours（条件）</a:t>
              </a:r>
            </a:p>
          </p:txBody>
        </p:sp>
        <p:sp>
          <p:nvSpPr>
            <p:cNvPr id="84" name="Rectangle 84"/>
            <p:cNvSpPr/>
            <p:nvPr/>
          </p:nvSpPr>
          <p:spPr>
            <a:xfrm>
              <a:off x="3600450" y="4143375"/>
              <a:ext cx="1333500" cy="495300"/>
            </a:xfrm>
            <a:prstGeom prst="rect">
              <a:avLst/>
            </a:prstGeom>
            <a:solidFill>
              <a:schemeClr val="lt1"/>
            </a:solidFill>
            <a:ln w="9525">
              <a:solidFill>
                <a:srgbClr val="D8DDE3"/>
              </a:solidFill>
            </a:ln>
          </p:spPr>
        </p:sp>
        <p:sp>
          <p:nvSpPr>
            <p:cNvPr id="85" name="TextBox 85"/>
            <p:cNvSpPr txBox="1"/>
            <p:nvPr/>
          </p:nvSpPr>
          <p:spPr>
            <a:xfrm>
              <a:off x="4045107" y="4329589"/>
              <a:ext cx="444186" cy="249364"/>
            </a:xfrm>
            <a:prstGeom prst="rect">
              <a:avLst/>
            </a:prstGeom>
            <a:noFill/>
            <a:ln>
              <a:noFill/>
            </a:ln>
          </p:spPr>
          <p:txBody>
            <a:bodyPr wrap="none" lIns="0" tIns="0" rIns="0" bIns="0" anchor="t" anchorCtr="0">
              <a:spAutoFit/>
            </a:bodyPr>
            <a:lstStyle/>
            <a:p>
              <a:pPr algn="ctr"/>
              <a:r>
                <a:rPr lang="ja-JP" sz="1280" dirty="0">
                  <a:solidFill>
                    <a:schemeClr val="dk1"/>
                  </a:solidFill>
                  <a:latin typeface="+mn-lt"/>
                  <a:ea typeface="+mn-ea"/>
                  <a:cs typeface="+mn-cs"/>
                </a:rPr>
                <a:t>24.60</a:t>
              </a:r>
            </a:p>
          </p:txBody>
        </p:sp>
        <p:sp>
          <p:nvSpPr>
            <p:cNvPr id="86" name="Rectangle 86"/>
            <p:cNvSpPr/>
            <p:nvPr/>
          </p:nvSpPr>
          <p:spPr>
            <a:xfrm>
              <a:off x="4933950" y="4143375"/>
              <a:ext cx="1333500" cy="495300"/>
            </a:xfrm>
            <a:prstGeom prst="rect">
              <a:avLst/>
            </a:prstGeom>
            <a:solidFill>
              <a:schemeClr val="lt1"/>
            </a:solidFill>
            <a:ln w="9525">
              <a:solidFill>
                <a:srgbClr val="D8DDE3"/>
              </a:solidFill>
            </a:ln>
          </p:spPr>
        </p:sp>
        <p:sp>
          <p:nvSpPr>
            <p:cNvPr id="87" name="TextBox 87"/>
            <p:cNvSpPr txBox="1"/>
            <p:nvPr/>
          </p:nvSpPr>
          <p:spPr>
            <a:xfrm>
              <a:off x="5330687" y="4329589"/>
              <a:ext cx="540027" cy="249364"/>
            </a:xfrm>
            <a:prstGeom prst="rect">
              <a:avLst/>
            </a:prstGeom>
            <a:noFill/>
            <a:ln>
              <a:noFill/>
            </a:ln>
          </p:spPr>
          <p:txBody>
            <a:bodyPr wrap="none" lIns="0" tIns="0" rIns="0" bIns="0" anchor="t" anchorCtr="0">
              <a:spAutoFit/>
            </a:bodyPr>
            <a:lstStyle/>
            <a:p>
              <a:pPr algn="ctr"/>
              <a:r>
                <a:rPr lang="ja-JP" sz="1280" dirty="0">
                  <a:solidFill>
                    <a:schemeClr val="dk1"/>
                  </a:solidFill>
                  <a:latin typeface="+mn-lt"/>
                  <a:ea typeface="+mn-ea"/>
                  <a:cs typeface="+mn-cs"/>
                </a:rPr>
                <a:t>0.9452</a:t>
              </a:r>
            </a:p>
          </p:txBody>
        </p:sp>
        <p:sp>
          <p:nvSpPr>
            <p:cNvPr id="88" name="Rectangle 88"/>
            <p:cNvSpPr/>
            <p:nvPr/>
          </p:nvSpPr>
          <p:spPr>
            <a:xfrm>
              <a:off x="6267450" y="4143375"/>
              <a:ext cx="1762125" cy="495300"/>
            </a:xfrm>
            <a:prstGeom prst="rect">
              <a:avLst/>
            </a:prstGeom>
            <a:solidFill>
              <a:schemeClr val="lt1"/>
            </a:solidFill>
            <a:ln w="9525">
              <a:solidFill>
                <a:srgbClr val="D8DDE3"/>
              </a:solidFill>
            </a:ln>
          </p:spPr>
        </p:sp>
        <p:sp>
          <p:nvSpPr>
            <p:cNvPr id="89" name="TextBox 89"/>
            <p:cNvSpPr txBox="1"/>
            <p:nvPr/>
          </p:nvSpPr>
          <p:spPr>
            <a:xfrm>
              <a:off x="6926419" y="4329589"/>
              <a:ext cx="444186" cy="249364"/>
            </a:xfrm>
            <a:prstGeom prst="rect">
              <a:avLst/>
            </a:prstGeom>
            <a:noFill/>
            <a:ln>
              <a:noFill/>
            </a:ln>
          </p:spPr>
          <p:txBody>
            <a:bodyPr wrap="none" lIns="0" tIns="0" rIns="0" bIns="0" anchor="t" anchorCtr="0">
              <a:spAutoFit/>
            </a:bodyPr>
            <a:lstStyle/>
            <a:p>
              <a:pPr algn="ctr"/>
              <a:r>
                <a:rPr lang="ja-JP" sz="1280" dirty="0">
                  <a:solidFill>
                    <a:schemeClr val="dk1"/>
                  </a:solidFill>
                  <a:latin typeface="+mn-lt"/>
                  <a:ea typeface="+mn-ea"/>
                  <a:cs typeface="+mn-cs"/>
                </a:rPr>
                <a:t>0.000</a:t>
              </a:r>
            </a:p>
          </p:txBody>
        </p:sp>
        <p:sp>
          <p:nvSpPr>
            <p:cNvPr id="90" name="Rectangle 90"/>
            <p:cNvSpPr/>
            <p:nvPr/>
          </p:nvSpPr>
          <p:spPr>
            <a:xfrm>
              <a:off x="8029575" y="4143375"/>
              <a:ext cx="1666875" cy="495300"/>
            </a:xfrm>
            <a:prstGeom prst="rect">
              <a:avLst/>
            </a:prstGeom>
            <a:solidFill>
              <a:schemeClr val="lt1"/>
            </a:solidFill>
            <a:ln w="9525">
              <a:solidFill>
                <a:srgbClr val="D8DDE3"/>
              </a:solidFill>
            </a:ln>
          </p:spPr>
        </p:sp>
        <p:sp>
          <p:nvSpPr>
            <p:cNvPr id="91" name="TextBox 91"/>
            <p:cNvSpPr txBox="1"/>
            <p:nvPr/>
          </p:nvSpPr>
          <p:spPr>
            <a:xfrm>
              <a:off x="8564309" y="4329589"/>
              <a:ext cx="597407" cy="249364"/>
            </a:xfrm>
            <a:prstGeom prst="rect">
              <a:avLst/>
            </a:prstGeom>
            <a:noFill/>
            <a:ln>
              <a:noFill/>
            </a:ln>
          </p:spPr>
          <p:txBody>
            <a:bodyPr wrap="none" lIns="0" tIns="0" rIns="0" bIns="0" anchor="t" anchorCtr="0">
              <a:spAutoFit/>
            </a:bodyPr>
            <a:lstStyle/>
            <a:p>
              <a:pPr algn="ctr"/>
              <a:r>
                <a:rPr lang="ja-JP" sz="1280" dirty="0">
                  <a:solidFill>
                    <a:schemeClr val="dk1"/>
                  </a:solidFill>
                  <a:latin typeface="+mn-lt"/>
                  <a:ea typeface="+mn-ea"/>
                  <a:cs typeface="+mn-cs"/>
                </a:rPr>
                <a:t>100.0%</a:t>
              </a:r>
            </a:p>
          </p:txBody>
        </p:sp>
        <p:sp>
          <p:nvSpPr>
            <p:cNvPr id="92" name="Rectangle 92"/>
            <p:cNvSpPr/>
            <p:nvPr/>
          </p:nvSpPr>
          <p:spPr>
            <a:xfrm>
              <a:off x="9696450" y="4143375"/>
              <a:ext cx="1809750" cy="495300"/>
            </a:xfrm>
            <a:prstGeom prst="rect">
              <a:avLst/>
            </a:prstGeom>
            <a:solidFill>
              <a:schemeClr val="lt1"/>
            </a:solidFill>
            <a:ln w="9525">
              <a:solidFill>
                <a:srgbClr val="D8DDE3"/>
              </a:solidFill>
            </a:ln>
          </p:spPr>
        </p:sp>
        <p:sp>
          <p:nvSpPr>
            <p:cNvPr id="93" name="TextBox 93"/>
            <p:cNvSpPr txBox="1"/>
            <p:nvPr/>
          </p:nvSpPr>
          <p:spPr>
            <a:xfrm>
              <a:off x="10379232" y="4329589"/>
              <a:ext cx="444186" cy="249364"/>
            </a:xfrm>
            <a:prstGeom prst="rect">
              <a:avLst/>
            </a:prstGeom>
            <a:noFill/>
            <a:ln>
              <a:noFill/>
            </a:ln>
          </p:spPr>
          <p:txBody>
            <a:bodyPr wrap="none" lIns="0" tIns="0" rIns="0" bIns="0" anchor="t" anchorCtr="0">
              <a:spAutoFit/>
            </a:bodyPr>
            <a:lstStyle/>
            <a:p>
              <a:pPr algn="ctr"/>
              <a:r>
                <a:rPr lang="ja-JP" sz="1280" dirty="0">
                  <a:solidFill>
                    <a:schemeClr val="dk1"/>
                  </a:solidFill>
                  <a:latin typeface="+mn-lt"/>
                  <a:ea typeface="+mn-ea"/>
                  <a:cs typeface="+mn-cs"/>
                </a:rPr>
                <a:t>20.73</a:t>
              </a:r>
            </a:p>
          </p:txBody>
        </p:sp>
        <p:sp>
          <p:nvSpPr>
            <p:cNvPr id="94" name="Rectangle 94"/>
            <p:cNvSpPr/>
            <p:nvPr/>
          </p:nvSpPr>
          <p:spPr>
            <a:xfrm>
              <a:off x="685800" y="4638675"/>
              <a:ext cx="1962150" cy="495300"/>
            </a:xfrm>
            <a:prstGeom prst="rect">
              <a:avLst/>
            </a:prstGeom>
            <a:solidFill>
              <a:srgbClr val="F1FAF4"/>
            </a:solidFill>
            <a:ln w="9525">
              <a:solidFill>
                <a:srgbClr val="D8DDE3"/>
              </a:solidFill>
            </a:ln>
          </p:spPr>
        </p:sp>
        <p:sp>
          <p:nvSpPr>
            <p:cNvPr id="95" name="TextBox 95"/>
            <p:cNvSpPr txBox="1"/>
            <p:nvPr/>
          </p:nvSpPr>
          <p:spPr>
            <a:xfrm>
              <a:off x="831723" y="4824889"/>
              <a:ext cx="1427799" cy="249364"/>
            </a:xfrm>
            <a:prstGeom prst="rect">
              <a:avLst/>
            </a:prstGeom>
            <a:noFill/>
            <a:ln>
              <a:noFill/>
            </a:ln>
          </p:spPr>
          <p:txBody>
            <a:bodyPr wrap="none" lIns="0" tIns="0" rIns="0" bIns="0" anchor="t" anchorCtr="0">
              <a:spAutoFit/>
            </a:bodyPr>
            <a:lstStyle/>
            <a:p>
              <a:pPr algn="l"/>
              <a:r>
                <a:rPr lang="ja-JP" sz="1280" b="1" dirty="0">
                  <a:solidFill>
                    <a:srgbClr val="2E8B57"/>
                  </a:solidFill>
                  <a:latin typeface="+mn-lt"/>
                  <a:ea typeface="+mn-ea"/>
                  <a:cs typeface="+mn-cs"/>
                </a:rPr>
                <a:t>★ FoodStateEdit</a:t>
              </a:r>
            </a:p>
          </p:txBody>
        </p:sp>
        <p:sp>
          <p:nvSpPr>
            <p:cNvPr id="96" name="Rectangle 96"/>
            <p:cNvSpPr/>
            <p:nvPr/>
          </p:nvSpPr>
          <p:spPr>
            <a:xfrm>
              <a:off x="2647950" y="4638675"/>
              <a:ext cx="952500" cy="495300"/>
            </a:xfrm>
            <a:prstGeom prst="rect">
              <a:avLst/>
            </a:prstGeom>
            <a:solidFill>
              <a:srgbClr val="F1FAF4"/>
            </a:solidFill>
            <a:ln w="9525">
              <a:solidFill>
                <a:srgbClr val="D8DDE3"/>
              </a:solidFill>
            </a:ln>
          </p:spPr>
        </p:sp>
        <p:sp>
          <p:nvSpPr>
            <p:cNvPr id="97" name="TextBox 97"/>
            <p:cNvSpPr txBox="1"/>
            <p:nvPr/>
          </p:nvSpPr>
          <p:spPr>
            <a:xfrm>
              <a:off x="2737485" y="4841081"/>
              <a:ext cx="614528" cy="220028"/>
            </a:xfrm>
            <a:prstGeom prst="rect">
              <a:avLst/>
            </a:prstGeom>
            <a:noFill/>
            <a:ln>
              <a:noFill/>
            </a:ln>
          </p:spPr>
          <p:txBody>
            <a:bodyPr wrap="none" lIns="0" tIns="0" rIns="0" bIns="0" anchor="t" anchorCtr="0">
              <a:spAutoFit/>
            </a:bodyPr>
            <a:lstStyle/>
            <a:p>
              <a:pPr algn="l"/>
              <a:r>
                <a:rPr lang="ja-JP" sz="1120" b="1" dirty="0">
                  <a:solidFill>
                    <a:srgbClr val="2E8B57"/>
                  </a:solidFill>
                  <a:latin typeface="+mn-lt"/>
                  <a:ea typeface="+mn-ea"/>
                  <a:cs typeface="+mn-cs"/>
                </a:rPr>
                <a:t>提案手法</a:t>
              </a:r>
            </a:p>
          </p:txBody>
        </p:sp>
        <p:sp>
          <p:nvSpPr>
            <p:cNvPr id="98" name="Rectangle 98"/>
            <p:cNvSpPr/>
            <p:nvPr/>
          </p:nvSpPr>
          <p:spPr>
            <a:xfrm>
              <a:off x="3600450" y="4638675"/>
              <a:ext cx="1333500" cy="495300"/>
            </a:xfrm>
            <a:prstGeom prst="rect">
              <a:avLst/>
            </a:prstGeom>
            <a:solidFill>
              <a:srgbClr val="F1FAF4"/>
            </a:solidFill>
            <a:ln w="9525">
              <a:solidFill>
                <a:srgbClr val="D8DDE3"/>
              </a:solidFill>
            </a:ln>
          </p:spPr>
        </p:sp>
        <p:sp>
          <p:nvSpPr>
            <p:cNvPr id="99" name="TextBox 99"/>
            <p:cNvSpPr txBox="1"/>
            <p:nvPr/>
          </p:nvSpPr>
          <p:spPr>
            <a:xfrm>
              <a:off x="4045107" y="4824889"/>
              <a:ext cx="444186" cy="249364"/>
            </a:xfrm>
            <a:prstGeom prst="rect">
              <a:avLst/>
            </a:prstGeom>
            <a:noFill/>
            <a:ln>
              <a:noFill/>
            </a:ln>
          </p:spPr>
          <p:txBody>
            <a:bodyPr wrap="none" lIns="0" tIns="0" rIns="0" bIns="0" anchor="t" anchorCtr="0">
              <a:spAutoFit/>
            </a:bodyPr>
            <a:lstStyle/>
            <a:p>
              <a:pPr algn="ctr"/>
              <a:r>
                <a:rPr lang="ja-JP" sz="1280" b="1" dirty="0">
                  <a:solidFill>
                    <a:schemeClr val="dk1"/>
                  </a:solidFill>
                  <a:latin typeface="+mn-lt"/>
                  <a:ea typeface="+mn-ea"/>
                  <a:cs typeface="+mn-cs"/>
                </a:rPr>
                <a:t>23.29</a:t>
              </a:r>
            </a:p>
          </p:txBody>
        </p:sp>
        <p:sp>
          <p:nvSpPr>
            <p:cNvPr id="100" name="Rectangle 100"/>
            <p:cNvSpPr/>
            <p:nvPr/>
          </p:nvSpPr>
          <p:spPr>
            <a:xfrm>
              <a:off x="4933950" y="4638675"/>
              <a:ext cx="1333500" cy="495300"/>
            </a:xfrm>
            <a:prstGeom prst="rect">
              <a:avLst/>
            </a:prstGeom>
            <a:solidFill>
              <a:srgbClr val="F1FAF4"/>
            </a:solidFill>
            <a:ln w="9525">
              <a:solidFill>
                <a:srgbClr val="D8DDE3"/>
              </a:solidFill>
            </a:ln>
          </p:spPr>
        </p:sp>
        <p:sp>
          <p:nvSpPr>
            <p:cNvPr id="101" name="TextBox 101"/>
            <p:cNvSpPr txBox="1"/>
            <p:nvPr/>
          </p:nvSpPr>
          <p:spPr>
            <a:xfrm>
              <a:off x="5330687" y="4824889"/>
              <a:ext cx="540027" cy="249364"/>
            </a:xfrm>
            <a:prstGeom prst="rect">
              <a:avLst/>
            </a:prstGeom>
            <a:noFill/>
            <a:ln>
              <a:noFill/>
            </a:ln>
          </p:spPr>
          <p:txBody>
            <a:bodyPr wrap="none" lIns="0" tIns="0" rIns="0" bIns="0" anchor="t" anchorCtr="0">
              <a:spAutoFit/>
            </a:bodyPr>
            <a:lstStyle/>
            <a:p>
              <a:pPr algn="ctr"/>
              <a:r>
                <a:rPr lang="ja-JP" sz="1280" b="1" dirty="0">
                  <a:solidFill>
                    <a:schemeClr val="dk1"/>
                  </a:solidFill>
                  <a:latin typeface="+mn-lt"/>
                  <a:ea typeface="+mn-ea"/>
                  <a:cs typeface="+mn-cs"/>
                </a:rPr>
                <a:t>0.9384</a:t>
              </a:r>
            </a:p>
          </p:txBody>
        </p:sp>
        <p:sp>
          <p:nvSpPr>
            <p:cNvPr id="102" name="Rectangle 102"/>
            <p:cNvSpPr/>
            <p:nvPr/>
          </p:nvSpPr>
          <p:spPr>
            <a:xfrm>
              <a:off x="6267450" y="4638675"/>
              <a:ext cx="1762125" cy="495300"/>
            </a:xfrm>
            <a:prstGeom prst="rect">
              <a:avLst/>
            </a:prstGeom>
            <a:solidFill>
              <a:srgbClr val="F1FAF4"/>
            </a:solidFill>
            <a:ln w="9525">
              <a:solidFill>
                <a:srgbClr val="D8DDE3"/>
              </a:solidFill>
            </a:ln>
          </p:spPr>
        </p:sp>
        <p:sp>
          <p:nvSpPr>
            <p:cNvPr id="103" name="TextBox 103"/>
            <p:cNvSpPr txBox="1"/>
            <p:nvPr/>
          </p:nvSpPr>
          <p:spPr>
            <a:xfrm>
              <a:off x="6926419" y="4824889"/>
              <a:ext cx="444186" cy="249364"/>
            </a:xfrm>
            <a:prstGeom prst="rect">
              <a:avLst/>
            </a:prstGeom>
            <a:noFill/>
            <a:ln>
              <a:noFill/>
            </a:ln>
          </p:spPr>
          <p:txBody>
            <a:bodyPr wrap="none" lIns="0" tIns="0" rIns="0" bIns="0" anchor="t" anchorCtr="0">
              <a:spAutoFit/>
            </a:bodyPr>
            <a:lstStyle/>
            <a:p>
              <a:pPr algn="ctr"/>
              <a:r>
                <a:rPr lang="ja-JP" sz="1280" b="1" dirty="0">
                  <a:solidFill>
                    <a:schemeClr val="dk1"/>
                  </a:solidFill>
                  <a:latin typeface="+mn-lt"/>
                  <a:ea typeface="+mn-ea"/>
                  <a:cs typeface="+mn-cs"/>
                </a:rPr>
                <a:t>0.000</a:t>
              </a:r>
            </a:p>
          </p:txBody>
        </p:sp>
        <p:sp>
          <p:nvSpPr>
            <p:cNvPr id="104" name="Rectangle 104"/>
            <p:cNvSpPr/>
            <p:nvPr/>
          </p:nvSpPr>
          <p:spPr>
            <a:xfrm>
              <a:off x="8029575" y="4638675"/>
              <a:ext cx="1666875" cy="495300"/>
            </a:xfrm>
            <a:prstGeom prst="rect">
              <a:avLst/>
            </a:prstGeom>
            <a:solidFill>
              <a:srgbClr val="F1FAF4"/>
            </a:solidFill>
            <a:ln w="9525">
              <a:solidFill>
                <a:srgbClr val="D8DDE3"/>
              </a:solidFill>
            </a:ln>
          </p:spPr>
        </p:sp>
        <p:sp>
          <p:nvSpPr>
            <p:cNvPr id="105" name="TextBox 105"/>
            <p:cNvSpPr txBox="1"/>
            <p:nvPr/>
          </p:nvSpPr>
          <p:spPr>
            <a:xfrm>
              <a:off x="8564309" y="4824889"/>
              <a:ext cx="597407" cy="249364"/>
            </a:xfrm>
            <a:prstGeom prst="rect">
              <a:avLst/>
            </a:prstGeom>
            <a:noFill/>
            <a:ln>
              <a:noFill/>
            </a:ln>
          </p:spPr>
          <p:txBody>
            <a:bodyPr wrap="none" lIns="0" tIns="0" rIns="0" bIns="0" anchor="t" anchorCtr="0">
              <a:spAutoFit/>
            </a:bodyPr>
            <a:lstStyle/>
            <a:p>
              <a:pPr algn="ctr"/>
              <a:r>
                <a:rPr lang="ja-JP" sz="1280" b="1" dirty="0">
                  <a:solidFill>
                    <a:schemeClr val="dk1"/>
                  </a:solidFill>
                  <a:latin typeface="+mn-lt"/>
                  <a:ea typeface="+mn-ea"/>
                  <a:cs typeface="+mn-cs"/>
                </a:rPr>
                <a:t>100.0%</a:t>
              </a:r>
            </a:p>
          </p:txBody>
        </p:sp>
        <p:sp>
          <p:nvSpPr>
            <p:cNvPr id="106" name="Rectangle 106"/>
            <p:cNvSpPr/>
            <p:nvPr/>
          </p:nvSpPr>
          <p:spPr>
            <a:xfrm>
              <a:off x="9696450" y="4638675"/>
              <a:ext cx="1809750" cy="495300"/>
            </a:xfrm>
            <a:prstGeom prst="rect">
              <a:avLst/>
            </a:prstGeom>
            <a:solidFill>
              <a:srgbClr val="F1FAF4"/>
            </a:solidFill>
            <a:ln w="9525">
              <a:solidFill>
                <a:srgbClr val="D8DDE3"/>
              </a:solidFill>
            </a:ln>
          </p:spPr>
        </p:sp>
        <p:sp>
          <p:nvSpPr>
            <p:cNvPr id="107" name="TextBox 107"/>
            <p:cNvSpPr txBox="1"/>
            <p:nvPr/>
          </p:nvSpPr>
          <p:spPr>
            <a:xfrm>
              <a:off x="10379232" y="4824889"/>
              <a:ext cx="444186" cy="249364"/>
            </a:xfrm>
            <a:prstGeom prst="rect">
              <a:avLst/>
            </a:prstGeom>
            <a:noFill/>
            <a:ln>
              <a:noFill/>
            </a:ln>
          </p:spPr>
          <p:txBody>
            <a:bodyPr wrap="none" lIns="0" tIns="0" rIns="0" bIns="0" anchor="t" anchorCtr="0">
              <a:spAutoFit/>
            </a:bodyPr>
            <a:lstStyle/>
            <a:p>
              <a:pPr algn="ctr"/>
              <a:r>
                <a:rPr lang="ja-JP" sz="1280" b="1" dirty="0">
                  <a:solidFill>
                    <a:schemeClr val="dk1"/>
                  </a:solidFill>
                  <a:latin typeface="+mn-lt"/>
                  <a:ea typeface="+mn-ea"/>
                  <a:cs typeface="+mn-cs"/>
                </a:rPr>
                <a:t>25.86</a:t>
              </a:r>
            </a:p>
          </p:txBody>
        </p:sp>
        <p:sp>
          <p:nvSpPr>
            <p:cNvPr id="108" name="Rectangle 108"/>
            <p:cNvSpPr/>
            <p:nvPr/>
          </p:nvSpPr>
          <p:spPr>
            <a:xfrm>
              <a:off x="685800" y="5353050"/>
              <a:ext cx="10820400" cy="590550"/>
            </a:xfrm>
            <a:prstGeom prst="roundRect">
              <a:avLst>
                <a:gd name="adj" fmla="val 8065"/>
              </a:avLst>
            </a:prstGeom>
            <a:solidFill>
              <a:srgbClr val="F1FAF4"/>
            </a:solidFill>
            <a:ln w="19050">
              <a:solidFill>
                <a:srgbClr val="2E8B57"/>
              </a:solidFill>
            </a:ln>
          </p:spPr>
        </p:sp>
        <p:sp>
          <p:nvSpPr>
            <p:cNvPr id="109" name="TextBox 109"/>
            <p:cNvSpPr txBox="1"/>
            <p:nvPr/>
          </p:nvSpPr>
          <p:spPr>
            <a:xfrm>
              <a:off x="3630929" y="5438775"/>
              <a:ext cx="4930143" cy="293370"/>
            </a:xfrm>
            <a:prstGeom prst="rect">
              <a:avLst/>
            </a:prstGeom>
            <a:noFill/>
            <a:ln>
              <a:noFill/>
            </a:ln>
          </p:spPr>
          <p:txBody>
            <a:bodyPr wrap="none" lIns="0" tIns="0" rIns="0" bIns="0" anchor="t" anchorCtr="0">
              <a:spAutoFit/>
            </a:bodyPr>
            <a:lstStyle/>
            <a:p>
              <a:pPr algn="ctr"/>
              <a:r>
                <a:rPr lang="ja-JP" sz="1500" b="1" dirty="0">
                  <a:solidFill>
                    <a:srgbClr val="2E8B57"/>
                  </a:solidFill>
                  <a:latin typeface="+mn-lt"/>
                  <a:ea typeface="+mn-ea"/>
                  <a:cs typeface="+mn-cs"/>
                </a:rPr>
                <a:t>FoodStateEditは非編集領域を完全に保持しながら、</a:t>
              </a:r>
            </a:p>
          </p:txBody>
        </p:sp>
        <p:sp>
          <p:nvSpPr>
            <p:cNvPr id="110" name="TextBox 110"/>
            <p:cNvSpPr txBox="1"/>
            <p:nvPr/>
          </p:nvSpPr>
          <p:spPr>
            <a:xfrm>
              <a:off x="3115894" y="5686425"/>
              <a:ext cx="5960212" cy="293370"/>
            </a:xfrm>
            <a:prstGeom prst="rect">
              <a:avLst/>
            </a:prstGeom>
            <a:noFill/>
            <a:ln>
              <a:noFill/>
            </a:ln>
          </p:spPr>
          <p:txBody>
            <a:bodyPr wrap="none" lIns="0" tIns="0" rIns="0" bIns="0" anchor="t" anchorCtr="0">
              <a:spAutoFit/>
            </a:bodyPr>
            <a:lstStyle/>
            <a:p>
              <a:pPr algn="ctr"/>
              <a:r>
                <a:rPr lang="ja-JP" sz="1500" b="1" dirty="0">
                  <a:solidFill>
                    <a:srgbClr val="2E8B57"/>
                  </a:solidFill>
                  <a:latin typeface="+mn-lt"/>
                  <a:ea typeface="+mn-ea"/>
                  <a:cs typeface="+mn-cs"/>
                </a:rPr>
                <a:t>比較したVACE系条件の中で操作対象領域に最大の変化を与えた。</a:t>
              </a:r>
            </a:p>
          </p:txBody>
        </p:sp>
        <p:sp>
          <p:nvSpPr>
            <p:cNvPr id="111" name="TextBox 111"/>
            <p:cNvSpPr txBox="1"/>
            <p:nvPr/>
          </p:nvSpPr>
          <p:spPr>
            <a:xfrm>
              <a:off x="680466" y="6077902"/>
              <a:ext cx="7108342" cy="205359"/>
            </a:xfrm>
            <a:prstGeom prst="rect">
              <a:avLst/>
            </a:prstGeom>
            <a:noFill/>
            <a:ln>
              <a:noFill/>
            </a:ln>
          </p:spPr>
          <p:txBody>
            <a:bodyPr wrap="none" lIns="0" tIns="0" rIns="0" bIns="0" anchor="t" anchorCtr="0">
              <a:spAutoFit/>
            </a:bodyPr>
            <a:lstStyle/>
            <a:p>
              <a:pPr algn="l"/>
              <a:r>
                <a:rPr lang="ja-JP" sz="1050" b="1" dirty="0">
                  <a:solidFill>
                    <a:schemeClr val="accent2"/>
                  </a:solidFill>
                  <a:latin typeface="+mn-lt"/>
                  <a:ea typeface="+mn-ea"/>
                  <a:cs typeface="+mn-cs"/>
                </a:rPr>
                <a:t>※ 変化量は動作成功率ではない。4例×3 seedsの選択済み開発データ。Action・Photo・Strictは統一採点中。</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400050"/>
            <a:ext cx="10820400" cy="9525"/>
          </a:xfrm>
          <a:custGeom>
            <a:avLst/>
            <a:gdLst/>
            <a:ahLst/>
            <a:cxnLst/>
            <a:rect l="l" t="t" r="r" b="b"/>
            <a:pathLst>
              <a:path w="10820400" h="9525">
                <a:moveTo>
                  <a:pt x="0" y="0"/>
                </a:moveTo>
                <a:lnTo>
                  <a:pt x="10820400" y="0"/>
                </a:lnTo>
              </a:path>
            </a:pathLst>
          </a:custGeom>
          <a:noFill/>
          <a:ln w="19050">
            <a:solidFill>
              <a:srgbClr val="D8DDE3"/>
            </a:solidFill>
          </a:ln>
        </p:spPr>
      </p:sp>
      <p:sp>
        <p:nvSpPr>
          <p:cNvPr id="3" name="TextBox 3"/>
          <p:cNvSpPr txBox="1"/>
          <p:nvPr/>
        </p:nvSpPr>
        <p:spPr>
          <a:xfrm>
            <a:off x="679704" y="594360"/>
            <a:ext cx="926226" cy="234696"/>
          </a:xfrm>
          <a:prstGeom prst="rect">
            <a:avLst/>
          </a:prstGeom>
          <a:noFill/>
          <a:ln>
            <a:noFill/>
          </a:ln>
        </p:spPr>
        <p:txBody>
          <a:bodyPr wrap="none" lIns="0" tIns="0" rIns="0" bIns="0" anchor="t" anchorCtr="0">
            <a:spAutoFit/>
          </a:bodyPr>
          <a:lstStyle/>
          <a:p>
            <a:pPr algn="l"/>
            <a:r>
              <a:rPr lang="ja-JP" sz="1200" b="1" spc="135" dirty="0">
                <a:solidFill>
                  <a:schemeClr val="accent1"/>
                </a:solidFill>
                <a:latin typeface="+mn-lt"/>
                <a:ea typeface="+mn-ea"/>
                <a:cs typeface="+mn-cs"/>
              </a:rPr>
              <a:t>ABLATION</a:t>
            </a:r>
          </a:p>
        </p:txBody>
      </p:sp>
      <p:sp>
        <p:nvSpPr>
          <p:cNvPr id="4" name="TextBox 4"/>
          <p:cNvSpPr txBox="1"/>
          <p:nvPr/>
        </p:nvSpPr>
        <p:spPr>
          <a:xfrm>
            <a:off x="669798" y="831533"/>
            <a:ext cx="5968746" cy="616077"/>
          </a:xfrm>
          <a:prstGeom prst="rect">
            <a:avLst/>
          </a:prstGeom>
          <a:noFill/>
          <a:ln>
            <a:noFill/>
          </a:ln>
        </p:spPr>
        <p:txBody>
          <a:bodyPr wrap="none" lIns="0" tIns="0" rIns="0" bIns="0" anchor="t" anchorCtr="0">
            <a:spAutoFit/>
          </a:bodyPr>
          <a:lstStyle/>
          <a:p>
            <a:pPr algn="l"/>
            <a:r>
              <a:rPr lang="ja-JP" sz="3150" b="1" dirty="0">
                <a:solidFill>
                  <a:schemeClr val="dk1"/>
                </a:solidFill>
                <a:latin typeface="+mn-lt"/>
                <a:ea typeface="+mn-ea"/>
                <a:cs typeface="+mn-cs"/>
              </a:rPr>
              <a:t>消融実験：制御条件の定量比較</a:t>
            </a:r>
          </a:p>
        </p:txBody>
      </p:sp>
      <p:sp>
        <p:nvSpPr>
          <p:cNvPr id="5" name="Rectangle 5"/>
          <p:cNvSpPr/>
          <p:nvPr/>
        </p:nvSpPr>
        <p:spPr>
          <a:xfrm>
            <a:off x="685800" y="1352550"/>
            <a:ext cx="704850" cy="38100"/>
          </a:xfrm>
          <a:prstGeom prst="rect">
            <a:avLst/>
          </a:prstGeom>
          <a:solidFill>
            <a:schemeClr val="accent1"/>
          </a:solidFill>
          <a:ln>
            <a:noFill/>
          </a:ln>
        </p:spPr>
      </p:sp>
      <p:sp>
        <p:nvSpPr>
          <p:cNvPr id="6" name="TextBox 6"/>
          <p:cNvSpPr txBox="1"/>
          <p:nvPr/>
        </p:nvSpPr>
        <p:spPr>
          <a:xfrm>
            <a:off x="680466" y="6420802"/>
            <a:ext cx="2129538" cy="205359"/>
          </a:xfrm>
          <a:prstGeom prst="rect">
            <a:avLst/>
          </a:prstGeom>
          <a:noFill/>
          <a:ln>
            <a:noFill/>
          </a:ln>
        </p:spPr>
        <p:txBody>
          <a:bodyPr wrap="none" lIns="0" tIns="0" rIns="0" bIns="0" anchor="t" anchorCtr="0">
            <a:spAutoFit/>
          </a:bodyPr>
          <a:lstStyle/>
          <a:p>
            <a:pPr algn="l"/>
            <a:r>
              <a:rPr lang="ja-JP" sz="1050" dirty="0">
                <a:solidFill>
                  <a:schemeClr val="accent6"/>
                </a:solidFill>
                <a:latin typeface="+mn-lt"/>
                <a:ea typeface="+mn-ea"/>
                <a:cs typeface="+mn-cs"/>
              </a:rPr>
              <a:t>FoodStateEdit｜メディア情報学</a:t>
            </a:r>
          </a:p>
        </p:txBody>
      </p:sp>
      <p:sp>
        <p:nvSpPr>
          <p:cNvPr id="7" name="TextBox 7"/>
          <p:cNvSpPr txBox="1"/>
          <p:nvPr/>
        </p:nvSpPr>
        <p:spPr>
          <a:xfrm>
            <a:off x="11320402" y="6404610"/>
            <a:ext cx="191894" cy="234696"/>
          </a:xfrm>
          <a:prstGeom prst="rect">
            <a:avLst/>
          </a:prstGeom>
          <a:noFill/>
          <a:ln>
            <a:noFill/>
          </a:ln>
        </p:spPr>
        <p:txBody>
          <a:bodyPr wrap="none" lIns="0" tIns="0" rIns="0" bIns="0" anchor="t" anchorCtr="0">
            <a:spAutoFit/>
          </a:bodyPr>
          <a:lstStyle/>
          <a:p>
            <a:pPr algn="r"/>
            <a:r>
              <a:rPr lang="ja-JP" sz="1200" b="1" dirty="0">
                <a:solidFill>
                  <a:schemeClr val="accent1"/>
                </a:solidFill>
                <a:latin typeface="+mn-lt"/>
                <a:ea typeface="+mn-ea"/>
                <a:cs typeface="+mn-cs"/>
              </a:rPr>
              <a:t>12</a:t>
            </a:r>
          </a:p>
        </p:txBody>
      </p:sp>
      <p:grpSp>
        <p:nvGrpSpPr>
          <p:cNvPr id="77" name="ablation-table"/>
          <p:cNvGrpSpPr/>
          <p:nvPr/>
        </p:nvGrpSpPr>
        <p:grpSpPr>
          <a:xfrm>
            <a:off x="678180" y="1457325"/>
            <a:ext cx="10828020" cy="4756309"/>
            <a:chOff x="678180" y="1457325"/>
            <a:chExt cx="10828020" cy="4756309"/>
          </a:xfrm>
        </p:grpSpPr>
        <p:sp>
          <p:nvSpPr>
            <p:cNvPr id="8" name="TextBox 8"/>
            <p:cNvSpPr txBox="1"/>
            <p:nvPr/>
          </p:nvSpPr>
          <p:spPr>
            <a:xfrm>
              <a:off x="678180" y="1457325"/>
              <a:ext cx="4738888" cy="293370"/>
            </a:xfrm>
            <a:prstGeom prst="rect">
              <a:avLst/>
            </a:prstGeom>
            <a:noFill/>
            <a:ln>
              <a:noFill/>
            </a:ln>
          </p:spPr>
          <p:txBody>
            <a:bodyPr wrap="none" lIns="0" tIns="0" rIns="0" bIns="0" anchor="t" anchorCtr="0">
              <a:spAutoFit/>
            </a:bodyPr>
            <a:lstStyle/>
            <a:p>
              <a:pPr algn="l"/>
              <a:r>
                <a:rPr lang="ja-JP" sz="1500" b="1" dirty="0">
                  <a:solidFill>
                    <a:schemeClr val="accent1"/>
                  </a:solidFill>
                  <a:latin typeface="+mn-lt"/>
                  <a:ea typeface="+mn-ea"/>
                  <a:cs typeface="+mn-cs"/>
                </a:rPr>
                <a:t>4 food cases × 3 seeds｜同一入力・同一生成条件</a:t>
              </a:r>
            </a:p>
          </p:txBody>
        </p:sp>
        <p:sp>
          <p:nvSpPr>
            <p:cNvPr id="9" name="Rectangle 9"/>
            <p:cNvSpPr/>
            <p:nvPr/>
          </p:nvSpPr>
          <p:spPr>
            <a:xfrm>
              <a:off x="685800" y="1828800"/>
              <a:ext cx="10820400" cy="2800350"/>
            </a:xfrm>
            <a:prstGeom prst="roundRect">
              <a:avLst>
                <a:gd name="adj" fmla="val 1361"/>
              </a:avLst>
            </a:prstGeom>
            <a:solidFill>
              <a:schemeClr val="lt1"/>
            </a:solidFill>
            <a:ln w="19050">
              <a:solidFill>
                <a:srgbClr val="D8DDE3"/>
              </a:solidFill>
            </a:ln>
          </p:spPr>
        </p:sp>
        <p:sp>
          <p:nvSpPr>
            <p:cNvPr id="10" name="Rectangle 10"/>
            <p:cNvSpPr/>
            <p:nvPr/>
          </p:nvSpPr>
          <p:spPr>
            <a:xfrm>
              <a:off x="685800" y="1828800"/>
              <a:ext cx="3333750" cy="514350"/>
            </a:xfrm>
            <a:prstGeom prst="rect">
              <a:avLst/>
            </a:prstGeom>
            <a:solidFill>
              <a:srgbClr val="365F7D"/>
            </a:solidFill>
            <a:ln w="9525">
              <a:solidFill>
                <a:srgbClr val="365F7D"/>
              </a:solidFill>
            </a:ln>
          </p:spPr>
        </p:sp>
        <p:sp>
          <p:nvSpPr>
            <p:cNvPr id="11" name="TextBox 11"/>
            <p:cNvSpPr txBox="1"/>
            <p:nvPr/>
          </p:nvSpPr>
          <p:spPr>
            <a:xfrm>
              <a:off x="831723" y="2024539"/>
              <a:ext cx="357581" cy="249364"/>
            </a:xfrm>
            <a:prstGeom prst="rect">
              <a:avLst/>
            </a:prstGeom>
            <a:noFill/>
            <a:ln>
              <a:noFill/>
            </a:ln>
          </p:spPr>
          <p:txBody>
            <a:bodyPr wrap="none" lIns="0" tIns="0" rIns="0" bIns="0" anchor="t" anchorCtr="0">
              <a:spAutoFit/>
            </a:bodyPr>
            <a:lstStyle/>
            <a:p>
              <a:pPr algn="l"/>
              <a:r>
                <a:rPr lang="ja-JP" sz="1280" b="1" dirty="0">
                  <a:solidFill>
                    <a:srgbClr val="FFFFFF"/>
                  </a:solidFill>
                  <a:latin typeface="+mn-lt"/>
                  <a:ea typeface="+mn-ea"/>
                  <a:cs typeface="+mn-cs"/>
                </a:rPr>
                <a:t>条件</a:t>
              </a:r>
            </a:p>
          </p:txBody>
        </p:sp>
        <p:sp>
          <p:nvSpPr>
            <p:cNvPr id="12" name="Rectangle 12"/>
            <p:cNvSpPr/>
            <p:nvPr/>
          </p:nvSpPr>
          <p:spPr>
            <a:xfrm>
              <a:off x="4019550" y="1828800"/>
              <a:ext cx="857250" cy="514350"/>
            </a:xfrm>
            <a:prstGeom prst="rect">
              <a:avLst/>
            </a:prstGeom>
            <a:solidFill>
              <a:srgbClr val="365F7D"/>
            </a:solidFill>
            <a:ln w="9525">
              <a:solidFill>
                <a:srgbClr val="365F7D"/>
              </a:solidFill>
            </a:ln>
          </p:spPr>
        </p:sp>
        <p:sp>
          <p:nvSpPr>
            <p:cNvPr id="13" name="TextBox 13"/>
            <p:cNvSpPr txBox="1"/>
            <p:nvPr/>
          </p:nvSpPr>
          <p:spPr>
            <a:xfrm>
              <a:off x="4389073" y="2024539"/>
              <a:ext cx="118203" cy="249364"/>
            </a:xfrm>
            <a:prstGeom prst="rect">
              <a:avLst/>
            </a:prstGeom>
            <a:noFill/>
            <a:ln>
              <a:noFill/>
            </a:ln>
          </p:spPr>
          <p:txBody>
            <a:bodyPr wrap="none" lIns="0" tIns="0" rIns="0" bIns="0" anchor="t" anchorCtr="0">
              <a:spAutoFit/>
            </a:bodyPr>
            <a:lstStyle/>
            <a:p>
              <a:pPr algn="ctr"/>
              <a:r>
                <a:rPr lang="ja-JP" sz="1280" b="1" dirty="0">
                  <a:solidFill>
                    <a:srgbClr val="FFFFFF"/>
                  </a:solidFill>
                  <a:latin typeface="+mn-lt"/>
                  <a:ea typeface="+mn-ea"/>
                  <a:cs typeface="+mn-cs"/>
                </a:rPr>
                <a:t>n</a:t>
              </a:r>
            </a:p>
          </p:txBody>
        </p:sp>
        <p:sp>
          <p:nvSpPr>
            <p:cNvPr id="14" name="Rectangle 14"/>
            <p:cNvSpPr/>
            <p:nvPr/>
          </p:nvSpPr>
          <p:spPr>
            <a:xfrm>
              <a:off x="4876800" y="1828800"/>
              <a:ext cx="1428750" cy="514350"/>
            </a:xfrm>
            <a:prstGeom prst="rect">
              <a:avLst/>
            </a:prstGeom>
            <a:solidFill>
              <a:srgbClr val="365F7D"/>
            </a:solidFill>
            <a:ln w="9525">
              <a:solidFill>
                <a:srgbClr val="365F7D"/>
              </a:solidFill>
            </a:ln>
          </p:spPr>
        </p:sp>
        <p:sp>
          <p:nvSpPr>
            <p:cNvPr id="15" name="TextBox 15"/>
            <p:cNvSpPr txBox="1"/>
            <p:nvPr/>
          </p:nvSpPr>
          <p:spPr>
            <a:xfrm>
              <a:off x="5260964" y="2024539"/>
              <a:ext cx="660421" cy="249364"/>
            </a:xfrm>
            <a:prstGeom prst="rect">
              <a:avLst/>
            </a:prstGeom>
            <a:noFill/>
            <a:ln>
              <a:noFill/>
            </a:ln>
          </p:spPr>
          <p:txBody>
            <a:bodyPr wrap="none" lIns="0" tIns="0" rIns="0" bIns="0" anchor="t" anchorCtr="0">
              <a:spAutoFit/>
            </a:bodyPr>
            <a:lstStyle/>
            <a:p>
              <a:pPr algn="ctr"/>
              <a:r>
                <a:rPr lang="ja-JP" sz="1280" b="1" dirty="0">
                  <a:solidFill>
                    <a:srgbClr val="FFFFFF"/>
                  </a:solidFill>
                  <a:latin typeface="+mn-lt"/>
                  <a:ea typeface="+mn-ea"/>
                  <a:cs typeface="+mn-cs"/>
                </a:rPr>
                <a:t>PSNR ↑</a:t>
              </a:r>
            </a:p>
          </p:txBody>
        </p:sp>
        <p:sp>
          <p:nvSpPr>
            <p:cNvPr id="16" name="Rectangle 16"/>
            <p:cNvSpPr/>
            <p:nvPr/>
          </p:nvSpPr>
          <p:spPr>
            <a:xfrm>
              <a:off x="6305550" y="1828800"/>
              <a:ext cx="1428750" cy="514350"/>
            </a:xfrm>
            <a:prstGeom prst="rect">
              <a:avLst/>
            </a:prstGeom>
            <a:solidFill>
              <a:srgbClr val="365F7D"/>
            </a:solidFill>
            <a:ln w="9525">
              <a:solidFill>
                <a:srgbClr val="365F7D"/>
              </a:solidFill>
            </a:ln>
          </p:spPr>
        </p:sp>
        <p:sp>
          <p:nvSpPr>
            <p:cNvPr id="17" name="TextBox 17"/>
            <p:cNvSpPr txBox="1"/>
            <p:nvPr/>
          </p:nvSpPr>
          <p:spPr>
            <a:xfrm>
              <a:off x="6720083" y="2024539"/>
              <a:ext cx="599684" cy="249364"/>
            </a:xfrm>
            <a:prstGeom prst="rect">
              <a:avLst/>
            </a:prstGeom>
            <a:noFill/>
            <a:ln>
              <a:noFill/>
            </a:ln>
          </p:spPr>
          <p:txBody>
            <a:bodyPr wrap="none" lIns="0" tIns="0" rIns="0" bIns="0" anchor="t" anchorCtr="0">
              <a:spAutoFit/>
            </a:bodyPr>
            <a:lstStyle/>
            <a:p>
              <a:pPr algn="ctr"/>
              <a:r>
                <a:rPr lang="ja-JP" sz="1280" b="1" dirty="0">
                  <a:solidFill>
                    <a:srgbClr val="FFFFFF"/>
                  </a:solidFill>
                  <a:latin typeface="+mn-lt"/>
                  <a:ea typeface="+mn-ea"/>
                  <a:cs typeface="+mn-cs"/>
                </a:rPr>
                <a:t>SSIM ↑</a:t>
              </a:r>
            </a:p>
          </p:txBody>
        </p:sp>
        <p:sp>
          <p:nvSpPr>
            <p:cNvPr id="18" name="Rectangle 18"/>
            <p:cNvSpPr/>
            <p:nvPr/>
          </p:nvSpPr>
          <p:spPr>
            <a:xfrm>
              <a:off x="7734300" y="1828800"/>
              <a:ext cx="2095500" cy="514350"/>
            </a:xfrm>
            <a:prstGeom prst="rect">
              <a:avLst/>
            </a:prstGeom>
            <a:solidFill>
              <a:srgbClr val="365F7D"/>
            </a:solidFill>
            <a:ln w="9525">
              <a:solidFill>
                <a:srgbClr val="365F7D"/>
              </a:solidFill>
            </a:ln>
          </p:spPr>
        </p:sp>
        <p:sp>
          <p:nvSpPr>
            <p:cNvPr id="19" name="TextBox 19"/>
            <p:cNvSpPr txBox="1"/>
            <p:nvPr/>
          </p:nvSpPr>
          <p:spPr>
            <a:xfrm>
              <a:off x="7944891" y="2024539"/>
              <a:ext cx="1674317" cy="249364"/>
            </a:xfrm>
            <a:prstGeom prst="rect">
              <a:avLst/>
            </a:prstGeom>
            <a:noFill/>
            <a:ln>
              <a:noFill/>
            </a:ln>
          </p:spPr>
          <p:txBody>
            <a:bodyPr wrap="none" lIns="0" tIns="0" rIns="0" bIns="0" anchor="t" anchorCtr="0">
              <a:spAutoFit/>
            </a:bodyPr>
            <a:lstStyle/>
            <a:p>
              <a:pPr algn="ctr"/>
              <a:r>
                <a:rPr lang="ja-JP" sz="1280" b="1" dirty="0">
                  <a:solidFill>
                    <a:srgbClr val="FFFFFF"/>
                  </a:solidFill>
                  <a:latin typeface="+mn-lt"/>
                  <a:ea typeface="+mn-ea"/>
                  <a:cs typeface="+mn-cs"/>
                </a:rPr>
                <a:t>編集領域内変化 MAE</a:t>
              </a:r>
            </a:p>
          </p:txBody>
        </p:sp>
        <p:sp>
          <p:nvSpPr>
            <p:cNvPr id="20" name="Rectangle 20"/>
            <p:cNvSpPr/>
            <p:nvPr/>
          </p:nvSpPr>
          <p:spPr>
            <a:xfrm>
              <a:off x="9829800" y="1828800"/>
              <a:ext cx="1676400" cy="514350"/>
            </a:xfrm>
            <a:prstGeom prst="rect">
              <a:avLst/>
            </a:prstGeom>
            <a:solidFill>
              <a:srgbClr val="365F7D"/>
            </a:solidFill>
            <a:ln w="9525">
              <a:solidFill>
                <a:srgbClr val="365F7D"/>
              </a:solidFill>
            </a:ln>
          </p:spPr>
        </p:sp>
        <p:sp>
          <p:nvSpPr>
            <p:cNvPr id="21" name="TextBox 21"/>
            <p:cNvSpPr txBox="1"/>
            <p:nvPr/>
          </p:nvSpPr>
          <p:spPr>
            <a:xfrm>
              <a:off x="9991413" y="2024539"/>
              <a:ext cx="1353175" cy="249364"/>
            </a:xfrm>
            <a:prstGeom prst="rect">
              <a:avLst/>
            </a:prstGeom>
            <a:noFill/>
            <a:ln>
              <a:noFill/>
            </a:ln>
          </p:spPr>
          <p:txBody>
            <a:bodyPr wrap="none" lIns="0" tIns="0" rIns="0" bIns="0" anchor="t" anchorCtr="0">
              <a:spAutoFit/>
            </a:bodyPr>
            <a:lstStyle/>
            <a:p>
              <a:pPr algn="ctr"/>
              <a:r>
                <a:rPr lang="ja-JP" sz="1280" b="1" dirty="0">
                  <a:solidFill>
                    <a:srgbClr val="FFFFFF"/>
                  </a:solidFill>
                  <a:latin typeface="+mn-lt"/>
                  <a:ea typeface="+mn-ea"/>
                  <a:cs typeface="+mn-cs"/>
                </a:rPr>
                <a:t>領域外完全保持 ↑</a:t>
              </a:r>
            </a:p>
          </p:txBody>
        </p:sp>
        <p:sp>
          <p:nvSpPr>
            <p:cNvPr id="22" name="Rectangle 22"/>
            <p:cNvSpPr/>
            <p:nvPr/>
          </p:nvSpPr>
          <p:spPr>
            <a:xfrm>
              <a:off x="685800" y="2343150"/>
              <a:ext cx="3333750" cy="571500"/>
            </a:xfrm>
            <a:prstGeom prst="rect">
              <a:avLst/>
            </a:prstGeom>
            <a:solidFill>
              <a:schemeClr val="lt1"/>
            </a:solidFill>
            <a:ln w="9525">
              <a:solidFill>
                <a:srgbClr val="D8DDE3"/>
              </a:solidFill>
            </a:ln>
          </p:spPr>
        </p:sp>
        <p:sp>
          <p:nvSpPr>
            <p:cNvPr id="23" name="TextBox 23"/>
            <p:cNvSpPr txBox="1"/>
            <p:nvPr/>
          </p:nvSpPr>
          <p:spPr>
            <a:xfrm>
              <a:off x="831342" y="2559368"/>
              <a:ext cx="1145801" cy="264033"/>
            </a:xfrm>
            <a:prstGeom prst="rect">
              <a:avLst/>
            </a:prstGeom>
            <a:noFill/>
            <a:ln>
              <a:noFill/>
            </a:ln>
          </p:spPr>
          <p:txBody>
            <a:bodyPr wrap="none" lIns="0" tIns="0" rIns="0" bIns="0" anchor="t" anchorCtr="0">
              <a:spAutoFit/>
            </a:bodyPr>
            <a:lstStyle/>
            <a:p>
              <a:pPr algn="l"/>
              <a:r>
                <a:rPr lang="ja-JP" sz="1350" b="1" dirty="0">
                  <a:solidFill>
                    <a:schemeClr val="dk1"/>
                  </a:solidFill>
                  <a:latin typeface="+mn-lt"/>
                  <a:ea typeface="+mn-ea"/>
                  <a:cs typeface="+mn-cs"/>
                </a:rPr>
                <a:t>Native VACE</a:t>
              </a:r>
            </a:p>
          </p:txBody>
        </p:sp>
        <p:sp>
          <p:nvSpPr>
            <p:cNvPr id="24" name="Rectangle 24"/>
            <p:cNvSpPr/>
            <p:nvPr/>
          </p:nvSpPr>
          <p:spPr>
            <a:xfrm>
              <a:off x="4019550" y="2343150"/>
              <a:ext cx="857250" cy="571500"/>
            </a:xfrm>
            <a:prstGeom prst="rect">
              <a:avLst/>
            </a:prstGeom>
            <a:solidFill>
              <a:schemeClr val="lt1"/>
            </a:solidFill>
            <a:ln w="9525">
              <a:solidFill>
                <a:srgbClr val="D8DDE3"/>
              </a:solidFill>
            </a:ln>
          </p:spPr>
        </p:sp>
        <p:sp>
          <p:nvSpPr>
            <p:cNvPr id="25" name="TextBox 25"/>
            <p:cNvSpPr txBox="1"/>
            <p:nvPr/>
          </p:nvSpPr>
          <p:spPr>
            <a:xfrm>
              <a:off x="4340235" y="2559368"/>
              <a:ext cx="215880" cy="264033"/>
            </a:xfrm>
            <a:prstGeom prst="rect">
              <a:avLst/>
            </a:prstGeom>
            <a:noFill/>
            <a:ln>
              <a:noFill/>
            </a:ln>
          </p:spPr>
          <p:txBody>
            <a:bodyPr wrap="none" lIns="0" tIns="0" rIns="0" bIns="0" anchor="t" anchorCtr="0">
              <a:spAutoFit/>
            </a:bodyPr>
            <a:lstStyle/>
            <a:p>
              <a:pPr algn="ctr"/>
              <a:r>
                <a:rPr lang="ja-JP" sz="1350" dirty="0">
                  <a:solidFill>
                    <a:schemeClr val="dk1"/>
                  </a:solidFill>
                  <a:latin typeface="+mn-lt"/>
                  <a:ea typeface="+mn-ea"/>
                  <a:cs typeface="+mn-cs"/>
                </a:rPr>
                <a:t>12</a:t>
              </a:r>
            </a:p>
          </p:txBody>
        </p:sp>
        <p:sp>
          <p:nvSpPr>
            <p:cNvPr id="26" name="Rectangle 26"/>
            <p:cNvSpPr/>
            <p:nvPr/>
          </p:nvSpPr>
          <p:spPr>
            <a:xfrm>
              <a:off x="4876800" y="2343150"/>
              <a:ext cx="1428750" cy="571500"/>
            </a:xfrm>
            <a:prstGeom prst="rect">
              <a:avLst/>
            </a:prstGeom>
            <a:solidFill>
              <a:schemeClr val="lt1"/>
            </a:solidFill>
            <a:ln w="9525">
              <a:solidFill>
                <a:srgbClr val="D8DDE3"/>
              </a:solidFill>
            </a:ln>
          </p:spPr>
        </p:sp>
        <p:sp>
          <p:nvSpPr>
            <p:cNvPr id="27" name="TextBox 27"/>
            <p:cNvSpPr txBox="1"/>
            <p:nvPr/>
          </p:nvSpPr>
          <p:spPr>
            <a:xfrm>
              <a:off x="5356909" y="2559368"/>
              <a:ext cx="468531" cy="264033"/>
            </a:xfrm>
            <a:prstGeom prst="rect">
              <a:avLst/>
            </a:prstGeom>
            <a:noFill/>
            <a:ln>
              <a:noFill/>
            </a:ln>
          </p:spPr>
          <p:txBody>
            <a:bodyPr wrap="none" lIns="0" tIns="0" rIns="0" bIns="0" anchor="t" anchorCtr="0">
              <a:spAutoFit/>
            </a:bodyPr>
            <a:lstStyle/>
            <a:p>
              <a:pPr algn="ctr"/>
              <a:r>
                <a:rPr lang="ja-JP" sz="1350" dirty="0">
                  <a:solidFill>
                    <a:schemeClr val="dk1"/>
                  </a:solidFill>
                  <a:latin typeface="+mn-lt"/>
                  <a:ea typeface="+mn-ea"/>
                  <a:cs typeface="+mn-cs"/>
                </a:rPr>
                <a:t>34.60</a:t>
              </a:r>
            </a:p>
          </p:txBody>
        </p:sp>
        <p:sp>
          <p:nvSpPr>
            <p:cNvPr id="28" name="Rectangle 28"/>
            <p:cNvSpPr/>
            <p:nvPr/>
          </p:nvSpPr>
          <p:spPr>
            <a:xfrm>
              <a:off x="6305550" y="2343150"/>
              <a:ext cx="1428750" cy="571500"/>
            </a:xfrm>
            <a:prstGeom prst="rect">
              <a:avLst/>
            </a:prstGeom>
            <a:solidFill>
              <a:schemeClr val="lt1"/>
            </a:solidFill>
            <a:ln w="9525">
              <a:solidFill>
                <a:srgbClr val="D8DDE3"/>
              </a:solidFill>
            </a:ln>
          </p:spPr>
        </p:sp>
        <p:sp>
          <p:nvSpPr>
            <p:cNvPr id="29" name="TextBox 29"/>
            <p:cNvSpPr txBox="1"/>
            <p:nvPr/>
          </p:nvSpPr>
          <p:spPr>
            <a:xfrm>
              <a:off x="6735118" y="2559368"/>
              <a:ext cx="569613" cy="264033"/>
            </a:xfrm>
            <a:prstGeom prst="rect">
              <a:avLst/>
            </a:prstGeom>
            <a:noFill/>
            <a:ln>
              <a:noFill/>
            </a:ln>
          </p:spPr>
          <p:txBody>
            <a:bodyPr wrap="none" lIns="0" tIns="0" rIns="0" bIns="0" anchor="t" anchorCtr="0">
              <a:spAutoFit/>
            </a:bodyPr>
            <a:lstStyle/>
            <a:p>
              <a:pPr algn="ctr"/>
              <a:r>
                <a:rPr lang="ja-JP" sz="1350" dirty="0">
                  <a:solidFill>
                    <a:schemeClr val="dk1"/>
                  </a:solidFill>
                  <a:latin typeface="+mn-lt"/>
                  <a:ea typeface="+mn-ea"/>
                  <a:cs typeface="+mn-cs"/>
                </a:rPr>
                <a:t>0.9823</a:t>
              </a:r>
            </a:p>
          </p:txBody>
        </p:sp>
        <p:sp>
          <p:nvSpPr>
            <p:cNvPr id="30" name="Rectangle 30"/>
            <p:cNvSpPr/>
            <p:nvPr/>
          </p:nvSpPr>
          <p:spPr>
            <a:xfrm>
              <a:off x="7734300" y="2343150"/>
              <a:ext cx="2095500" cy="571500"/>
            </a:xfrm>
            <a:prstGeom prst="rect">
              <a:avLst/>
            </a:prstGeom>
            <a:solidFill>
              <a:schemeClr val="lt1"/>
            </a:solidFill>
            <a:ln w="9525">
              <a:solidFill>
                <a:srgbClr val="D8DDE3"/>
              </a:solidFill>
            </a:ln>
          </p:spPr>
        </p:sp>
        <p:sp>
          <p:nvSpPr>
            <p:cNvPr id="31" name="TextBox 31"/>
            <p:cNvSpPr txBox="1"/>
            <p:nvPr/>
          </p:nvSpPr>
          <p:spPr>
            <a:xfrm>
              <a:off x="8598326" y="2559368"/>
              <a:ext cx="367449" cy="264033"/>
            </a:xfrm>
            <a:prstGeom prst="rect">
              <a:avLst/>
            </a:prstGeom>
            <a:noFill/>
            <a:ln>
              <a:noFill/>
            </a:ln>
          </p:spPr>
          <p:txBody>
            <a:bodyPr wrap="none" lIns="0" tIns="0" rIns="0" bIns="0" anchor="t" anchorCtr="0">
              <a:spAutoFit/>
            </a:bodyPr>
            <a:lstStyle/>
            <a:p>
              <a:pPr algn="ctr"/>
              <a:r>
                <a:rPr lang="ja-JP" sz="1350" dirty="0">
                  <a:solidFill>
                    <a:schemeClr val="dk1"/>
                  </a:solidFill>
                  <a:latin typeface="+mn-lt"/>
                  <a:ea typeface="+mn-ea"/>
                  <a:cs typeface="+mn-cs"/>
                </a:rPr>
                <a:t>8.33</a:t>
              </a:r>
            </a:p>
          </p:txBody>
        </p:sp>
        <p:sp>
          <p:nvSpPr>
            <p:cNvPr id="32" name="Rectangle 32"/>
            <p:cNvSpPr/>
            <p:nvPr/>
          </p:nvSpPr>
          <p:spPr>
            <a:xfrm>
              <a:off x="9829800" y="2343150"/>
              <a:ext cx="1676400" cy="571500"/>
            </a:xfrm>
            <a:prstGeom prst="rect">
              <a:avLst/>
            </a:prstGeom>
            <a:solidFill>
              <a:schemeClr val="lt1"/>
            </a:solidFill>
            <a:ln w="9525">
              <a:solidFill>
                <a:srgbClr val="D8DDE3"/>
              </a:solidFill>
            </a:ln>
          </p:spPr>
        </p:sp>
        <p:sp>
          <p:nvSpPr>
            <p:cNvPr id="33" name="TextBox 33"/>
            <p:cNvSpPr txBox="1"/>
            <p:nvPr/>
          </p:nvSpPr>
          <p:spPr>
            <a:xfrm>
              <a:off x="10352934" y="2559368"/>
              <a:ext cx="630132" cy="264033"/>
            </a:xfrm>
            <a:prstGeom prst="rect">
              <a:avLst/>
            </a:prstGeom>
            <a:noFill/>
            <a:ln>
              <a:noFill/>
            </a:ln>
          </p:spPr>
          <p:txBody>
            <a:bodyPr wrap="none" lIns="0" tIns="0" rIns="0" bIns="0" anchor="t" anchorCtr="0">
              <a:spAutoFit/>
            </a:bodyPr>
            <a:lstStyle/>
            <a:p>
              <a:pPr algn="ctr"/>
              <a:r>
                <a:rPr lang="ja-JP" sz="1350" dirty="0">
                  <a:solidFill>
                    <a:schemeClr val="dk1"/>
                  </a:solidFill>
                  <a:latin typeface="+mn-lt"/>
                  <a:ea typeface="+mn-ea"/>
                  <a:cs typeface="+mn-cs"/>
                </a:rPr>
                <a:t>100.0%</a:t>
              </a:r>
            </a:p>
          </p:txBody>
        </p:sp>
        <p:sp>
          <p:nvSpPr>
            <p:cNvPr id="34" name="Rectangle 34"/>
            <p:cNvSpPr/>
            <p:nvPr/>
          </p:nvSpPr>
          <p:spPr>
            <a:xfrm>
              <a:off x="685800" y="2914650"/>
              <a:ext cx="3333750" cy="571500"/>
            </a:xfrm>
            <a:prstGeom prst="rect">
              <a:avLst/>
            </a:prstGeom>
            <a:solidFill>
              <a:srgbClr val="F4F7FA"/>
            </a:solidFill>
            <a:ln w="9525">
              <a:solidFill>
                <a:srgbClr val="D8DDE3"/>
              </a:solidFill>
            </a:ln>
          </p:spPr>
        </p:sp>
        <p:sp>
          <p:nvSpPr>
            <p:cNvPr id="35" name="TextBox 35"/>
            <p:cNvSpPr txBox="1"/>
            <p:nvPr/>
          </p:nvSpPr>
          <p:spPr>
            <a:xfrm>
              <a:off x="831342" y="3130868"/>
              <a:ext cx="1393800" cy="264033"/>
            </a:xfrm>
            <a:prstGeom prst="rect">
              <a:avLst/>
            </a:prstGeom>
            <a:noFill/>
            <a:ln>
              <a:noFill/>
            </a:ln>
          </p:spPr>
          <p:txBody>
            <a:bodyPr wrap="none" lIns="0" tIns="0" rIns="0" bIns="0" anchor="t" anchorCtr="0">
              <a:spAutoFit/>
            </a:bodyPr>
            <a:lstStyle/>
            <a:p>
              <a:pPr algn="l"/>
              <a:r>
                <a:rPr lang="ja-JP" sz="1350" b="1" dirty="0">
                  <a:solidFill>
                    <a:schemeClr val="dk1"/>
                  </a:solidFill>
                  <a:latin typeface="+mn-lt"/>
                  <a:ea typeface="+mn-ea"/>
                  <a:cs typeface="+mn-cs"/>
                </a:rPr>
                <a:t>2D planar proxy</a:t>
              </a:r>
            </a:p>
          </p:txBody>
        </p:sp>
        <p:sp>
          <p:nvSpPr>
            <p:cNvPr id="36" name="Rectangle 36"/>
            <p:cNvSpPr/>
            <p:nvPr/>
          </p:nvSpPr>
          <p:spPr>
            <a:xfrm>
              <a:off x="4019550" y="2914650"/>
              <a:ext cx="857250" cy="571500"/>
            </a:xfrm>
            <a:prstGeom prst="rect">
              <a:avLst/>
            </a:prstGeom>
            <a:solidFill>
              <a:srgbClr val="F4F7FA"/>
            </a:solidFill>
            <a:ln w="9525">
              <a:solidFill>
                <a:srgbClr val="D8DDE3"/>
              </a:solidFill>
            </a:ln>
          </p:spPr>
        </p:sp>
        <p:sp>
          <p:nvSpPr>
            <p:cNvPr id="37" name="TextBox 37"/>
            <p:cNvSpPr txBox="1"/>
            <p:nvPr/>
          </p:nvSpPr>
          <p:spPr>
            <a:xfrm>
              <a:off x="4340235" y="3130868"/>
              <a:ext cx="215880" cy="264033"/>
            </a:xfrm>
            <a:prstGeom prst="rect">
              <a:avLst/>
            </a:prstGeom>
            <a:noFill/>
            <a:ln>
              <a:noFill/>
            </a:ln>
          </p:spPr>
          <p:txBody>
            <a:bodyPr wrap="none" lIns="0" tIns="0" rIns="0" bIns="0" anchor="t" anchorCtr="0">
              <a:spAutoFit/>
            </a:bodyPr>
            <a:lstStyle/>
            <a:p>
              <a:pPr algn="ctr"/>
              <a:r>
                <a:rPr lang="ja-JP" sz="1350" dirty="0">
                  <a:solidFill>
                    <a:schemeClr val="dk1"/>
                  </a:solidFill>
                  <a:latin typeface="+mn-lt"/>
                  <a:ea typeface="+mn-ea"/>
                  <a:cs typeface="+mn-cs"/>
                </a:rPr>
                <a:t>12</a:t>
              </a:r>
            </a:p>
          </p:txBody>
        </p:sp>
        <p:sp>
          <p:nvSpPr>
            <p:cNvPr id="38" name="Rectangle 38"/>
            <p:cNvSpPr/>
            <p:nvPr/>
          </p:nvSpPr>
          <p:spPr>
            <a:xfrm>
              <a:off x="4876800" y="2914650"/>
              <a:ext cx="1428750" cy="571500"/>
            </a:xfrm>
            <a:prstGeom prst="rect">
              <a:avLst/>
            </a:prstGeom>
            <a:solidFill>
              <a:srgbClr val="F4F7FA"/>
            </a:solidFill>
            <a:ln w="9525">
              <a:solidFill>
                <a:srgbClr val="D8DDE3"/>
              </a:solidFill>
            </a:ln>
          </p:spPr>
        </p:sp>
        <p:sp>
          <p:nvSpPr>
            <p:cNvPr id="39" name="TextBox 39"/>
            <p:cNvSpPr txBox="1"/>
            <p:nvPr/>
          </p:nvSpPr>
          <p:spPr>
            <a:xfrm>
              <a:off x="5356909" y="3130868"/>
              <a:ext cx="468531" cy="264033"/>
            </a:xfrm>
            <a:prstGeom prst="rect">
              <a:avLst/>
            </a:prstGeom>
            <a:noFill/>
            <a:ln>
              <a:noFill/>
            </a:ln>
          </p:spPr>
          <p:txBody>
            <a:bodyPr wrap="none" lIns="0" tIns="0" rIns="0" bIns="0" anchor="t" anchorCtr="0">
              <a:spAutoFit/>
            </a:bodyPr>
            <a:lstStyle/>
            <a:p>
              <a:pPr algn="ctr"/>
              <a:r>
                <a:rPr lang="ja-JP" sz="1350" dirty="0">
                  <a:solidFill>
                    <a:schemeClr val="dk1"/>
                  </a:solidFill>
                  <a:latin typeface="+mn-lt"/>
                  <a:ea typeface="+mn-ea"/>
                  <a:cs typeface="+mn-cs"/>
                </a:rPr>
                <a:t>24.86</a:t>
              </a:r>
            </a:p>
          </p:txBody>
        </p:sp>
        <p:sp>
          <p:nvSpPr>
            <p:cNvPr id="40" name="Rectangle 40"/>
            <p:cNvSpPr/>
            <p:nvPr/>
          </p:nvSpPr>
          <p:spPr>
            <a:xfrm>
              <a:off x="6305550" y="2914650"/>
              <a:ext cx="1428750" cy="571500"/>
            </a:xfrm>
            <a:prstGeom prst="rect">
              <a:avLst/>
            </a:prstGeom>
            <a:solidFill>
              <a:srgbClr val="F4F7FA"/>
            </a:solidFill>
            <a:ln w="9525">
              <a:solidFill>
                <a:srgbClr val="D8DDE3"/>
              </a:solidFill>
            </a:ln>
          </p:spPr>
        </p:sp>
        <p:sp>
          <p:nvSpPr>
            <p:cNvPr id="41" name="TextBox 41"/>
            <p:cNvSpPr txBox="1"/>
            <p:nvPr/>
          </p:nvSpPr>
          <p:spPr>
            <a:xfrm>
              <a:off x="6735118" y="3130868"/>
              <a:ext cx="569613" cy="264033"/>
            </a:xfrm>
            <a:prstGeom prst="rect">
              <a:avLst/>
            </a:prstGeom>
            <a:noFill/>
            <a:ln>
              <a:noFill/>
            </a:ln>
          </p:spPr>
          <p:txBody>
            <a:bodyPr wrap="none" lIns="0" tIns="0" rIns="0" bIns="0" anchor="t" anchorCtr="0">
              <a:spAutoFit/>
            </a:bodyPr>
            <a:lstStyle/>
            <a:p>
              <a:pPr algn="ctr"/>
              <a:r>
                <a:rPr lang="ja-JP" sz="1350" dirty="0">
                  <a:solidFill>
                    <a:schemeClr val="dk1"/>
                  </a:solidFill>
                  <a:latin typeface="+mn-lt"/>
                  <a:ea typeface="+mn-ea"/>
                  <a:cs typeface="+mn-cs"/>
                </a:rPr>
                <a:t>0.9473</a:t>
              </a:r>
            </a:p>
          </p:txBody>
        </p:sp>
        <p:sp>
          <p:nvSpPr>
            <p:cNvPr id="42" name="Rectangle 42"/>
            <p:cNvSpPr/>
            <p:nvPr/>
          </p:nvSpPr>
          <p:spPr>
            <a:xfrm>
              <a:off x="7734300" y="2914650"/>
              <a:ext cx="2095500" cy="571500"/>
            </a:xfrm>
            <a:prstGeom prst="rect">
              <a:avLst/>
            </a:prstGeom>
            <a:solidFill>
              <a:srgbClr val="F4F7FA"/>
            </a:solidFill>
            <a:ln w="9525">
              <a:solidFill>
                <a:srgbClr val="D8DDE3"/>
              </a:solidFill>
            </a:ln>
          </p:spPr>
        </p:sp>
        <p:sp>
          <p:nvSpPr>
            <p:cNvPr id="43" name="TextBox 43"/>
            <p:cNvSpPr txBox="1"/>
            <p:nvPr/>
          </p:nvSpPr>
          <p:spPr>
            <a:xfrm>
              <a:off x="8547784" y="3130868"/>
              <a:ext cx="468531" cy="264033"/>
            </a:xfrm>
            <a:prstGeom prst="rect">
              <a:avLst/>
            </a:prstGeom>
            <a:noFill/>
            <a:ln>
              <a:noFill/>
            </a:ln>
          </p:spPr>
          <p:txBody>
            <a:bodyPr wrap="none" lIns="0" tIns="0" rIns="0" bIns="0" anchor="t" anchorCtr="0">
              <a:spAutoFit/>
            </a:bodyPr>
            <a:lstStyle/>
            <a:p>
              <a:pPr algn="ctr"/>
              <a:r>
                <a:rPr lang="ja-JP" sz="1350" dirty="0">
                  <a:solidFill>
                    <a:schemeClr val="dk1"/>
                  </a:solidFill>
                  <a:latin typeface="+mn-lt"/>
                  <a:ea typeface="+mn-ea"/>
                  <a:cs typeface="+mn-cs"/>
                </a:rPr>
                <a:t>20.18</a:t>
              </a:r>
            </a:p>
          </p:txBody>
        </p:sp>
        <p:sp>
          <p:nvSpPr>
            <p:cNvPr id="44" name="Rectangle 44"/>
            <p:cNvSpPr/>
            <p:nvPr/>
          </p:nvSpPr>
          <p:spPr>
            <a:xfrm>
              <a:off x="9829800" y="2914650"/>
              <a:ext cx="1676400" cy="571500"/>
            </a:xfrm>
            <a:prstGeom prst="rect">
              <a:avLst/>
            </a:prstGeom>
            <a:solidFill>
              <a:srgbClr val="F4F7FA"/>
            </a:solidFill>
            <a:ln w="9525">
              <a:solidFill>
                <a:srgbClr val="D8DDE3"/>
              </a:solidFill>
            </a:ln>
          </p:spPr>
        </p:sp>
        <p:sp>
          <p:nvSpPr>
            <p:cNvPr id="45" name="TextBox 45"/>
            <p:cNvSpPr txBox="1"/>
            <p:nvPr/>
          </p:nvSpPr>
          <p:spPr>
            <a:xfrm>
              <a:off x="10352934" y="3130868"/>
              <a:ext cx="630132" cy="264033"/>
            </a:xfrm>
            <a:prstGeom prst="rect">
              <a:avLst/>
            </a:prstGeom>
            <a:noFill/>
            <a:ln>
              <a:noFill/>
            </a:ln>
          </p:spPr>
          <p:txBody>
            <a:bodyPr wrap="none" lIns="0" tIns="0" rIns="0" bIns="0" anchor="t" anchorCtr="0">
              <a:spAutoFit/>
            </a:bodyPr>
            <a:lstStyle/>
            <a:p>
              <a:pPr algn="ctr"/>
              <a:r>
                <a:rPr lang="ja-JP" sz="1350" dirty="0">
                  <a:solidFill>
                    <a:schemeClr val="dk1"/>
                  </a:solidFill>
                  <a:latin typeface="+mn-lt"/>
                  <a:ea typeface="+mn-ea"/>
                  <a:cs typeface="+mn-cs"/>
                </a:rPr>
                <a:t>100.0%</a:t>
              </a:r>
            </a:p>
          </p:txBody>
        </p:sp>
        <p:sp>
          <p:nvSpPr>
            <p:cNvPr id="46" name="Rectangle 46"/>
            <p:cNvSpPr/>
            <p:nvPr/>
          </p:nvSpPr>
          <p:spPr>
            <a:xfrm>
              <a:off x="685800" y="3486150"/>
              <a:ext cx="3333750" cy="571500"/>
            </a:xfrm>
            <a:prstGeom prst="rect">
              <a:avLst/>
            </a:prstGeom>
            <a:solidFill>
              <a:schemeClr val="lt1"/>
            </a:solidFill>
            <a:ln w="9525">
              <a:solidFill>
                <a:srgbClr val="D8DDE3"/>
              </a:solidFill>
            </a:ln>
          </p:spPr>
        </p:sp>
        <p:sp>
          <p:nvSpPr>
            <p:cNvPr id="47" name="TextBox 47"/>
            <p:cNvSpPr txBox="1"/>
            <p:nvPr/>
          </p:nvSpPr>
          <p:spPr>
            <a:xfrm>
              <a:off x="831342" y="3702368"/>
              <a:ext cx="1362693" cy="264033"/>
            </a:xfrm>
            <a:prstGeom prst="rect">
              <a:avLst/>
            </a:prstGeom>
            <a:noFill/>
            <a:ln>
              <a:noFill/>
            </a:ln>
          </p:spPr>
          <p:txBody>
            <a:bodyPr wrap="none" lIns="0" tIns="0" rIns="0" bIns="0" anchor="t" anchorCtr="0">
              <a:spAutoFit/>
            </a:bodyPr>
            <a:lstStyle/>
            <a:p>
              <a:pPr algn="l"/>
              <a:r>
                <a:rPr lang="ja-JP" sz="1350" b="1" dirty="0">
                  <a:solidFill>
                    <a:schemeClr val="dk1"/>
                  </a:solidFill>
                  <a:latin typeface="+mn-lt"/>
                  <a:ea typeface="+mn-ea"/>
                  <a:cs typeface="+mn-cs"/>
                </a:rPr>
                <a:t>fixed relative3D</a:t>
              </a:r>
            </a:p>
          </p:txBody>
        </p:sp>
        <p:sp>
          <p:nvSpPr>
            <p:cNvPr id="48" name="Rectangle 48"/>
            <p:cNvSpPr/>
            <p:nvPr/>
          </p:nvSpPr>
          <p:spPr>
            <a:xfrm>
              <a:off x="4019550" y="3486150"/>
              <a:ext cx="857250" cy="571500"/>
            </a:xfrm>
            <a:prstGeom prst="rect">
              <a:avLst/>
            </a:prstGeom>
            <a:solidFill>
              <a:schemeClr val="lt1"/>
            </a:solidFill>
            <a:ln w="9525">
              <a:solidFill>
                <a:srgbClr val="D8DDE3"/>
              </a:solidFill>
            </a:ln>
          </p:spPr>
        </p:sp>
        <p:sp>
          <p:nvSpPr>
            <p:cNvPr id="49" name="TextBox 49"/>
            <p:cNvSpPr txBox="1"/>
            <p:nvPr/>
          </p:nvSpPr>
          <p:spPr>
            <a:xfrm>
              <a:off x="4340235" y="3702368"/>
              <a:ext cx="215880" cy="264033"/>
            </a:xfrm>
            <a:prstGeom prst="rect">
              <a:avLst/>
            </a:prstGeom>
            <a:noFill/>
            <a:ln>
              <a:noFill/>
            </a:ln>
          </p:spPr>
          <p:txBody>
            <a:bodyPr wrap="none" lIns="0" tIns="0" rIns="0" bIns="0" anchor="t" anchorCtr="0">
              <a:spAutoFit/>
            </a:bodyPr>
            <a:lstStyle/>
            <a:p>
              <a:pPr algn="ctr"/>
              <a:r>
                <a:rPr lang="ja-JP" sz="1350" dirty="0">
                  <a:solidFill>
                    <a:schemeClr val="dk1"/>
                  </a:solidFill>
                  <a:latin typeface="+mn-lt"/>
                  <a:ea typeface="+mn-ea"/>
                  <a:cs typeface="+mn-cs"/>
                </a:rPr>
                <a:t>12</a:t>
              </a:r>
            </a:p>
          </p:txBody>
        </p:sp>
        <p:sp>
          <p:nvSpPr>
            <p:cNvPr id="50" name="Rectangle 50"/>
            <p:cNvSpPr/>
            <p:nvPr/>
          </p:nvSpPr>
          <p:spPr>
            <a:xfrm>
              <a:off x="4876800" y="3486150"/>
              <a:ext cx="1428750" cy="571500"/>
            </a:xfrm>
            <a:prstGeom prst="rect">
              <a:avLst/>
            </a:prstGeom>
            <a:solidFill>
              <a:schemeClr val="lt1"/>
            </a:solidFill>
            <a:ln w="9525">
              <a:solidFill>
                <a:srgbClr val="D8DDE3"/>
              </a:solidFill>
            </a:ln>
          </p:spPr>
        </p:sp>
        <p:sp>
          <p:nvSpPr>
            <p:cNvPr id="51" name="TextBox 51"/>
            <p:cNvSpPr txBox="1"/>
            <p:nvPr/>
          </p:nvSpPr>
          <p:spPr>
            <a:xfrm>
              <a:off x="5356909" y="3702368"/>
              <a:ext cx="468531" cy="264033"/>
            </a:xfrm>
            <a:prstGeom prst="rect">
              <a:avLst/>
            </a:prstGeom>
            <a:noFill/>
            <a:ln>
              <a:noFill/>
            </a:ln>
          </p:spPr>
          <p:txBody>
            <a:bodyPr wrap="none" lIns="0" tIns="0" rIns="0" bIns="0" anchor="t" anchorCtr="0">
              <a:spAutoFit/>
            </a:bodyPr>
            <a:lstStyle/>
            <a:p>
              <a:pPr algn="ctr"/>
              <a:r>
                <a:rPr lang="ja-JP" sz="1350" dirty="0">
                  <a:solidFill>
                    <a:schemeClr val="dk1"/>
                  </a:solidFill>
                  <a:latin typeface="+mn-lt"/>
                  <a:ea typeface="+mn-ea"/>
                  <a:cs typeface="+mn-cs"/>
                </a:rPr>
                <a:t>24.60</a:t>
              </a:r>
            </a:p>
          </p:txBody>
        </p:sp>
        <p:sp>
          <p:nvSpPr>
            <p:cNvPr id="52" name="Rectangle 52"/>
            <p:cNvSpPr/>
            <p:nvPr/>
          </p:nvSpPr>
          <p:spPr>
            <a:xfrm>
              <a:off x="6305550" y="3486150"/>
              <a:ext cx="1428750" cy="571500"/>
            </a:xfrm>
            <a:prstGeom prst="rect">
              <a:avLst/>
            </a:prstGeom>
            <a:solidFill>
              <a:schemeClr val="lt1"/>
            </a:solidFill>
            <a:ln w="9525">
              <a:solidFill>
                <a:srgbClr val="D8DDE3"/>
              </a:solidFill>
            </a:ln>
          </p:spPr>
        </p:sp>
        <p:sp>
          <p:nvSpPr>
            <p:cNvPr id="53" name="TextBox 53"/>
            <p:cNvSpPr txBox="1"/>
            <p:nvPr/>
          </p:nvSpPr>
          <p:spPr>
            <a:xfrm>
              <a:off x="6735118" y="3702368"/>
              <a:ext cx="569613" cy="264033"/>
            </a:xfrm>
            <a:prstGeom prst="rect">
              <a:avLst/>
            </a:prstGeom>
            <a:noFill/>
            <a:ln>
              <a:noFill/>
            </a:ln>
          </p:spPr>
          <p:txBody>
            <a:bodyPr wrap="none" lIns="0" tIns="0" rIns="0" bIns="0" anchor="t" anchorCtr="0">
              <a:spAutoFit/>
            </a:bodyPr>
            <a:lstStyle/>
            <a:p>
              <a:pPr algn="ctr"/>
              <a:r>
                <a:rPr lang="ja-JP" sz="1350" dirty="0">
                  <a:solidFill>
                    <a:schemeClr val="dk1"/>
                  </a:solidFill>
                  <a:latin typeface="+mn-lt"/>
                  <a:ea typeface="+mn-ea"/>
                  <a:cs typeface="+mn-cs"/>
                </a:rPr>
                <a:t>0.9452</a:t>
              </a:r>
            </a:p>
          </p:txBody>
        </p:sp>
        <p:sp>
          <p:nvSpPr>
            <p:cNvPr id="54" name="Rectangle 54"/>
            <p:cNvSpPr/>
            <p:nvPr/>
          </p:nvSpPr>
          <p:spPr>
            <a:xfrm>
              <a:off x="7734300" y="3486150"/>
              <a:ext cx="2095500" cy="571500"/>
            </a:xfrm>
            <a:prstGeom prst="rect">
              <a:avLst/>
            </a:prstGeom>
            <a:solidFill>
              <a:schemeClr val="lt1"/>
            </a:solidFill>
            <a:ln w="9525">
              <a:solidFill>
                <a:srgbClr val="D8DDE3"/>
              </a:solidFill>
            </a:ln>
          </p:spPr>
        </p:sp>
        <p:sp>
          <p:nvSpPr>
            <p:cNvPr id="55" name="TextBox 55"/>
            <p:cNvSpPr txBox="1"/>
            <p:nvPr/>
          </p:nvSpPr>
          <p:spPr>
            <a:xfrm>
              <a:off x="8547784" y="3702368"/>
              <a:ext cx="468531" cy="264033"/>
            </a:xfrm>
            <a:prstGeom prst="rect">
              <a:avLst/>
            </a:prstGeom>
            <a:noFill/>
            <a:ln>
              <a:noFill/>
            </a:ln>
          </p:spPr>
          <p:txBody>
            <a:bodyPr wrap="none" lIns="0" tIns="0" rIns="0" bIns="0" anchor="t" anchorCtr="0">
              <a:spAutoFit/>
            </a:bodyPr>
            <a:lstStyle/>
            <a:p>
              <a:pPr algn="ctr"/>
              <a:r>
                <a:rPr lang="ja-JP" sz="1350" dirty="0">
                  <a:solidFill>
                    <a:schemeClr val="dk1"/>
                  </a:solidFill>
                  <a:latin typeface="+mn-lt"/>
                  <a:ea typeface="+mn-ea"/>
                  <a:cs typeface="+mn-cs"/>
                </a:rPr>
                <a:t>20.73</a:t>
              </a:r>
            </a:p>
          </p:txBody>
        </p:sp>
        <p:sp>
          <p:nvSpPr>
            <p:cNvPr id="56" name="Rectangle 56"/>
            <p:cNvSpPr/>
            <p:nvPr/>
          </p:nvSpPr>
          <p:spPr>
            <a:xfrm>
              <a:off x="9829800" y="3486150"/>
              <a:ext cx="1676400" cy="571500"/>
            </a:xfrm>
            <a:prstGeom prst="rect">
              <a:avLst/>
            </a:prstGeom>
            <a:solidFill>
              <a:schemeClr val="lt1"/>
            </a:solidFill>
            <a:ln w="9525">
              <a:solidFill>
                <a:srgbClr val="D8DDE3"/>
              </a:solidFill>
            </a:ln>
          </p:spPr>
        </p:sp>
        <p:sp>
          <p:nvSpPr>
            <p:cNvPr id="57" name="TextBox 57"/>
            <p:cNvSpPr txBox="1"/>
            <p:nvPr/>
          </p:nvSpPr>
          <p:spPr>
            <a:xfrm>
              <a:off x="10352934" y="3702368"/>
              <a:ext cx="630132" cy="264033"/>
            </a:xfrm>
            <a:prstGeom prst="rect">
              <a:avLst/>
            </a:prstGeom>
            <a:noFill/>
            <a:ln>
              <a:noFill/>
            </a:ln>
          </p:spPr>
          <p:txBody>
            <a:bodyPr wrap="none" lIns="0" tIns="0" rIns="0" bIns="0" anchor="t" anchorCtr="0">
              <a:spAutoFit/>
            </a:bodyPr>
            <a:lstStyle/>
            <a:p>
              <a:pPr algn="ctr"/>
              <a:r>
                <a:rPr lang="ja-JP" sz="1350" dirty="0">
                  <a:solidFill>
                    <a:schemeClr val="dk1"/>
                  </a:solidFill>
                  <a:latin typeface="+mn-lt"/>
                  <a:ea typeface="+mn-ea"/>
                  <a:cs typeface="+mn-cs"/>
                </a:rPr>
                <a:t>100.0%</a:t>
              </a:r>
            </a:p>
          </p:txBody>
        </p:sp>
        <p:sp>
          <p:nvSpPr>
            <p:cNvPr id="58" name="Rectangle 58"/>
            <p:cNvSpPr/>
            <p:nvPr/>
          </p:nvSpPr>
          <p:spPr>
            <a:xfrm>
              <a:off x="685800" y="4057650"/>
              <a:ext cx="3333750" cy="571500"/>
            </a:xfrm>
            <a:prstGeom prst="rect">
              <a:avLst/>
            </a:prstGeom>
            <a:solidFill>
              <a:srgbClr val="F1FAF4"/>
            </a:solidFill>
            <a:ln w="19050">
              <a:solidFill>
                <a:srgbClr val="2E8B57"/>
              </a:solidFill>
            </a:ln>
          </p:spPr>
        </p:sp>
        <p:sp>
          <p:nvSpPr>
            <p:cNvPr id="59" name="TextBox 59"/>
            <p:cNvSpPr txBox="1"/>
            <p:nvPr/>
          </p:nvSpPr>
          <p:spPr>
            <a:xfrm>
              <a:off x="831342" y="4273868"/>
              <a:ext cx="3468993" cy="264033"/>
            </a:xfrm>
            <a:prstGeom prst="rect">
              <a:avLst/>
            </a:prstGeom>
            <a:noFill/>
            <a:ln>
              <a:noFill/>
            </a:ln>
          </p:spPr>
          <p:txBody>
            <a:bodyPr wrap="none" lIns="0" tIns="0" rIns="0" bIns="0" anchor="t" anchorCtr="0">
              <a:spAutoFit/>
            </a:bodyPr>
            <a:lstStyle/>
            <a:p>
              <a:pPr algn="l"/>
              <a:r>
                <a:rPr lang="ja-JP" sz="1350" b="1" dirty="0">
                  <a:solidFill>
                    <a:srgbClr val="2E8B57"/>
                  </a:solidFill>
                  <a:latin typeface="+mn-lt"/>
                  <a:ea typeface="+mn-ea"/>
                  <a:cs typeface="+mn-cs"/>
                </a:rPr>
                <a:t>★ material-adaptive relative3D（Ours）</a:t>
              </a:r>
            </a:p>
          </p:txBody>
        </p:sp>
        <p:sp>
          <p:nvSpPr>
            <p:cNvPr id="60" name="Rectangle 60"/>
            <p:cNvSpPr/>
            <p:nvPr/>
          </p:nvSpPr>
          <p:spPr>
            <a:xfrm>
              <a:off x="4019550" y="4057650"/>
              <a:ext cx="857250" cy="571500"/>
            </a:xfrm>
            <a:prstGeom prst="rect">
              <a:avLst/>
            </a:prstGeom>
            <a:solidFill>
              <a:srgbClr val="F1FAF4"/>
            </a:solidFill>
            <a:ln w="19050">
              <a:solidFill>
                <a:srgbClr val="2E8B57"/>
              </a:solidFill>
            </a:ln>
          </p:spPr>
        </p:sp>
        <p:sp>
          <p:nvSpPr>
            <p:cNvPr id="61" name="TextBox 61"/>
            <p:cNvSpPr txBox="1"/>
            <p:nvPr/>
          </p:nvSpPr>
          <p:spPr>
            <a:xfrm>
              <a:off x="4340235" y="4273868"/>
              <a:ext cx="215880" cy="264033"/>
            </a:xfrm>
            <a:prstGeom prst="rect">
              <a:avLst/>
            </a:prstGeom>
            <a:noFill/>
            <a:ln>
              <a:noFill/>
            </a:ln>
          </p:spPr>
          <p:txBody>
            <a:bodyPr wrap="none" lIns="0" tIns="0" rIns="0" bIns="0" anchor="t" anchorCtr="0">
              <a:spAutoFit/>
            </a:bodyPr>
            <a:lstStyle/>
            <a:p>
              <a:pPr algn="ctr"/>
              <a:r>
                <a:rPr lang="ja-JP" sz="1350" b="1" dirty="0">
                  <a:solidFill>
                    <a:srgbClr val="2E8B57"/>
                  </a:solidFill>
                  <a:latin typeface="+mn-lt"/>
                  <a:ea typeface="+mn-ea"/>
                  <a:cs typeface="+mn-cs"/>
                </a:rPr>
                <a:t>12</a:t>
              </a:r>
            </a:p>
          </p:txBody>
        </p:sp>
        <p:sp>
          <p:nvSpPr>
            <p:cNvPr id="62" name="Rectangle 62"/>
            <p:cNvSpPr/>
            <p:nvPr/>
          </p:nvSpPr>
          <p:spPr>
            <a:xfrm>
              <a:off x="4876800" y="4057650"/>
              <a:ext cx="1428750" cy="571500"/>
            </a:xfrm>
            <a:prstGeom prst="rect">
              <a:avLst/>
            </a:prstGeom>
            <a:solidFill>
              <a:srgbClr val="F1FAF4"/>
            </a:solidFill>
            <a:ln w="19050">
              <a:solidFill>
                <a:srgbClr val="2E8B57"/>
              </a:solidFill>
            </a:ln>
          </p:spPr>
        </p:sp>
        <p:sp>
          <p:nvSpPr>
            <p:cNvPr id="63" name="TextBox 63"/>
            <p:cNvSpPr txBox="1"/>
            <p:nvPr/>
          </p:nvSpPr>
          <p:spPr>
            <a:xfrm>
              <a:off x="5356909" y="4273868"/>
              <a:ext cx="468531" cy="264033"/>
            </a:xfrm>
            <a:prstGeom prst="rect">
              <a:avLst/>
            </a:prstGeom>
            <a:noFill/>
            <a:ln>
              <a:noFill/>
            </a:ln>
          </p:spPr>
          <p:txBody>
            <a:bodyPr wrap="none" lIns="0" tIns="0" rIns="0" bIns="0" anchor="t" anchorCtr="0">
              <a:spAutoFit/>
            </a:bodyPr>
            <a:lstStyle/>
            <a:p>
              <a:pPr algn="ctr"/>
              <a:r>
                <a:rPr lang="ja-JP" sz="1350" b="1" dirty="0">
                  <a:solidFill>
                    <a:srgbClr val="2E8B57"/>
                  </a:solidFill>
                  <a:latin typeface="+mn-lt"/>
                  <a:ea typeface="+mn-ea"/>
                  <a:cs typeface="+mn-cs"/>
                </a:rPr>
                <a:t>23.29</a:t>
              </a:r>
            </a:p>
          </p:txBody>
        </p:sp>
        <p:sp>
          <p:nvSpPr>
            <p:cNvPr id="64" name="Rectangle 64"/>
            <p:cNvSpPr/>
            <p:nvPr/>
          </p:nvSpPr>
          <p:spPr>
            <a:xfrm>
              <a:off x="6305550" y="4057650"/>
              <a:ext cx="1428750" cy="571500"/>
            </a:xfrm>
            <a:prstGeom prst="rect">
              <a:avLst/>
            </a:prstGeom>
            <a:solidFill>
              <a:srgbClr val="F1FAF4"/>
            </a:solidFill>
            <a:ln w="19050">
              <a:solidFill>
                <a:srgbClr val="2E8B57"/>
              </a:solidFill>
            </a:ln>
          </p:spPr>
        </p:sp>
        <p:sp>
          <p:nvSpPr>
            <p:cNvPr id="65" name="TextBox 65"/>
            <p:cNvSpPr txBox="1"/>
            <p:nvPr/>
          </p:nvSpPr>
          <p:spPr>
            <a:xfrm>
              <a:off x="6735118" y="4273868"/>
              <a:ext cx="569613" cy="264033"/>
            </a:xfrm>
            <a:prstGeom prst="rect">
              <a:avLst/>
            </a:prstGeom>
            <a:noFill/>
            <a:ln>
              <a:noFill/>
            </a:ln>
          </p:spPr>
          <p:txBody>
            <a:bodyPr wrap="none" lIns="0" tIns="0" rIns="0" bIns="0" anchor="t" anchorCtr="0">
              <a:spAutoFit/>
            </a:bodyPr>
            <a:lstStyle/>
            <a:p>
              <a:pPr algn="ctr"/>
              <a:r>
                <a:rPr lang="ja-JP" sz="1350" b="1" dirty="0">
                  <a:solidFill>
                    <a:srgbClr val="2E8B57"/>
                  </a:solidFill>
                  <a:latin typeface="+mn-lt"/>
                  <a:ea typeface="+mn-ea"/>
                  <a:cs typeface="+mn-cs"/>
                </a:rPr>
                <a:t>0.9384</a:t>
              </a:r>
            </a:p>
          </p:txBody>
        </p:sp>
        <p:sp>
          <p:nvSpPr>
            <p:cNvPr id="66" name="Rectangle 66"/>
            <p:cNvSpPr/>
            <p:nvPr/>
          </p:nvSpPr>
          <p:spPr>
            <a:xfrm>
              <a:off x="7734300" y="4057650"/>
              <a:ext cx="2095500" cy="571500"/>
            </a:xfrm>
            <a:prstGeom prst="rect">
              <a:avLst/>
            </a:prstGeom>
            <a:solidFill>
              <a:srgbClr val="F1FAF4"/>
            </a:solidFill>
            <a:ln w="19050">
              <a:solidFill>
                <a:srgbClr val="2E8B57"/>
              </a:solidFill>
            </a:ln>
          </p:spPr>
        </p:sp>
        <p:sp>
          <p:nvSpPr>
            <p:cNvPr id="67" name="TextBox 67"/>
            <p:cNvSpPr txBox="1"/>
            <p:nvPr/>
          </p:nvSpPr>
          <p:spPr>
            <a:xfrm>
              <a:off x="8547784" y="4273868"/>
              <a:ext cx="468531" cy="264033"/>
            </a:xfrm>
            <a:prstGeom prst="rect">
              <a:avLst/>
            </a:prstGeom>
            <a:noFill/>
            <a:ln>
              <a:noFill/>
            </a:ln>
          </p:spPr>
          <p:txBody>
            <a:bodyPr wrap="none" lIns="0" tIns="0" rIns="0" bIns="0" anchor="t" anchorCtr="0">
              <a:spAutoFit/>
            </a:bodyPr>
            <a:lstStyle/>
            <a:p>
              <a:pPr algn="ctr"/>
              <a:r>
                <a:rPr lang="ja-JP" sz="1350" b="1" dirty="0">
                  <a:solidFill>
                    <a:srgbClr val="2E8B57"/>
                  </a:solidFill>
                  <a:latin typeface="+mn-lt"/>
                  <a:ea typeface="+mn-ea"/>
                  <a:cs typeface="+mn-cs"/>
                </a:rPr>
                <a:t>25.86</a:t>
              </a:r>
            </a:p>
          </p:txBody>
        </p:sp>
        <p:sp>
          <p:nvSpPr>
            <p:cNvPr id="68" name="Rectangle 68"/>
            <p:cNvSpPr/>
            <p:nvPr/>
          </p:nvSpPr>
          <p:spPr>
            <a:xfrm>
              <a:off x="9829800" y="4057650"/>
              <a:ext cx="1676400" cy="571500"/>
            </a:xfrm>
            <a:prstGeom prst="rect">
              <a:avLst/>
            </a:prstGeom>
            <a:solidFill>
              <a:srgbClr val="F1FAF4"/>
            </a:solidFill>
            <a:ln w="19050">
              <a:solidFill>
                <a:srgbClr val="2E8B57"/>
              </a:solidFill>
            </a:ln>
          </p:spPr>
        </p:sp>
        <p:sp>
          <p:nvSpPr>
            <p:cNvPr id="69" name="TextBox 69"/>
            <p:cNvSpPr txBox="1"/>
            <p:nvPr/>
          </p:nvSpPr>
          <p:spPr>
            <a:xfrm>
              <a:off x="10352934" y="4273868"/>
              <a:ext cx="630132" cy="264033"/>
            </a:xfrm>
            <a:prstGeom prst="rect">
              <a:avLst/>
            </a:prstGeom>
            <a:noFill/>
            <a:ln>
              <a:noFill/>
            </a:ln>
          </p:spPr>
          <p:txBody>
            <a:bodyPr wrap="none" lIns="0" tIns="0" rIns="0" bIns="0" anchor="t" anchorCtr="0">
              <a:spAutoFit/>
            </a:bodyPr>
            <a:lstStyle/>
            <a:p>
              <a:pPr algn="ctr"/>
              <a:r>
                <a:rPr lang="ja-JP" sz="1350" b="1" dirty="0">
                  <a:solidFill>
                    <a:srgbClr val="2E8B57"/>
                  </a:solidFill>
                  <a:latin typeface="+mn-lt"/>
                  <a:ea typeface="+mn-ea"/>
                  <a:cs typeface="+mn-cs"/>
                </a:rPr>
                <a:t>100.0%</a:t>
              </a:r>
            </a:p>
          </p:txBody>
        </p:sp>
        <p:sp>
          <p:nvSpPr>
            <p:cNvPr id="70" name="Rectangle 70"/>
            <p:cNvSpPr/>
            <p:nvPr/>
          </p:nvSpPr>
          <p:spPr>
            <a:xfrm>
              <a:off x="685800" y="4953000"/>
              <a:ext cx="5219700" cy="838200"/>
            </a:xfrm>
            <a:prstGeom prst="roundRect">
              <a:avLst>
                <a:gd name="adj" fmla="val 5682"/>
              </a:avLst>
            </a:prstGeom>
            <a:solidFill>
              <a:srgbClr val="F1FAF4"/>
            </a:solidFill>
            <a:ln w="19050">
              <a:solidFill>
                <a:srgbClr val="2E8B57"/>
              </a:solidFill>
            </a:ln>
          </p:spPr>
        </p:sp>
        <p:sp>
          <p:nvSpPr>
            <p:cNvPr id="71" name="TextBox 71"/>
            <p:cNvSpPr txBox="1"/>
            <p:nvPr/>
          </p:nvSpPr>
          <p:spPr>
            <a:xfrm>
              <a:off x="906780" y="5095875"/>
              <a:ext cx="1428750" cy="293370"/>
            </a:xfrm>
            <a:prstGeom prst="rect">
              <a:avLst/>
            </a:prstGeom>
            <a:noFill/>
            <a:ln>
              <a:noFill/>
            </a:ln>
          </p:spPr>
          <p:txBody>
            <a:bodyPr wrap="none" lIns="0" tIns="0" rIns="0" bIns="0" anchor="t" anchorCtr="0">
              <a:spAutoFit/>
            </a:bodyPr>
            <a:lstStyle/>
            <a:p>
              <a:pPr algn="l"/>
              <a:r>
                <a:rPr lang="ja-JP" sz="1500" b="1" dirty="0">
                  <a:solidFill>
                    <a:srgbClr val="2E8B57"/>
                  </a:solidFill>
                  <a:latin typeface="+mn-lt"/>
                  <a:ea typeface="+mn-ea"/>
                  <a:cs typeface="+mn-cs"/>
                </a:rPr>
                <a:t>確認できたこと</a:t>
              </a:r>
            </a:p>
          </p:txBody>
        </p:sp>
        <p:sp>
          <p:nvSpPr>
            <p:cNvPr id="72" name="TextBox 72"/>
            <p:cNvSpPr txBox="1"/>
            <p:nvPr/>
          </p:nvSpPr>
          <p:spPr>
            <a:xfrm>
              <a:off x="907161" y="5408771"/>
              <a:ext cx="4708548" cy="278702"/>
            </a:xfrm>
            <a:prstGeom prst="rect">
              <a:avLst/>
            </a:prstGeom>
            <a:noFill/>
            <a:ln>
              <a:noFill/>
            </a:ln>
          </p:spPr>
          <p:txBody>
            <a:bodyPr wrap="none" lIns="0" tIns="0" rIns="0" bIns="0" anchor="t" anchorCtr="0">
              <a:spAutoFit/>
            </a:bodyPr>
            <a:lstStyle/>
            <a:p>
              <a:pPr algn="l"/>
              <a:r>
                <a:rPr lang="ja-JP" sz="1420" b="1" dirty="0">
                  <a:solidFill>
                    <a:schemeClr val="dk1"/>
                  </a:solidFill>
                  <a:latin typeface="+mn-lt"/>
                  <a:ea typeface="+mn-ea"/>
                  <a:cs typeface="+mn-cs"/>
                </a:rPr>
                <a:t>Oursは領域外を保持しつつ、編集領域の変化量が最大</a:t>
              </a:r>
            </a:p>
          </p:txBody>
        </p:sp>
        <p:sp>
          <p:nvSpPr>
            <p:cNvPr id="73" name="Rectangle 73"/>
            <p:cNvSpPr/>
            <p:nvPr/>
          </p:nvSpPr>
          <p:spPr>
            <a:xfrm>
              <a:off x="6286500" y="4953000"/>
              <a:ext cx="5219700" cy="838200"/>
            </a:xfrm>
            <a:prstGeom prst="roundRect">
              <a:avLst>
                <a:gd name="adj" fmla="val 5682"/>
              </a:avLst>
            </a:prstGeom>
            <a:solidFill>
              <a:srgbClr val="FFF5F5"/>
            </a:solidFill>
            <a:ln w="19050">
              <a:solidFill>
                <a:schemeClr val="accent2"/>
              </a:solidFill>
            </a:ln>
          </p:spPr>
        </p:sp>
        <p:sp>
          <p:nvSpPr>
            <p:cNvPr id="74" name="TextBox 74"/>
            <p:cNvSpPr txBox="1"/>
            <p:nvPr/>
          </p:nvSpPr>
          <p:spPr>
            <a:xfrm>
              <a:off x="6507480" y="5095875"/>
              <a:ext cx="2438400" cy="293370"/>
            </a:xfrm>
            <a:prstGeom prst="rect">
              <a:avLst/>
            </a:prstGeom>
            <a:noFill/>
            <a:ln>
              <a:noFill/>
            </a:ln>
          </p:spPr>
          <p:txBody>
            <a:bodyPr wrap="none" lIns="0" tIns="0" rIns="0" bIns="0" anchor="t" anchorCtr="0">
              <a:spAutoFit/>
            </a:bodyPr>
            <a:lstStyle/>
            <a:p>
              <a:pPr algn="l"/>
              <a:r>
                <a:rPr lang="ja-JP" sz="1500" b="1" dirty="0">
                  <a:solidFill>
                    <a:schemeClr val="accent2"/>
                  </a:solidFill>
                  <a:latin typeface="+mn-lt"/>
                  <a:ea typeface="+mn-ea"/>
                  <a:cs typeface="+mn-cs"/>
                </a:rPr>
                <a:t>まだ確認できていないこと</a:t>
              </a:r>
            </a:p>
          </p:txBody>
        </p:sp>
        <p:sp>
          <p:nvSpPr>
            <p:cNvPr id="75" name="TextBox 75"/>
            <p:cNvSpPr txBox="1"/>
            <p:nvPr/>
          </p:nvSpPr>
          <p:spPr>
            <a:xfrm>
              <a:off x="6507861" y="5408771"/>
              <a:ext cx="4274109" cy="278702"/>
            </a:xfrm>
            <a:prstGeom prst="rect">
              <a:avLst/>
            </a:prstGeom>
            <a:noFill/>
            <a:ln>
              <a:noFill/>
            </a:ln>
          </p:spPr>
          <p:txBody>
            <a:bodyPr wrap="none" lIns="0" tIns="0" rIns="0" bIns="0" anchor="t" anchorCtr="0">
              <a:spAutoFit/>
            </a:bodyPr>
            <a:lstStyle/>
            <a:p>
              <a:pPr algn="l"/>
              <a:r>
                <a:rPr lang="ja-JP" sz="1420" b="1" dirty="0">
                  <a:solidFill>
                    <a:schemeClr val="dk1"/>
                  </a:solidFill>
                  <a:latin typeface="+mn-lt"/>
                  <a:ea typeface="+mn-ea"/>
                  <a:cs typeface="+mn-cs"/>
                </a:rPr>
                <a:t>relative3D・材質適応による動作成功率の優位性</a:t>
              </a:r>
            </a:p>
          </p:txBody>
        </p:sp>
        <p:sp>
          <p:nvSpPr>
            <p:cNvPr id="76" name="TextBox 76"/>
            <p:cNvSpPr txBox="1"/>
            <p:nvPr/>
          </p:nvSpPr>
          <p:spPr>
            <a:xfrm>
              <a:off x="680085" y="5993606"/>
              <a:ext cx="7705476" cy="220028"/>
            </a:xfrm>
            <a:prstGeom prst="rect">
              <a:avLst/>
            </a:prstGeom>
            <a:noFill/>
            <a:ln>
              <a:noFill/>
            </a:ln>
          </p:spPr>
          <p:txBody>
            <a:bodyPr wrap="none" lIns="0" tIns="0" rIns="0" bIns="0" anchor="t" anchorCtr="0">
              <a:spAutoFit/>
            </a:bodyPr>
            <a:lstStyle/>
            <a:p>
              <a:pPr algn="l"/>
              <a:r>
                <a:rPr lang="ja-JP" sz="1120" dirty="0">
                  <a:solidFill>
                    <a:schemeClr val="accent6"/>
                  </a:solidFill>
                  <a:latin typeface="+mn-lt"/>
                  <a:ea typeface="+mn-ea"/>
                  <a:cs typeface="+mn-cs"/>
                </a:rPr>
                <a:t>※ PSNR/SSIMは入力保持、MAEは変更量の診断。動作正解率や写真品質そのものではない。選択済み開発データ。</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
        <p:cNvGrpSpPr/>
        <p:nvPr/>
      </p:nvGrpSpPr>
      <p:grpSpPr>
        <a:xfrm>
          <a:off x="0" y="0"/>
          <a:ext cx="0" cy="0"/>
          <a:chOff x="0" y="0"/>
          <a:chExt cx="0" cy="0"/>
        </a:xfrm>
      </p:grpSpPr>
      <p:sp>
        <p:nvSpPr>
          <p:cNvPr id="2" name="Line 2"/>
          <p:cNvSpPr/>
          <p:nvPr/>
        </p:nvSpPr>
        <p:spPr>
          <a:xfrm>
            <a:off x="685800" y="400050"/>
            <a:ext cx="10820400" cy="9525"/>
          </a:xfrm>
          <a:custGeom>
            <a:avLst/>
            <a:gdLst/>
            <a:ahLst/>
            <a:cxnLst/>
            <a:rect l="l" t="t" r="r" b="b"/>
            <a:pathLst>
              <a:path w="10820400" h="9525">
                <a:moveTo>
                  <a:pt x="0" y="0"/>
                </a:moveTo>
                <a:lnTo>
                  <a:pt x="10820400" y="0"/>
                </a:lnTo>
              </a:path>
            </a:pathLst>
          </a:custGeom>
          <a:noFill/>
          <a:ln w="19050">
            <a:solidFill>
              <a:srgbClr val="D8DDE3"/>
            </a:solidFill>
          </a:ln>
        </p:spPr>
      </p:sp>
      <p:sp>
        <p:nvSpPr>
          <p:cNvPr id="3" name="TextBox 3"/>
          <p:cNvSpPr txBox="1"/>
          <p:nvPr/>
        </p:nvSpPr>
        <p:spPr>
          <a:xfrm>
            <a:off x="679704" y="594360"/>
            <a:ext cx="1008156" cy="234696"/>
          </a:xfrm>
          <a:prstGeom prst="rect">
            <a:avLst/>
          </a:prstGeom>
          <a:noFill/>
          <a:ln>
            <a:noFill/>
          </a:ln>
        </p:spPr>
        <p:txBody>
          <a:bodyPr wrap="none" lIns="0" tIns="0" rIns="0" bIns="0" anchor="t" anchorCtr="0">
            <a:spAutoFit/>
          </a:bodyPr>
          <a:lstStyle/>
          <a:p>
            <a:pPr algn="l"/>
            <a:r>
              <a:rPr lang="ja-JP" sz="1200" b="1" spc="135" dirty="0">
                <a:solidFill>
                  <a:schemeClr val="accent1"/>
                </a:solidFill>
                <a:latin typeface="+mn-lt"/>
                <a:ea typeface="+mn-ea"/>
                <a:cs typeface="+mn-cs"/>
              </a:rPr>
              <a:t>NEXT STEP</a:t>
            </a:r>
          </a:p>
        </p:txBody>
      </p:sp>
      <p:sp>
        <p:nvSpPr>
          <p:cNvPr id="4" name="TextBox 4"/>
          <p:cNvSpPr txBox="1"/>
          <p:nvPr/>
        </p:nvSpPr>
        <p:spPr>
          <a:xfrm>
            <a:off x="669798" y="831533"/>
            <a:ext cx="4696587" cy="616077"/>
          </a:xfrm>
          <a:prstGeom prst="rect">
            <a:avLst/>
          </a:prstGeom>
          <a:noFill/>
          <a:ln>
            <a:noFill/>
          </a:ln>
        </p:spPr>
        <p:txBody>
          <a:bodyPr wrap="none" lIns="0" tIns="0" rIns="0" bIns="0" anchor="t" anchorCtr="0">
            <a:spAutoFit/>
          </a:bodyPr>
          <a:lstStyle/>
          <a:p>
            <a:pPr algn="l"/>
            <a:r>
              <a:rPr lang="ja-JP" sz="3150" b="1" dirty="0">
                <a:solidFill>
                  <a:schemeClr val="dk1"/>
                </a:solidFill>
                <a:latin typeface="+mn-lt"/>
                <a:ea typeface="+mn-ea"/>
                <a:cs typeface="+mn-cs"/>
              </a:rPr>
              <a:t>現在の課題と今後の予定</a:t>
            </a:r>
          </a:p>
        </p:txBody>
      </p:sp>
      <p:sp>
        <p:nvSpPr>
          <p:cNvPr id="5" name="Rectangle 5"/>
          <p:cNvSpPr/>
          <p:nvPr/>
        </p:nvSpPr>
        <p:spPr>
          <a:xfrm>
            <a:off x="685800" y="1352550"/>
            <a:ext cx="704850" cy="38100"/>
          </a:xfrm>
          <a:prstGeom prst="rect">
            <a:avLst/>
          </a:prstGeom>
          <a:solidFill>
            <a:schemeClr val="accent1"/>
          </a:solidFill>
          <a:ln>
            <a:noFill/>
          </a:ln>
        </p:spPr>
      </p:sp>
      <p:sp>
        <p:nvSpPr>
          <p:cNvPr id="6" name="TextBox 6"/>
          <p:cNvSpPr txBox="1"/>
          <p:nvPr/>
        </p:nvSpPr>
        <p:spPr>
          <a:xfrm>
            <a:off x="680466" y="6420802"/>
            <a:ext cx="2129538" cy="205359"/>
          </a:xfrm>
          <a:prstGeom prst="rect">
            <a:avLst/>
          </a:prstGeom>
          <a:noFill/>
          <a:ln>
            <a:noFill/>
          </a:ln>
        </p:spPr>
        <p:txBody>
          <a:bodyPr wrap="none" lIns="0" tIns="0" rIns="0" bIns="0" anchor="t" anchorCtr="0">
            <a:spAutoFit/>
          </a:bodyPr>
          <a:lstStyle/>
          <a:p>
            <a:pPr algn="l"/>
            <a:r>
              <a:rPr lang="ja-JP" sz="1050" dirty="0">
                <a:solidFill>
                  <a:schemeClr val="accent6"/>
                </a:solidFill>
                <a:latin typeface="+mn-lt"/>
                <a:ea typeface="+mn-ea"/>
                <a:cs typeface="+mn-cs"/>
              </a:rPr>
              <a:t>FoodStateEdit｜メディア情報学</a:t>
            </a:r>
          </a:p>
        </p:txBody>
      </p:sp>
      <p:sp>
        <p:nvSpPr>
          <p:cNvPr id="7" name="TextBox 7"/>
          <p:cNvSpPr txBox="1"/>
          <p:nvPr/>
        </p:nvSpPr>
        <p:spPr>
          <a:xfrm>
            <a:off x="11320402" y="6404610"/>
            <a:ext cx="191894" cy="234696"/>
          </a:xfrm>
          <a:prstGeom prst="rect">
            <a:avLst/>
          </a:prstGeom>
          <a:noFill/>
          <a:ln>
            <a:noFill/>
          </a:ln>
        </p:spPr>
        <p:txBody>
          <a:bodyPr wrap="none" lIns="0" tIns="0" rIns="0" bIns="0" anchor="t" anchorCtr="0">
            <a:spAutoFit/>
          </a:bodyPr>
          <a:lstStyle/>
          <a:p>
            <a:pPr algn="r"/>
            <a:r>
              <a:rPr lang="ja-JP" sz="1200" b="1" dirty="0">
                <a:solidFill>
                  <a:schemeClr val="accent1"/>
                </a:solidFill>
                <a:latin typeface="+mn-lt"/>
                <a:ea typeface="+mn-ea"/>
                <a:cs typeface="+mn-cs"/>
              </a:rPr>
              <a:t>13</a:t>
            </a:r>
          </a:p>
        </p:txBody>
      </p:sp>
      <p:grpSp>
        <p:nvGrpSpPr>
          <p:cNvPr id="26" name="next-step-summary"/>
          <p:cNvGrpSpPr/>
          <p:nvPr/>
        </p:nvGrpSpPr>
        <p:grpSpPr>
          <a:xfrm>
            <a:off x="685800" y="1676400"/>
            <a:ext cx="10629900" cy="4400550"/>
            <a:chOff x="685800" y="1676400"/>
            <a:chExt cx="10629900" cy="4400550"/>
          </a:xfrm>
        </p:grpSpPr>
        <p:sp>
          <p:nvSpPr>
            <p:cNvPr id="8" name="Rectangle 8"/>
            <p:cNvSpPr/>
            <p:nvPr/>
          </p:nvSpPr>
          <p:spPr>
            <a:xfrm>
              <a:off x="685800" y="1676400"/>
              <a:ext cx="3695700" cy="3276600"/>
            </a:xfrm>
            <a:prstGeom prst="roundRect">
              <a:avLst>
                <a:gd name="adj" fmla="val 1163"/>
              </a:avLst>
            </a:prstGeom>
            <a:solidFill>
              <a:schemeClr val="lt1"/>
            </a:solidFill>
            <a:ln w="9525">
              <a:solidFill>
                <a:srgbClr val="D8DDE3"/>
              </a:solidFill>
            </a:ln>
          </p:spPr>
        </p:sp>
        <p:sp>
          <p:nvSpPr>
            <p:cNvPr id="9" name="Rectangle 9"/>
            <p:cNvSpPr/>
            <p:nvPr/>
          </p:nvSpPr>
          <p:spPr>
            <a:xfrm>
              <a:off x="685800" y="1676400"/>
              <a:ext cx="76200" cy="3276600"/>
            </a:xfrm>
            <a:prstGeom prst="rect">
              <a:avLst/>
            </a:prstGeom>
            <a:solidFill>
              <a:schemeClr val="accent2"/>
            </a:solidFill>
            <a:ln>
              <a:noFill/>
            </a:ln>
          </p:spPr>
        </p:sp>
        <p:sp>
          <p:nvSpPr>
            <p:cNvPr id="10" name="TextBox 10"/>
            <p:cNvSpPr txBox="1"/>
            <p:nvPr/>
          </p:nvSpPr>
          <p:spPr>
            <a:xfrm>
              <a:off x="999363" y="1915001"/>
              <a:ext cx="1380236" cy="396050"/>
            </a:xfrm>
            <a:prstGeom prst="rect">
              <a:avLst/>
            </a:prstGeom>
            <a:noFill/>
            <a:ln>
              <a:noFill/>
            </a:ln>
          </p:spPr>
          <p:txBody>
            <a:bodyPr wrap="none" lIns="0" tIns="0" rIns="0" bIns="0" anchor="t" anchorCtr="0">
              <a:spAutoFit/>
            </a:bodyPr>
            <a:lstStyle/>
            <a:p>
              <a:pPr algn="l"/>
              <a:r>
                <a:rPr lang="ja-JP" sz="2020" b="1" dirty="0">
                  <a:solidFill>
                    <a:schemeClr val="accent2"/>
                  </a:solidFill>
                  <a:latin typeface="+mn-lt"/>
                  <a:ea typeface="+mn-ea"/>
                  <a:cs typeface="+mn-cs"/>
                </a:rPr>
                <a:t>現在の課題</a:t>
              </a:r>
            </a:p>
          </p:txBody>
        </p:sp>
        <p:sp>
          <p:nvSpPr>
            <p:cNvPr id="11" name="TextBox 11"/>
            <p:cNvSpPr txBox="1"/>
            <p:nvPr/>
          </p:nvSpPr>
          <p:spPr>
            <a:xfrm>
              <a:off x="1000506" y="2491740"/>
              <a:ext cx="3653028" cy="352044"/>
            </a:xfrm>
            <a:prstGeom prst="rect">
              <a:avLst/>
            </a:prstGeom>
            <a:noFill/>
            <a:ln>
              <a:noFill/>
            </a:ln>
          </p:spPr>
          <p:txBody>
            <a:bodyPr wrap="none" lIns="0" tIns="0" rIns="0" bIns="0" anchor="t" anchorCtr="0">
              <a:spAutoFit/>
            </a:bodyPr>
            <a:lstStyle/>
            <a:p>
              <a:pPr algn="l"/>
              <a:r>
                <a:rPr lang="ja-JP" sz="1800" b="1" dirty="0">
                  <a:solidFill>
                    <a:schemeClr val="dk1"/>
                  </a:solidFill>
                  <a:latin typeface="+mn-lt"/>
                  <a:ea typeface="+mn-ea"/>
                  <a:cs typeface="+mn-cs"/>
                </a:rPr>
                <a:t>成功例が選択済み合成画像に偏る</a:t>
              </a:r>
            </a:p>
          </p:txBody>
        </p:sp>
        <p:sp>
          <p:nvSpPr>
            <p:cNvPr id="12" name="TextBox 12"/>
            <p:cNvSpPr txBox="1"/>
            <p:nvPr/>
          </p:nvSpPr>
          <p:spPr>
            <a:xfrm>
              <a:off x="1000506" y="2948940"/>
              <a:ext cx="2926080" cy="352044"/>
            </a:xfrm>
            <a:prstGeom prst="rect">
              <a:avLst/>
            </a:prstGeom>
            <a:noFill/>
            <a:ln>
              <a:noFill/>
            </a:ln>
          </p:spPr>
          <p:txBody>
            <a:bodyPr wrap="none" lIns="0" tIns="0" rIns="0" bIns="0" anchor="t" anchorCtr="0">
              <a:spAutoFit/>
            </a:bodyPr>
            <a:lstStyle/>
            <a:p>
              <a:pPr algn="l"/>
              <a:r>
                <a:rPr lang="ja-JP" sz="1800" dirty="0">
                  <a:solidFill>
                    <a:schemeClr val="dk1"/>
                  </a:solidFill>
                  <a:latin typeface="+mn-lt"/>
                  <a:ea typeface="+mn-ea"/>
                  <a:cs typeface="+mn-cs"/>
                </a:rPr>
                <a:t>実画像への一般化を未検証</a:t>
              </a:r>
            </a:p>
          </p:txBody>
        </p:sp>
        <p:sp>
          <p:nvSpPr>
            <p:cNvPr id="13" name="TextBox 13"/>
            <p:cNvSpPr txBox="1"/>
            <p:nvPr/>
          </p:nvSpPr>
          <p:spPr>
            <a:xfrm>
              <a:off x="1000506" y="3377565"/>
              <a:ext cx="3168396" cy="352044"/>
            </a:xfrm>
            <a:prstGeom prst="rect">
              <a:avLst/>
            </a:prstGeom>
            <a:noFill/>
            <a:ln>
              <a:noFill/>
            </a:ln>
          </p:spPr>
          <p:txBody>
            <a:bodyPr wrap="none" lIns="0" tIns="0" rIns="0" bIns="0" anchor="t" anchorCtr="0">
              <a:spAutoFit/>
            </a:bodyPr>
            <a:lstStyle/>
            <a:p>
              <a:pPr algn="l"/>
              <a:r>
                <a:rPr lang="ja-JP" sz="1800" dirty="0">
                  <a:solidFill>
                    <a:schemeClr val="dk1"/>
                  </a:solidFill>
                  <a:latin typeface="+mn-lt"/>
                  <a:ea typeface="+mn-ea"/>
                  <a:cs typeface="+mn-cs"/>
                </a:rPr>
                <a:t>動作・写真評価は内部非盲検</a:t>
              </a:r>
            </a:p>
          </p:txBody>
        </p:sp>
        <p:sp>
          <p:nvSpPr>
            <p:cNvPr id="14" name="TextBox 14"/>
            <p:cNvSpPr txBox="1"/>
            <p:nvPr/>
          </p:nvSpPr>
          <p:spPr>
            <a:xfrm>
              <a:off x="1000506" y="3806190"/>
              <a:ext cx="3653028" cy="352044"/>
            </a:xfrm>
            <a:prstGeom prst="rect">
              <a:avLst/>
            </a:prstGeom>
            <a:noFill/>
            <a:ln>
              <a:noFill/>
            </a:ln>
          </p:spPr>
          <p:txBody>
            <a:bodyPr wrap="none" lIns="0" tIns="0" rIns="0" bIns="0" anchor="t" anchorCtr="0">
              <a:spAutoFit/>
            </a:bodyPr>
            <a:lstStyle/>
            <a:p>
              <a:pPr algn="l"/>
              <a:r>
                <a:rPr lang="ja-JP" sz="1800" dirty="0">
                  <a:solidFill>
                    <a:schemeClr val="dk1"/>
                  </a:solidFill>
                  <a:latin typeface="+mn-lt"/>
                  <a:ea typeface="+mn-ea"/>
                  <a:cs typeface="+mn-cs"/>
                </a:rPr>
                <a:t>時系列の接触・持ち上げも未確立</a:t>
              </a:r>
            </a:p>
          </p:txBody>
        </p:sp>
        <p:sp>
          <p:nvSpPr>
            <p:cNvPr id="15" name="TextBox 15"/>
            <p:cNvSpPr txBox="1"/>
            <p:nvPr/>
          </p:nvSpPr>
          <p:spPr>
            <a:xfrm>
              <a:off x="4942713" y="1857851"/>
              <a:ext cx="1108304" cy="396050"/>
            </a:xfrm>
            <a:prstGeom prst="rect">
              <a:avLst/>
            </a:prstGeom>
            <a:noFill/>
            <a:ln>
              <a:noFill/>
            </a:ln>
          </p:spPr>
          <p:txBody>
            <a:bodyPr wrap="none" lIns="0" tIns="0" rIns="0" bIns="0" anchor="t" anchorCtr="0">
              <a:spAutoFit/>
            </a:bodyPr>
            <a:lstStyle/>
            <a:p>
              <a:pPr algn="l"/>
              <a:r>
                <a:rPr lang="ja-JP" sz="2020" b="1" dirty="0">
                  <a:solidFill>
                    <a:schemeClr val="accent1"/>
                  </a:solidFill>
                  <a:latin typeface="+mn-lt"/>
                  <a:ea typeface="+mn-ea"/>
                  <a:cs typeface="+mn-cs"/>
                </a:rPr>
                <a:t>次の目標</a:t>
              </a:r>
            </a:p>
          </p:txBody>
        </p:sp>
        <p:sp>
          <p:nvSpPr>
            <p:cNvPr id="16" name="TextBox 16"/>
            <p:cNvSpPr txBox="1"/>
            <p:nvPr/>
          </p:nvSpPr>
          <p:spPr>
            <a:xfrm>
              <a:off x="4943856" y="2263140"/>
              <a:ext cx="5833872" cy="352044"/>
            </a:xfrm>
            <a:prstGeom prst="rect">
              <a:avLst/>
            </a:prstGeom>
            <a:noFill/>
            <a:ln>
              <a:noFill/>
            </a:ln>
          </p:spPr>
          <p:txBody>
            <a:bodyPr wrap="none" lIns="0" tIns="0" rIns="0" bIns="0" anchor="t" anchorCtr="0">
              <a:spAutoFit/>
            </a:bodyPr>
            <a:lstStyle/>
            <a:p>
              <a:pPr algn="l"/>
              <a:r>
                <a:rPr lang="ja-JP" sz="1800" b="1" dirty="0">
                  <a:solidFill>
                    <a:schemeClr val="dk1"/>
                  </a:solidFill>
                  <a:latin typeface="+mn-lt"/>
                  <a:ea typeface="+mn-ea"/>
                  <a:cs typeface="+mn-cs"/>
                </a:rPr>
                <a:t>実画像でも動作・写真品質・背景保持を同時に満たす</a:t>
              </a:r>
            </a:p>
          </p:txBody>
        </p:sp>
        <p:sp>
          <p:nvSpPr>
            <p:cNvPr id="17" name="Line 17"/>
            <p:cNvSpPr/>
            <p:nvPr/>
          </p:nvSpPr>
          <p:spPr>
            <a:xfrm>
              <a:off x="4953000" y="2686050"/>
              <a:ext cx="6362700" cy="9525"/>
            </a:xfrm>
            <a:custGeom>
              <a:avLst/>
              <a:gdLst/>
              <a:ahLst/>
              <a:cxnLst/>
              <a:rect l="l" t="t" r="r" b="b"/>
              <a:pathLst>
                <a:path w="6362700" h="9525">
                  <a:moveTo>
                    <a:pt x="0" y="0"/>
                  </a:moveTo>
                  <a:lnTo>
                    <a:pt x="6362700" y="0"/>
                  </a:lnTo>
                </a:path>
              </a:pathLst>
            </a:custGeom>
            <a:noFill/>
            <a:ln w="19050">
              <a:solidFill>
                <a:srgbClr val="D8DDE3"/>
              </a:solidFill>
            </a:ln>
          </p:spPr>
        </p:sp>
        <p:sp>
          <p:nvSpPr>
            <p:cNvPr id="18" name="TextBox 18"/>
            <p:cNvSpPr txBox="1"/>
            <p:nvPr/>
          </p:nvSpPr>
          <p:spPr>
            <a:xfrm>
              <a:off x="4945380" y="2971800"/>
              <a:ext cx="239867" cy="293370"/>
            </a:xfrm>
            <a:prstGeom prst="rect">
              <a:avLst/>
            </a:prstGeom>
            <a:noFill/>
            <a:ln>
              <a:noFill/>
            </a:ln>
          </p:spPr>
          <p:txBody>
            <a:bodyPr wrap="none" lIns="0" tIns="0" rIns="0" bIns="0" anchor="t" anchorCtr="0">
              <a:spAutoFit/>
            </a:bodyPr>
            <a:lstStyle/>
            <a:p>
              <a:pPr algn="l"/>
              <a:r>
                <a:rPr lang="ja-JP" sz="1500" b="1" dirty="0">
                  <a:solidFill>
                    <a:schemeClr val="accent1"/>
                  </a:solidFill>
                  <a:latin typeface="+mn-lt"/>
                  <a:ea typeface="+mn-ea"/>
                  <a:cs typeface="+mn-cs"/>
                </a:rPr>
                <a:t>01</a:t>
              </a:r>
            </a:p>
          </p:txBody>
        </p:sp>
        <p:sp>
          <p:nvSpPr>
            <p:cNvPr id="19" name="TextBox 19"/>
            <p:cNvSpPr txBox="1"/>
            <p:nvPr/>
          </p:nvSpPr>
          <p:spPr>
            <a:xfrm>
              <a:off x="5458206" y="2939415"/>
              <a:ext cx="5382558" cy="352044"/>
            </a:xfrm>
            <a:prstGeom prst="rect">
              <a:avLst/>
            </a:prstGeom>
            <a:noFill/>
            <a:ln>
              <a:noFill/>
            </a:ln>
          </p:spPr>
          <p:txBody>
            <a:bodyPr wrap="none" lIns="0" tIns="0" rIns="0" bIns="0" anchor="t" anchorCtr="0">
              <a:spAutoFit/>
            </a:bodyPr>
            <a:lstStyle/>
            <a:p>
              <a:pPr algn="l"/>
              <a:r>
                <a:rPr lang="ja-JP" sz="1800" b="1" dirty="0">
                  <a:solidFill>
                    <a:schemeClr val="dk1"/>
                  </a:solidFill>
                  <a:latin typeface="+mn-lt"/>
                  <a:ea typeface="+mn-ea"/>
                  <a:cs typeface="+mn-cs"/>
                </a:rPr>
                <a:t>held-out 実画像40件を同条件・複数seedで生成</a:t>
              </a:r>
            </a:p>
          </p:txBody>
        </p:sp>
        <p:sp>
          <p:nvSpPr>
            <p:cNvPr id="20" name="TextBox 20"/>
            <p:cNvSpPr txBox="1"/>
            <p:nvPr/>
          </p:nvSpPr>
          <p:spPr>
            <a:xfrm>
              <a:off x="4945380" y="3571875"/>
              <a:ext cx="239867" cy="293370"/>
            </a:xfrm>
            <a:prstGeom prst="rect">
              <a:avLst/>
            </a:prstGeom>
            <a:noFill/>
            <a:ln>
              <a:noFill/>
            </a:ln>
          </p:spPr>
          <p:txBody>
            <a:bodyPr wrap="none" lIns="0" tIns="0" rIns="0" bIns="0" anchor="t" anchorCtr="0">
              <a:spAutoFit/>
            </a:bodyPr>
            <a:lstStyle/>
            <a:p>
              <a:pPr algn="l"/>
              <a:r>
                <a:rPr lang="ja-JP" sz="1500" b="1" dirty="0">
                  <a:solidFill>
                    <a:schemeClr val="accent1"/>
                  </a:solidFill>
                  <a:latin typeface="+mn-lt"/>
                  <a:ea typeface="+mn-ea"/>
                  <a:cs typeface="+mn-cs"/>
                </a:rPr>
                <a:t>02</a:t>
              </a:r>
            </a:p>
          </p:txBody>
        </p:sp>
        <p:sp>
          <p:nvSpPr>
            <p:cNvPr id="21" name="TextBox 21"/>
            <p:cNvSpPr txBox="1"/>
            <p:nvPr/>
          </p:nvSpPr>
          <p:spPr>
            <a:xfrm>
              <a:off x="5458206" y="3539490"/>
              <a:ext cx="5402261" cy="352044"/>
            </a:xfrm>
            <a:prstGeom prst="rect">
              <a:avLst/>
            </a:prstGeom>
            <a:noFill/>
            <a:ln>
              <a:noFill/>
            </a:ln>
          </p:spPr>
          <p:txBody>
            <a:bodyPr wrap="none" lIns="0" tIns="0" rIns="0" bIns="0" anchor="t" anchorCtr="0">
              <a:spAutoFit/>
            </a:bodyPr>
            <a:lstStyle/>
            <a:p>
              <a:pPr algn="l"/>
              <a:r>
                <a:rPr lang="ja-JP" sz="1800" b="1" dirty="0">
                  <a:solidFill>
                    <a:schemeClr val="dk1"/>
                  </a:solidFill>
                  <a:latin typeface="+mn-lt"/>
                  <a:ea typeface="+mn-ea"/>
                  <a:cs typeface="+mn-cs"/>
                </a:rPr>
                <a:t>2–3名で Action・Photo・Preservation を盲評</a:t>
              </a:r>
            </a:p>
          </p:txBody>
        </p:sp>
        <p:sp>
          <p:nvSpPr>
            <p:cNvPr id="22" name="TextBox 22"/>
            <p:cNvSpPr txBox="1"/>
            <p:nvPr/>
          </p:nvSpPr>
          <p:spPr>
            <a:xfrm>
              <a:off x="4945380" y="4171950"/>
              <a:ext cx="239867" cy="293370"/>
            </a:xfrm>
            <a:prstGeom prst="rect">
              <a:avLst/>
            </a:prstGeom>
            <a:noFill/>
            <a:ln>
              <a:noFill/>
            </a:ln>
          </p:spPr>
          <p:txBody>
            <a:bodyPr wrap="none" lIns="0" tIns="0" rIns="0" bIns="0" anchor="t" anchorCtr="0">
              <a:spAutoFit/>
            </a:bodyPr>
            <a:lstStyle/>
            <a:p>
              <a:pPr algn="l"/>
              <a:r>
                <a:rPr lang="ja-JP" sz="1500" b="1" dirty="0">
                  <a:solidFill>
                    <a:schemeClr val="accent1"/>
                  </a:solidFill>
                  <a:latin typeface="+mn-lt"/>
                  <a:ea typeface="+mn-ea"/>
                  <a:cs typeface="+mn-cs"/>
                </a:rPr>
                <a:t>03</a:t>
              </a:r>
            </a:p>
          </p:txBody>
        </p:sp>
        <p:sp>
          <p:nvSpPr>
            <p:cNvPr id="23" name="TextBox 23"/>
            <p:cNvSpPr txBox="1"/>
            <p:nvPr/>
          </p:nvSpPr>
          <p:spPr>
            <a:xfrm>
              <a:off x="5458206" y="4139565"/>
              <a:ext cx="5055834" cy="352044"/>
            </a:xfrm>
            <a:prstGeom prst="rect">
              <a:avLst/>
            </a:prstGeom>
            <a:noFill/>
            <a:ln>
              <a:noFill/>
            </a:ln>
          </p:spPr>
          <p:txBody>
            <a:bodyPr wrap="none" lIns="0" tIns="0" rIns="0" bIns="0" anchor="t" anchorCtr="0">
              <a:spAutoFit/>
            </a:bodyPr>
            <a:lstStyle/>
            <a:p>
              <a:pPr algn="l"/>
              <a:r>
                <a:rPr lang="ja-JP" sz="1800" b="1" dirty="0">
                  <a:solidFill>
                    <a:schemeClr val="dk1"/>
                  </a:solidFill>
                  <a:latin typeface="+mn-lt"/>
                  <a:ea typeface="+mn-ea"/>
                  <a:cs typeface="+mn-cs"/>
                </a:rPr>
                <a:t>bootstrap CI と失敗分類から材質制御を修正</a:t>
              </a:r>
            </a:p>
          </p:txBody>
        </p:sp>
        <p:sp>
          <p:nvSpPr>
            <p:cNvPr id="24" name="Rectangle 24"/>
            <p:cNvSpPr/>
            <p:nvPr/>
          </p:nvSpPr>
          <p:spPr>
            <a:xfrm>
              <a:off x="1104900" y="5391150"/>
              <a:ext cx="9982200" cy="685800"/>
            </a:xfrm>
            <a:prstGeom prst="roundRect">
              <a:avLst>
                <a:gd name="adj" fmla="val 5556"/>
              </a:avLst>
            </a:prstGeom>
            <a:solidFill>
              <a:schemeClr val="accent1"/>
            </a:solidFill>
            <a:ln>
              <a:noFill/>
            </a:ln>
          </p:spPr>
        </p:sp>
        <p:sp>
          <p:nvSpPr>
            <p:cNvPr id="25" name="TextBox 25"/>
            <p:cNvSpPr txBox="1"/>
            <p:nvPr/>
          </p:nvSpPr>
          <p:spPr>
            <a:xfrm>
              <a:off x="2692908" y="5583555"/>
              <a:ext cx="6806184" cy="410718"/>
            </a:xfrm>
            <a:prstGeom prst="rect">
              <a:avLst/>
            </a:prstGeom>
            <a:noFill/>
            <a:ln>
              <a:noFill/>
            </a:ln>
          </p:spPr>
          <p:txBody>
            <a:bodyPr wrap="none" lIns="0" tIns="0" rIns="0" bIns="0" anchor="t" anchorCtr="0">
              <a:spAutoFit/>
            </a:bodyPr>
            <a:lstStyle/>
            <a:p>
              <a:pPr algn="ctr"/>
              <a:r>
                <a:rPr lang="ja-JP" sz="2100" b="1" dirty="0">
                  <a:solidFill>
                    <a:srgbClr val="FFFFFF"/>
                  </a:solidFill>
                  <a:latin typeface="+mn-lt"/>
                  <a:ea typeface="+mn-ea"/>
                  <a:cs typeface="+mn-cs"/>
                </a:rPr>
                <a:t>目標：柔軟・流動・粒状食品で再現可能な改善を示す</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foodstateedit_nakamizo">
  <a:themeElements>
    <a:clrScheme name="foodstateedit_nakamizo">
      <a:dk1>
        <a:srgbClr val="222222"/>
      </a:dk1>
      <a:lt1>
        <a:srgbClr val="FFFFFF"/>
      </a:lt1>
      <a:dk2>
        <a:srgbClr val="1F497D"/>
      </a:dk2>
      <a:lt2>
        <a:srgbClr val="FFFFFF"/>
      </a:lt2>
      <a:accent1>
        <a:srgbClr val="0070C0"/>
      </a:accent1>
      <a:accent2>
        <a:srgbClr val="E31B23"/>
      </a:accent2>
      <a:accent3>
        <a:srgbClr val="5BC0EB"/>
      </a:accent3>
      <a:accent4>
        <a:srgbClr val="0070C0"/>
      </a:accent4>
      <a:accent5>
        <a:srgbClr val="EAF6FC"/>
      </a:accent5>
      <a:accent6>
        <a:srgbClr val="666666"/>
      </a:accent6>
      <a:hlink>
        <a:srgbClr val="E31B23"/>
      </a:hlink>
      <a:folHlink>
        <a:srgbClr val="5BC0EB"/>
      </a:folHlink>
    </a:clrScheme>
    <a:fontScheme name="foodstateedit_nakamizo">
      <a:majorFont>
        <a:latin typeface="Arial"/>
        <a:ea typeface="Yu Gothic"/>
        <a:cs typeface="Arial"/>
        <a:font script="Jpan" typeface="Yu Gothic"/>
        <a:font script="Hang" typeface="Yu Gothic"/>
        <a:font script="Hans" typeface="Yu Gothic"/>
        <a:font script="Hant" typeface="Yu Gothic"/>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Yu Gothic"/>
        <a:cs typeface="Arial"/>
        <a:font script="Jpan" typeface="Yu Gothic"/>
        <a:font script="Hang" typeface="Yu Gothic"/>
        <a:font script="Hans" typeface="Yu Gothic"/>
        <a:font script="Hant" typeface="Yu Gothi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oodstateedit_nakamiz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foodstateedit_nakamizo">
  <a:themeElements>
    <a:clrScheme name="foodstateedit_nakamizo">
      <a:dk1>
        <a:srgbClr val="222222"/>
      </a:dk1>
      <a:lt1>
        <a:srgbClr val="FFFFFF"/>
      </a:lt1>
      <a:dk2>
        <a:srgbClr val="1F497D"/>
      </a:dk2>
      <a:lt2>
        <a:srgbClr val="FFFFFF"/>
      </a:lt2>
      <a:accent1>
        <a:srgbClr val="0070C0"/>
      </a:accent1>
      <a:accent2>
        <a:srgbClr val="E31B23"/>
      </a:accent2>
      <a:accent3>
        <a:srgbClr val="5BC0EB"/>
      </a:accent3>
      <a:accent4>
        <a:srgbClr val="0070C0"/>
      </a:accent4>
      <a:accent5>
        <a:srgbClr val="EAF6FC"/>
      </a:accent5>
      <a:accent6>
        <a:srgbClr val="666666"/>
      </a:accent6>
      <a:hlink>
        <a:srgbClr val="E31B23"/>
      </a:hlink>
      <a:folHlink>
        <a:srgbClr val="5BC0EB"/>
      </a:folHlink>
    </a:clrScheme>
    <a:fontScheme name="foodstateedit_nakamizo">
      <a:majorFont>
        <a:latin typeface="Arial"/>
        <a:ea typeface="Yu Gothic"/>
        <a:cs typeface="Arial"/>
        <a:font script="Jpan" typeface="Yu Gothic"/>
        <a:font script="Hang" typeface="Yu Gothic"/>
        <a:font script="Hans" typeface="Yu Gothic"/>
        <a:font script="Hant" typeface="Yu Gothic"/>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Yu Gothic"/>
        <a:cs typeface="Arial"/>
        <a:font script="Jpan" typeface="Yu Gothic"/>
        <a:font script="Hang" typeface="Yu Gothic"/>
        <a:font script="Hans" typeface="Yu Gothic"/>
        <a:font script="Hant" typeface="Yu Gothi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oodstateedit_nakamiz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13</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ja-JP</dc:language>
  <cp:lastModifiedBy/>
  <cp:revision>1</cp:revision>
  <dcterms:created xsi:type="dcterms:W3CDTF">2026-09-14T00:49:11Z</dcterms:created>
  <dcterms:modified xsi:type="dcterms:W3CDTF">2026-09-14T00:49:11Z</dcterms:modified>
  <cp:category/>
  <cp:contentStatus/>
</cp:coreProperties>
</file>