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「3次元動作制御に基づく食物画像編集」について、GUO ZHENGPENGが発表します。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本研究では、普通の料理写真に、食べる直前の臨場感を加えることを目指します。例えば、麺を箸で持ち上げたり、ケーキを一口取り分けたりする編集です。元の料理を活かしたまま、食べる場面を想像しやすい画像を作り、メニューなどへの応用を考え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こちらは、編集したい部分以外も変わった例です。結果は写真らしく見えますが、器や背景、構図まで元画像と異なっています。そこで、食物と道具の操作を加えながら、変更する必要のない部分を保つことを課題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成功条件は三つです。道具と食物の動作が正しいこと、写真として自然であること、そして背景を保持することです。三つをすべて満たした場合を、Strict成功とします。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生成には、条件付き動画生成モデルのVACEを使います。外部比較にはQwen ImageとChordEditを用います。GeoEditは幾何編集の関連研究、SAM3は領域抽出の候補ですが、現在の生成処理には接続していません。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中央はVACE原論文のモデル図です。VACEは、画像やマスクなどの条件から動画を生成します。緑の太枠と矢印が本研究の追加です。入力前に相対3D動作から制御列を作り、生成後に固定フレームを取り出して局所合成します。VACE本体や条件エンコーダーは公開済み重みを使い、新しく学習しません。図の学習マークは原論文の設定です。</a:t>
            </a:r>
          </a:p>
          <a:p>
            <a:endParaRPr/>
          </a:p>
          <a:p>
            <a:r>
              <a:t>参考文献（読み上げ不要）：</a:t>
            </a:r>
          </a:p>
          <a:p>
            <a:r>
              <a:t>[1] Z. Jiang et al. VACE: All-in-One Video Creation and Editing. Figure 3, arXiv:2503.07598v2, 2025. https://arxiv.org/html/2503.07598v2#S3.F3</a:t>
            </a:r>
          </a:p>
          <a:p>
            <a:r>
              <a:t>[6] https://huggingface.co/alibaba-pai/Wan2.2-VACE-Fun-A14B</a:t>
            </a:r>
          </a:p>
          <a:p>
            <a:r>
              <a:t>原図は変更せず引用。緑の注記のみ本研究で追加。原著の学習方法を本研究が再実施したという意味ではない。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全体の流れを説明します。まず、入力画像上で操作する食物と接触位置を指定します。次に、相対3D制御から21枚の制御画像とマスクを作り、VACEへ入力します。生成した動画から固定フレームを取り出し、編集領域だけを元画像に戻します。最終出力は一枚の画像です。マスクの外は元画像を使うため、背景保持はこの合成処理による効果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相対3Dは、画像から正確な3D形状を復元するものではありません。食物の領域と接触点を手動で指定し、設計した奥行きを与えます。食物は頂点やテクスチャ領域、道具は線や曲線で簡単に表し、精密な道具の3Dモデルは使いません。これらを移動・回転させ、仮想カメラで2D画像へ投影します。接近、接触、持ち上げ、停留を21フレームにします。出力は図のRGB制御列とマスクで、マスクは描画領域から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左の制御画像には、持ち上げる位置と形がすでに含まれています。VACEはこれを条件に、質感や新しく見える部分を生成します。ただし、道具の形には不自然さが残ります。今回の主比較は全食材でLoRAを使わず、生成器を固定しています。初期のLoRA検証とは別の実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スープと炒飯の例です。Qwenは自然な見た目を生成する一方、元画像から変わる部分があります。本手法は構図を保ちますが、道具の形は改善が必要です。手法ごとに後処理が異なる点にも注意が必要です。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ちらは合成ケーキの例です。本手法では一口の位置を指定し、皿と背景を保持しています。ただし、フォークの形は十分自然ではありません。これは選定した例であり、全体の成功率を示す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じVACEに、異なる条件列を入れた比較です。中央は原画像を繰り返す条件で、道具が十分に生成されませんでした。右は操作を描いた条件を加えています。明示的な操作条件の役割は確認できますが、この比較だけでは、3Dが2Dより優れているとは判断でき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評価は、動作、写真の自然さ、非編集領域の保持を分けて行います。PSNRとSSIMは入力との一致度、領域外MAEはマスクの外の画素差です。これらは背景保持の診断であり、動作や写真品質そのものではありません。次の表の意味評価は、内部判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ちらは、同じ合成スープ一例の結果です。赤い行が本手法です。領域外の画素は100パーセント一致し、この例では三つの成功条件を満たすと内部判定しました。ただし、背景保持は局所合成によるものです。Qwenには同じ合成を適用していないため、生成モデル自体の優劣は結論できません。また、一例の結果であり、統計的な優位性を示す表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現在、追加学習なしで、操作条件の作成から最終画像までの処理を構築しました。複数の食材で編集例を得て、領域外保持も確認しました。一方、相対3Dの独立した効果は、今後の検証が必要です。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t>今後は、未使用の食物や大きな動作で評価し、持ち上げた一口が元の領域に対応するかを確認します。さらに、生成中の誤りを修正する方法と、食物の状態変化を扱う方法を検討します。元の料理を保ちながら、食べる場面を自然に表現することを目指し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dstateedit_nakamiz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0C73DA-B04F-4352-8198-6007CE77EB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2026/9/15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DDD9B4-E6A5-4DF9-B9F4-CF195CF0D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BD97B-446B-4045-9DB7-E018FF386A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odstateedit_nakamiz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1F107-59E0-4A03-9B86-E2DB95C2BE3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2026/9/15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FD79E-58D5-4073-9332-E0A01107F10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887D-D8E0-42A8-81C7-BC10DB0E88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195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185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145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95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5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7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45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2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1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0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3837FF69-3AA7-4D7E-AEA5-AB4F67C4DD8C}"/>
              </a:ext>
            </a:extLst>
          </p:cNvPr>
          <p:cNvSpPr>
            <a:spLocks noGrp="1"/>
          </p:cNvSpPr>
          <p:nvPr/>
        </p:nvSpPr>
        <p:spPr>
          <a:xfrm>
            <a:off x="838200" y="1247775"/>
            <a:ext cx="838200" cy="47625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FED983-1312-4FCE-8A84-8F718A8264FC}"/>
              </a:ext>
            </a:extLst>
          </p:cNvPr>
          <p:cNvSpPr>
            <a:spLocks noGrp="1"/>
          </p:cNvSpPr>
          <p:nvPr/>
        </p:nvSpPr>
        <p:spPr>
          <a:xfrm>
            <a:off x="838200" y="16668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修士研究発表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26C732-BC78-4F8A-BFC2-3082B9BDDC1A}"/>
              </a:ext>
            </a:extLst>
          </p:cNvPr>
          <p:cNvSpPr>
            <a:spLocks noGrp="1"/>
          </p:cNvSpPr>
          <p:nvPr/>
        </p:nvSpPr>
        <p:spPr>
          <a:xfrm>
            <a:off x="838200" y="2257425"/>
            <a:ext cx="10515600" cy="1362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36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3次元動作制御に基づく</a:t>
            </a:r>
          </a:p>
          <a:p>
            <a:pPr>
              <a:buNone/>
              <a:defRPr sz="36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食物画像編集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1CD2D1-3438-437D-BAFE-25BA2DE5DF8E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1019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175" b="0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4251F3-485F-457E-B838-68A7D397FAF8}"/>
              </a:ext>
            </a:extLst>
          </p:cNvPr>
          <p:cNvSpPr>
            <a:spLocks noGrp="1"/>
          </p:cNvSpPr>
          <p:nvPr/>
        </p:nvSpPr>
        <p:spPr>
          <a:xfrm>
            <a:off x="857250" y="48291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95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GUO ZHENGPENG　2530030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3B7085-63A7-4802-A1DE-080471374BBE}"/>
              </a:ext>
            </a:extLst>
          </p:cNvPr>
          <p:cNvSpPr>
            <a:spLocks noGrp="1"/>
          </p:cNvSpPr>
          <p:nvPr/>
        </p:nvSpPr>
        <p:spPr>
          <a:xfrm>
            <a:off x="857250" y="5295900"/>
            <a:ext cx="9525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6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メディア情報学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1E9D4F-AE01-4885-9E85-09FD87D7F35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10001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主指導：柳井 啓司　　副指導：高橋 裕樹</a:t>
            </a:r>
          </a:p>
        </p:txBody>
      </p:sp>
    </p:spTree>
    <p:extLst>
      <p:ext uri="{BB962C8B-B14F-4D97-AF65-F5344CB8AC3E}">
        <p14:creationId xmlns:p14="http://schemas.microsoft.com/office/powerpoint/2010/main" val="175123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03ED8EB3-AAC2-4B2C-A3DF-E0167C00060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199E6D4-525F-4355-9CF1-732ACBCCB69D}"/>
              </a:ext>
            </a:extLst>
          </p:cNvPr>
          <p:cNvSpPr>
            <a:spLocks noGrp="1"/>
          </p:cNvSpPr>
          <p:nvPr/>
        </p:nvSpPr>
        <p:spPr>
          <a:xfrm>
            <a:off x="679704" y="594360"/>
            <a:ext cx="8532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 b="1" spc="135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PURPOSE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2D8B44-E03C-42AD-806E-888ED6FED408}"/>
              </a:ext>
            </a:extLst>
          </p:cNvPr>
          <p:cNvSpPr>
            <a:spLocks noGrp="1"/>
          </p:cNvSpPr>
          <p:nvPr/>
        </p:nvSpPr>
        <p:spPr>
          <a:xfrm>
            <a:off x="669798" y="831533"/>
            <a:ext cx="766495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1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研究目的：食べる瞬間を感じる食物画像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FBFD09-61DC-4059-8E2F-33BDAF8A0323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048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91D50DE-66F5-4943-BF8F-AF6FB41EC2FD}"/>
              </a:ext>
            </a:extLst>
          </p:cNvPr>
          <p:cNvSpPr>
            <a:spLocks noGrp="1"/>
          </p:cNvSpPr>
          <p:nvPr/>
        </p:nvSpPr>
        <p:spPr>
          <a:xfrm>
            <a:off x="680466" y="6420802"/>
            <a:ext cx="2129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chemeClr val="accent6"/>
                </a:solidFill>
                <a:latin typeface="+mn-lt"/>
                <a:ea typeface="+mn-lt"/>
                <a:cs typeface="+mn-lt"/>
              </a:rPr>
              <a:t>FoodStateEdit｜メディア情報学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D08D3D-0457-499D-A9AB-7125D5E9882F}"/>
              </a:ext>
            </a:extLst>
          </p:cNvPr>
          <p:cNvSpPr>
            <a:spLocks noGrp="1"/>
          </p:cNvSpPr>
          <p:nvPr/>
        </p:nvSpPr>
        <p:spPr>
          <a:xfrm>
            <a:off x="11320402" y="6404610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2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2C1D033-ACE2-47A4-B13B-4E4E2131F424}"/>
              </a:ext>
            </a:extLst>
          </p:cNvPr>
          <p:cNvSpPr>
            <a:spLocks noGrp="1"/>
          </p:cNvSpPr>
          <p:nvPr/>
        </p:nvSpPr>
        <p:spPr>
          <a:xfrm>
            <a:off x="715137" y="16806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72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研究目的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F25DB76-38EC-4F36-8201-72A901DD1F03}"/>
              </a:ext>
            </a:extLst>
          </p:cNvPr>
          <p:cNvSpPr>
            <a:spLocks noGrp="1"/>
          </p:cNvSpPr>
          <p:nvPr/>
        </p:nvSpPr>
        <p:spPr>
          <a:xfrm>
            <a:off x="712089" y="2054066"/>
            <a:ext cx="2834488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32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普通の食物写真に、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03B1F2-4B62-44A9-A720-5BAF1B34D6EE}"/>
              </a:ext>
            </a:extLst>
          </p:cNvPr>
          <p:cNvSpPr>
            <a:spLocks noGrp="1"/>
          </p:cNvSpPr>
          <p:nvPr/>
        </p:nvSpPr>
        <p:spPr>
          <a:xfrm>
            <a:off x="712089" y="2452688"/>
            <a:ext cx="4708398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232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「食べる直前」の臨場感を加える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B8A461-EFDE-4037-B9CE-9753F1924B74}"/>
              </a:ext>
            </a:extLst>
          </p:cNvPr>
          <p:cNvSpPr>
            <a:spLocks noGrp="1"/>
          </p:cNvSpPr>
          <p:nvPr/>
        </p:nvSpPr>
        <p:spPr>
          <a:xfrm>
            <a:off x="716280" y="3076575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>
                <a:solidFill>
                  <a:schemeClr val="dk1"/>
                </a:solidFill>
                <a:latin typeface="+mn-lt"/>
                <a:ea typeface="+mn-lt"/>
                <a:cs typeface="+mn-lt"/>
              </a:rPr>
              <a:t>道具で食物を動かす状態を生成し、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E9A6F1F-0B4B-4033-984C-DF329BA9171F}"/>
              </a:ext>
            </a:extLst>
          </p:cNvPr>
          <p:cNvSpPr>
            <a:spLocks noGrp="1"/>
          </p:cNvSpPr>
          <p:nvPr/>
        </p:nvSpPr>
        <p:spPr>
          <a:xfrm>
            <a:off x="716280" y="3381375"/>
            <a:ext cx="34480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>
                <a:solidFill>
                  <a:schemeClr val="dk1"/>
                </a:solidFill>
                <a:latin typeface="+mn-lt"/>
                <a:ea typeface="+mn-lt"/>
                <a:cs typeface="+mn-lt"/>
              </a:rPr>
              <a:t>見る人が味・食感・動きを想像できる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0959ADC-A0E7-46FA-A748-668662178F2C}"/>
              </a:ext>
            </a:extLst>
          </p:cNvPr>
          <p:cNvSpPr>
            <a:spLocks noGrp="1"/>
          </p:cNvSpPr>
          <p:nvPr/>
        </p:nvSpPr>
        <p:spPr>
          <a:xfrm>
            <a:off x="716280" y="3686175"/>
            <a:ext cx="163068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>
                <a:solidFill>
                  <a:schemeClr val="dk1"/>
                </a:solidFill>
                <a:latin typeface="+mn-lt"/>
                <a:ea typeface="+mn-lt"/>
                <a:cs typeface="+mn-lt"/>
              </a:rPr>
              <a:t>視覚表現を目指す</a:t>
            </a: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87CBC20C-7885-4B1C-A349-A8A3F814546C}"/>
              </a:ext>
            </a:extLst>
          </p:cNvPr>
          <p:cNvSpPr>
            <a:spLocks noGrp="1"/>
          </p:cNvSpPr>
          <p:nvPr/>
        </p:nvSpPr>
        <p:spPr>
          <a:xfrm>
            <a:off x="723900" y="4362450"/>
            <a:ext cx="4248150" cy="9525"/>
          </a:xfrm>
          <a:custGeom>
            <a:avLst/>
            <a:gdLst/>
            <a:ahLst/>
            <a:cxnLst/>
            <a:rect l="l" t="t" r="r" b="b"/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/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DBC082B-908D-44A8-B450-9EEC24EB496C}"/>
              </a:ext>
            </a:extLst>
          </p:cNvPr>
          <p:cNvSpPr>
            <a:spLocks noGrp="1"/>
          </p:cNvSpPr>
          <p:nvPr/>
        </p:nvSpPr>
        <p:spPr>
          <a:xfrm>
            <a:off x="715137" y="4576286"/>
            <a:ext cx="94371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72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利用場面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BB6F95C-E393-4D3D-AADA-5D395901AF7E}"/>
              </a:ext>
            </a:extLst>
          </p:cNvPr>
          <p:cNvSpPr>
            <a:spLocks noGrp="1"/>
          </p:cNvSpPr>
          <p:nvPr/>
        </p:nvSpPr>
        <p:spPr>
          <a:xfrm>
            <a:off x="868680" y="49815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chemeClr val="accent6"/>
                </a:solidFill>
                <a:latin typeface="+mn-lt"/>
                <a:ea typeface="+mn-lt"/>
                <a:cs typeface="+mn-lt"/>
              </a:rPr>
              <a:t>食品メニュー・広告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063C3D7-E69C-4815-B0E7-B38D353524A7}"/>
              </a:ext>
            </a:extLst>
          </p:cNvPr>
          <p:cNvSpPr>
            <a:spLocks noGrp="1"/>
          </p:cNvSpPr>
          <p:nvPr/>
        </p:nvSpPr>
        <p:spPr>
          <a:xfrm>
            <a:off x="868680" y="5286375"/>
            <a:ext cx="26403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500" b="1">
                <a:solidFill>
                  <a:schemeClr val="accent6"/>
                </a:solidFill>
                <a:latin typeface="+mn-lt"/>
                <a:ea typeface="+mn-lt"/>
                <a:cs typeface="+mn-lt"/>
              </a:rPr>
              <a:t>レシピ・食育・デジタル創作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54D6E3EA-E0EC-4ABE-961B-9A5995D0604F}"/>
              </a:ext>
            </a:extLst>
          </p:cNvPr>
          <p:cNvSpPr>
            <a:spLocks noGrp="1"/>
          </p:cNvSpPr>
          <p:nvPr/>
        </p:nvSpPr>
        <p:spPr>
          <a:xfrm>
            <a:off x="5657850" y="1828800"/>
            <a:ext cx="2628900" cy="2647950"/>
          </a:xfrm>
          <a:prstGeom prst="roundRect">
            <a:avLst>
              <a:gd name="adj" fmla="val 2174"/>
            </a:avLst>
          </a:prstGeom>
          <a:solidFill>
            <a:srgbClr val="F7F9FB"/>
          </a:solidFill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1" name="Imag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16944"/>
            <a:ext cx="2514600" cy="1871662"/>
          </a:xfrm>
          <a:prstGeom prst="rect">
            <a:avLst/>
          </a:prstGeom>
        </p:spPr>
      </p:pic>
      <p:sp>
        <p:nvSpPr>
          <p:cNvPr id="20" name="Rectangle 20">
            <a:extLst>
              <a:ext uri="{FF2B5EF4-FFF2-40B4-BE49-F238E27FC236}">
                <a16:creationId xmlns:a16="http://schemas.microsoft.com/office/drawing/2014/main" id="{E6DAA803-07C4-4DE5-9DB4-20742E4595C8}"/>
              </a:ext>
            </a:extLst>
          </p:cNvPr>
          <p:cNvSpPr>
            <a:spLocks noGrp="1"/>
          </p:cNvSpPr>
          <p:nvPr/>
        </p:nvSpPr>
        <p:spPr>
          <a:xfrm>
            <a:off x="5657850" y="1828800"/>
            <a:ext cx="2628900" cy="32385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0885517-FD38-4CA3-B414-B26F0D3A729A}"/>
              </a:ext>
            </a:extLst>
          </p:cNvPr>
          <p:cNvSpPr>
            <a:spLocks noGrp="1"/>
          </p:cNvSpPr>
          <p:nvPr/>
        </p:nvSpPr>
        <p:spPr>
          <a:xfrm>
            <a:off x="5784723" y="191976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普通の食物写真</a:t>
            </a: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18345847-C0B7-43E9-97BF-7B27994FBE04}"/>
              </a:ext>
            </a:extLst>
          </p:cNvPr>
          <p:cNvSpPr>
            <a:spLocks noGrp="1"/>
          </p:cNvSpPr>
          <p:nvPr/>
        </p:nvSpPr>
        <p:spPr>
          <a:xfrm>
            <a:off x="8372475" y="3152775"/>
            <a:ext cx="314325" cy="9525"/>
          </a:xfrm>
          <a:custGeom>
            <a:avLst/>
            <a:gdLst/>
            <a:ahLst/>
            <a:cxnLst/>
            <a:rect l="l" t="t" r="r" b="b"/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38100">
            <a:solidFill>
              <a:schemeClr val="accent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Polygon 23">
            <a:extLst>
              <a:ext uri="{FF2B5EF4-FFF2-40B4-BE49-F238E27FC236}">
                <a16:creationId xmlns:a16="http://schemas.microsoft.com/office/drawing/2014/main" id="{3695FAB9-E508-4239-9B23-23894429E65C}"/>
              </a:ext>
            </a:extLst>
          </p:cNvPr>
          <p:cNvSpPr>
            <a:spLocks noGrp="1"/>
          </p:cNvSpPr>
          <p:nvPr/>
        </p:nvSpPr>
        <p:spPr>
          <a:xfrm>
            <a:off x="8686800" y="30765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114300" y="762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70E6DBFF-C446-4C62-B0B7-9950BCBEDC96}"/>
              </a:ext>
            </a:extLst>
          </p:cNvPr>
          <p:cNvSpPr>
            <a:spLocks noGrp="1"/>
          </p:cNvSpPr>
          <p:nvPr/>
        </p:nvSpPr>
        <p:spPr>
          <a:xfrm>
            <a:off x="8915400" y="1828800"/>
            <a:ext cx="2628900" cy="2647950"/>
          </a:xfrm>
          <a:prstGeom prst="roundRect">
            <a:avLst>
              <a:gd name="adj" fmla="val 2174"/>
            </a:avLst>
          </a:prstGeom>
          <a:solidFill>
            <a:srgbClr val="F7F9FB"/>
          </a:solidFill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57" name="Imag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2216944"/>
            <a:ext cx="2514600" cy="1871662"/>
          </a:xfrm>
          <a:prstGeom prst="rect">
            <a:avLst/>
          </a:prstGeom>
        </p:spPr>
      </p:pic>
      <p:sp>
        <p:nvSpPr>
          <p:cNvPr id="26" name="Rectangle 26">
            <a:extLst>
              <a:ext uri="{FF2B5EF4-FFF2-40B4-BE49-F238E27FC236}">
                <a16:creationId xmlns:a16="http://schemas.microsoft.com/office/drawing/2014/main" id="{EE043C4B-64D1-4FE7-B726-08E55597D8F3}"/>
              </a:ext>
            </a:extLst>
          </p:cNvPr>
          <p:cNvSpPr>
            <a:spLocks noGrp="1"/>
          </p:cNvSpPr>
          <p:nvPr/>
        </p:nvSpPr>
        <p:spPr>
          <a:xfrm>
            <a:off x="8915400" y="1828800"/>
            <a:ext cx="2628900" cy="323850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27F459B1-7C72-4E44-A51D-4D46C52F39A8}"/>
              </a:ext>
            </a:extLst>
          </p:cNvPr>
          <p:cNvSpPr>
            <a:spLocks noGrp="1"/>
          </p:cNvSpPr>
          <p:nvPr/>
        </p:nvSpPr>
        <p:spPr>
          <a:xfrm>
            <a:off x="9042273" y="1919764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操作状態を生成</a:t>
            </a:r>
          </a:p>
        </p:txBody>
      </p:sp>
      <p:sp>
        <p:nvSpPr>
          <p:cNvPr id="28" name="Rectangle 28">
            <a:extLst>
              <a:ext uri="{FF2B5EF4-FFF2-40B4-BE49-F238E27FC236}">
                <a16:creationId xmlns:a16="http://schemas.microsoft.com/office/drawing/2014/main" id="{BD5FC918-CC07-4A5F-B6FE-4FE44ED8AD28}"/>
              </a:ext>
            </a:extLst>
          </p:cNvPr>
          <p:cNvSpPr>
            <a:spLocks noGrp="1"/>
          </p:cNvSpPr>
          <p:nvPr/>
        </p:nvSpPr>
        <p:spPr>
          <a:xfrm>
            <a:off x="5657850" y="4762500"/>
            <a:ext cx="5886450" cy="74295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BCE4266-1616-4760-897A-655C287B82B6}"/>
              </a:ext>
            </a:extLst>
          </p:cNvPr>
          <p:cNvSpPr>
            <a:spLocks noGrp="1"/>
          </p:cNvSpPr>
          <p:nvPr/>
        </p:nvSpPr>
        <p:spPr>
          <a:xfrm>
            <a:off x="7199579" y="4883944"/>
            <a:ext cx="2802992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8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静止した料理写真から、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C75AEAE3-A47F-4B52-8016-FA00509B348C}"/>
              </a:ext>
            </a:extLst>
          </p:cNvPr>
          <p:cNvSpPr>
            <a:spLocks noGrp="1"/>
          </p:cNvSpPr>
          <p:nvPr/>
        </p:nvSpPr>
        <p:spPr>
          <a:xfrm>
            <a:off x="6819951" y="5179219"/>
            <a:ext cx="3562248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8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食べる場面を想像できる画像へ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0DEA728-BB11-4A3A-9B5E-11B3C8DACD52}"/>
              </a:ext>
            </a:extLst>
          </p:cNvPr>
          <p:cNvSpPr>
            <a:spLocks noGrp="1"/>
          </p:cNvSpPr>
          <p:nvPr/>
        </p:nvSpPr>
        <p:spPr>
          <a:xfrm>
            <a:off x="6698104" y="5630228"/>
            <a:ext cx="38059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050">
                <a:solidFill>
                  <a:schemeClr val="accent6"/>
                </a:solidFill>
                <a:latin typeface="+mn-lt"/>
                <a:ea typeface="+mn-lt"/>
                <a:cs typeface="+mn-lt"/>
              </a:rPr>
              <a:t>※ 視覚的な臨場感を対象とし、味覚刺激そのものは扱わない</a:t>
            </a:r>
          </a:p>
        </p:txBody>
      </p:sp>
    </p:spTree>
    <p:extLst>
      <p:ext uri="{BB962C8B-B14F-4D97-AF65-F5344CB8AC3E}">
        <p14:creationId xmlns:p14="http://schemas.microsoft.com/office/powerpoint/2010/main" val="150121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D55B9418-9303-4870-9CF0-10F09AC29C6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AD7E83F-85C9-45A8-88BC-61E6D1D2BEE4}"/>
              </a:ext>
            </a:extLst>
          </p:cNvPr>
          <p:cNvSpPr>
            <a:spLocks noGrp="1"/>
          </p:cNvSpPr>
          <p:nvPr/>
        </p:nvSpPr>
        <p:spPr>
          <a:xfrm>
            <a:off x="679704" y="594360"/>
            <a:ext cx="8891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00" b="1" spc="135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PROBLEM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162B66A-D645-43C6-BB05-E8CA78FCCCA7}"/>
              </a:ext>
            </a:extLst>
          </p:cNvPr>
          <p:cNvSpPr>
            <a:spLocks noGrp="1"/>
          </p:cNvSpPr>
          <p:nvPr/>
        </p:nvSpPr>
        <p:spPr>
          <a:xfrm>
            <a:off x="669798" y="831533"/>
            <a:ext cx="893711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315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既存画像編集の問題：不要な領域まで変化する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AD5B1C-2C2E-4018-B0ED-E8F3B963CF1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048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F389BD7-3A34-4F35-B5F7-0D342D214CAC}"/>
              </a:ext>
            </a:extLst>
          </p:cNvPr>
          <p:cNvSpPr>
            <a:spLocks noGrp="1"/>
          </p:cNvSpPr>
          <p:nvPr/>
        </p:nvSpPr>
        <p:spPr>
          <a:xfrm>
            <a:off x="680466" y="6420802"/>
            <a:ext cx="2129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chemeClr val="accent6"/>
                </a:solidFill>
                <a:latin typeface="+mn-lt"/>
                <a:ea typeface="+mn-lt"/>
                <a:cs typeface="+mn-lt"/>
              </a:rPr>
              <a:t>FoodStateEdit｜メディア情報学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F2FE613-DEAD-45F5-92E2-574E1BD29C23}"/>
              </a:ext>
            </a:extLst>
          </p:cNvPr>
          <p:cNvSpPr>
            <a:spLocks noGrp="1"/>
          </p:cNvSpPr>
          <p:nvPr/>
        </p:nvSpPr>
        <p:spPr>
          <a:xfrm>
            <a:off x="11320402" y="6404610"/>
            <a:ext cx="1918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2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03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B489A9FE-8C1A-4EC5-A202-E5E51E1AAEF9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762500" cy="3028950"/>
          </a:xfrm>
          <a:prstGeom prst="roundRect">
            <a:avLst>
              <a:gd name="adj" fmla="val 1887"/>
            </a:avLst>
          </a:prstGeom>
          <a:solidFill>
            <a:srgbClr val="F7F9FB"/>
          </a:solidFill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4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356" y="1790700"/>
            <a:ext cx="3481388" cy="2914650"/>
          </a:xfrm>
          <a:prstGeom prst="rect">
            <a:avLst/>
          </a:prstGeom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D51F1A7F-DE74-4110-B03D-588366605FFF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4762500" cy="32385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5DFBF05-D6D0-41E4-AF66-AC92708DE3B3}"/>
              </a:ext>
            </a:extLst>
          </p:cNvPr>
          <p:cNvSpPr>
            <a:spLocks noGrp="1"/>
          </p:cNvSpPr>
          <p:nvPr/>
        </p:nvSpPr>
        <p:spPr>
          <a:xfrm>
            <a:off x="812673" y="1824514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入力画像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38C754DB-E2B3-44D1-993D-B534CD081D2E}"/>
              </a:ext>
            </a:extLst>
          </p:cNvPr>
          <p:cNvSpPr>
            <a:spLocks noGrp="1"/>
          </p:cNvSpPr>
          <p:nvPr/>
        </p:nvSpPr>
        <p:spPr>
          <a:xfrm>
            <a:off x="6743700" y="1733550"/>
            <a:ext cx="4762500" cy="3028950"/>
          </a:xfrm>
          <a:prstGeom prst="roundRect">
            <a:avLst>
              <a:gd name="adj" fmla="val 1887"/>
            </a:avLst>
          </a:prstGeom>
          <a:solidFill>
            <a:srgbClr val="F7F9FB"/>
          </a:solidFill>
          <a:ln w="19050">
            <a:solidFill>
              <a:srgbClr val="D8DDE3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8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06" y="1790700"/>
            <a:ext cx="3519488" cy="2914650"/>
          </a:xfrm>
          <a:prstGeom prst="rect">
            <a:avLst/>
          </a:prstGeom>
        </p:spPr>
      </p:pic>
      <p:sp>
        <p:nvSpPr>
          <p:cNvPr id="14" name="Rectangle 14">
            <a:extLst>
              <a:ext uri="{FF2B5EF4-FFF2-40B4-BE49-F238E27FC236}">
                <a16:creationId xmlns:a16="http://schemas.microsoft.com/office/drawing/2014/main" id="{D032AC8F-F003-4579-8698-5C6059E6083A}"/>
              </a:ext>
            </a:extLst>
          </p:cNvPr>
          <p:cNvSpPr>
            <a:spLocks noGrp="1"/>
          </p:cNvSpPr>
          <p:nvPr/>
        </p:nvSpPr>
        <p:spPr>
          <a:xfrm>
            <a:off x="6743700" y="1733550"/>
            <a:ext cx="4762500" cy="323850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07AEA97-7C8F-4503-8B33-EBFE6B094027}"/>
              </a:ext>
            </a:extLst>
          </p:cNvPr>
          <p:cNvSpPr>
            <a:spLocks noGrp="1"/>
          </p:cNvSpPr>
          <p:nvPr/>
        </p:nvSpPr>
        <p:spPr>
          <a:xfrm>
            <a:off x="6870573" y="1824514"/>
            <a:ext cx="156377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280" b="1">
                <a:solidFill>
                  <a:srgbClr val="FFFFFF"/>
                </a:solidFill>
                <a:latin typeface="+mn-lt"/>
                <a:ea typeface="+mn-lt"/>
                <a:cs typeface="+mn-lt"/>
              </a:rPr>
              <a:t>一般的な生成編集例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BACAD9C7-FE1B-4BB5-BC39-D6D1382809DF}"/>
              </a:ext>
            </a:extLst>
          </p:cNvPr>
          <p:cNvSpPr>
            <a:spLocks noGrp="1"/>
          </p:cNvSpPr>
          <p:nvPr/>
        </p:nvSpPr>
        <p:spPr>
          <a:xfrm>
            <a:off x="5600700" y="3238500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47625">
            <a:solidFill>
              <a:schemeClr val="accent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Polygon 17">
            <a:extLst>
              <a:ext uri="{FF2B5EF4-FFF2-40B4-BE49-F238E27FC236}">
                <a16:creationId xmlns:a16="http://schemas.microsoft.com/office/drawing/2014/main" id="{E34DF2F6-BA8F-45C7-AE89-0A4B02C10039}"/>
              </a:ext>
            </a:extLst>
          </p:cNvPr>
          <p:cNvSpPr>
            <a:spLocks noGrp="1"/>
          </p:cNvSpPr>
          <p:nvPr/>
        </p:nvSpPr>
        <p:spPr>
          <a:xfrm>
            <a:off x="6457950" y="31623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0"/>
                </a:moveTo>
                <a:lnTo>
                  <a:pt x="114300" y="762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463DEFA-ACBF-4FD3-8468-5A1A14C2313B}"/>
              </a:ext>
            </a:extLst>
          </p:cNvPr>
          <p:cNvSpPr>
            <a:spLocks noGrp="1"/>
          </p:cNvSpPr>
          <p:nvPr/>
        </p:nvSpPr>
        <p:spPr>
          <a:xfrm>
            <a:off x="2352675" y="49434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chemeClr val="accent1"/>
                </a:solidFill>
                <a:latin typeface="+mn-lt"/>
                <a:ea typeface="+mn-lt"/>
                <a:cs typeface="+mn-lt"/>
              </a:rPr>
              <a:t>編集したい部分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0F5BD1CE-6CBA-4CA0-88EB-19D70B86FB3A}"/>
              </a:ext>
            </a:extLst>
          </p:cNvPr>
          <p:cNvSpPr>
            <a:spLocks noGrp="1"/>
          </p:cNvSpPr>
          <p:nvPr/>
        </p:nvSpPr>
        <p:spPr>
          <a:xfrm>
            <a:off x="2088642" y="5215890"/>
            <a:ext cx="19568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箸と持ち上げる麺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31D2360-9F16-4F46-A104-0F2CF42E2A02}"/>
              </a:ext>
            </a:extLst>
          </p:cNvPr>
          <p:cNvSpPr>
            <a:spLocks noGrp="1"/>
          </p:cNvSpPr>
          <p:nvPr/>
        </p:nvSpPr>
        <p:spPr>
          <a:xfrm>
            <a:off x="8208645" y="4943475"/>
            <a:ext cx="18326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500" b="1">
                <a:solidFill>
                  <a:schemeClr val="accent2"/>
                </a:solidFill>
                <a:latin typeface="+mn-lt"/>
                <a:ea typeface="+mn-lt"/>
                <a:cs typeface="+mn-lt"/>
              </a:rPr>
              <a:t>実際に変化した部分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6D14D2B-85A9-40FC-8291-D6F4632F171F}"/>
              </a:ext>
            </a:extLst>
          </p:cNvPr>
          <p:cNvSpPr>
            <a:spLocks noGrp="1"/>
          </p:cNvSpPr>
          <p:nvPr/>
        </p:nvSpPr>
        <p:spPr>
          <a:xfrm>
            <a:off x="7783068" y="5215890"/>
            <a:ext cx="26837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00" b="1">
                <a:solidFill>
                  <a:schemeClr val="dk1"/>
                </a:solidFill>
                <a:latin typeface="+mn-lt"/>
                <a:ea typeface="+mn-lt"/>
                <a:cs typeface="+mn-lt"/>
              </a:rPr>
              <a:t>画角・背景・器・麺全体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76BB82A0-AC6D-4A44-8437-F22C39654FE9}"/>
              </a:ext>
            </a:extLst>
          </p:cNvPr>
          <p:cNvSpPr>
            <a:spLocks noGrp="1"/>
          </p:cNvSpPr>
          <p:nvPr/>
        </p:nvSpPr>
        <p:spPr>
          <a:xfrm>
            <a:off x="990600" y="5638800"/>
            <a:ext cx="10210800" cy="495300"/>
          </a:xfrm>
          <a:prstGeom prst="roundRect">
            <a:avLst>
              <a:gd name="adj" fmla="val 9615"/>
            </a:avLst>
          </a:prstGeom>
          <a:solidFill>
            <a:srgbClr val="F1FAF4"/>
          </a:solidFill>
          <a:ln w="19050">
            <a:solidFill>
              <a:srgbClr val="2E8B5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5D6B26B7-819C-4F6A-8C25-3E5CD59A77E7}"/>
              </a:ext>
            </a:extLst>
          </p:cNvPr>
          <p:cNvSpPr>
            <a:spLocks noGrp="1"/>
          </p:cNvSpPr>
          <p:nvPr/>
        </p:nvSpPr>
        <p:spPr>
          <a:xfrm>
            <a:off x="2163648" y="5760244"/>
            <a:ext cx="7864704" cy="3667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>
              <a:buNone/>
            </a:pPr>
            <a:r>
              <a:rPr sz="1880" b="1">
                <a:solidFill>
                  <a:srgbClr val="2E8B57"/>
                </a:solidFill>
                <a:latin typeface="+mn-lt"/>
                <a:ea typeface="+mn-lt"/>
                <a:cs typeface="+mn-lt"/>
              </a:rPr>
              <a:t>本研究：必要な操作領域だけを変え、その他は原画像のまま保持する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6773C88-C02A-4B20-B42F-0469ED5BDD85}"/>
              </a:ext>
            </a:extLst>
          </p:cNvPr>
          <p:cNvSpPr>
            <a:spLocks noGrp="1"/>
          </p:cNvSpPr>
          <p:nvPr/>
        </p:nvSpPr>
        <p:spPr>
          <a:xfrm>
            <a:off x="680466" y="6182678"/>
            <a:ext cx="55516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050">
                <a:solidFill>
                  <a:schemeClr val="accent6"/>
                </a:solidFill>
                <a:latin typeface="+mn-lt"/>
                <a:ea typeface="+mn-lt"/>
                <a:cs typeface="+mn-lt"/>
              </a:rPr>
              <a:t>※ 同一入力・seed 1 の例。右画像は写真らしいが、入力との局所対応が失われている。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168668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1334AAD-30E3-43C7-9AC4-2AF3EC8627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6EADA2-85A3-497F-BF9E-C3BB687B24F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AAB8C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17B4BF-9E27-42CE-B4EC-DEE55A815B9D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 lnSpcReduction="10000"/>
          </a:bodyPr>
          <a:lstStyle/>
          <a:p>
            <a:pPr>
              <a:buNone/>
              <a:defRPr sz="12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SUCCESS CRITERIA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244BD-C9EA-435E-8C8C-14437AA6B5C1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325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食物操作編集の成功条件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A7C285-54AB-4DEB-BED4-FFC262BD78BF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9BB253-8BE7-4484-9870-B900266D461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buNone/>
              <a:defRPr sz="900" b="0">
                <a:solidFill>
                  <a:srgbClr val="7787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78792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DABD5E-388E-42AD-AD7A-3F2BDAF283A9}"/>
              </a:ext>
            </a:extLst>
          </p:cNvPr>
          <p:cNvSpPr>
            <a:spLocks noGrp="1"/>
          </p:cNvSpPr>
          <p:nvPr/>
        </p:nvSpPr>
        <p:spPr>
          <a:xfrm>
            <a:off x="11087100" y="6505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8408" b="8408"/>
          <a:stretch>
            <a:fillRect/>
          </a:stretch>
        </p:blipFill>
        <p:spPr>
          <a:xfrm>
            <a:off x="723900" y="1714500"/>
            <a:ext cx="5334000" cy="3714750"/>
          </a:xfrm>
          <a:prstGeom prst="roundRect">
            <a:avLst>
              <a:gd name="adj" fmla="val 2564"/>
            </a:avLst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CA299B8D-3214-424F-8B34-428E30985591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5334000" cy="3714750"/>
          </a:xfrm>
          <a:prstGeom prst="roundRect">
            <a:avLst>
              <a:gd name="adj" fmla="val 2051"/>
            </a:avLst>
          </a:prstGeom>
          <a:noFill/>
          <a:ln w="19050">
            <a:solidFill>
              <a:srgbClr val="225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B4A0650-64E0-4B8B-82B2-7E5DF86B3342}"/>
              </a:ext>
            </a:extLst>
          </p:cNvPr>
          <p:cNvSpPr>
            <a:spLocks noGrp="1"/>
          </p:cNvSpPr>
          <p:nvPr/>
        </p:nvSpPr>
        <p:spPr>
          <a:xfrm>
            <a:off x="4352925" y="2219325"/>
            <a:ext cx="781050" cy="781050"/>
          </a:xfrm>
          <a:prstGeom prst="ellipse">
            <a:avLst/>
          </a:prstGeom>
          <a:ln w="4762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83B594-014B-4BB5-A668-FCF3AA0FB419}"/>
              </a:ext>
            </a:extLst>
          </p:cNvPr>
          <p:cNvSpPr>
            <a:spLocks noGrp="1"/>
          </p:cNvSpPr>
          <p:nvPr/>
        </p:nvSpPr>
        <p:spPr>
          <a:xfrm>
            <a:off x="4648200" y="18859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buNone/>
              <a:defRPr sz="1275" b="1">
                <a:solidFill>
                  <a:srgbClr val="C6282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C62828"/>
                </a:solidFill>
                <a:latin typeface="Yu Gothic"/>
                <a:ea typeface="Yu Gothic"/>
                <a:cs typeface="Yu Gothic"/>
              </a:rPr>
              <a:t>接触位置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357DE5B-4302-42C8-9722-33F81A1B5E2E}"/>
              </a:ext>
            </a:extLst>
          </p:cNvPr>
          <p:cNvSpPr>
            <a:spLocks noGrp="1"/>
          </p:cNvSpPr>
          <p:nvPr/>
        </p:nvSpPr>
        <p:spPr>
          <a:xfrm>
            <a:off x="6686550" y="1819275"/>
            <a:ext cx="438150" cy="438150"/>
          </a:xfrm>
          <a:prstGeom prst="ellipse">
            <a:avLst/>
          </a:prstGeom>
          <a:solidFill>
            <a:srgbClr val="24834A"/>
          </a:solidFill>
          <a:ln w="0">
            <a:solidFill>
              <a:srgbClr val="2483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DDAB92-3EBE-4FA5-BF0D-C4790109095E}"/>
              </a:ext>
            </a:extLst>
          </p:cNvPr>
          <p:cNvSpPr>
            <a:spLocks noGrp="1"/>
          </p:cNvSpPr>
          <p:nvPr/>
        </p:nvSpPr>
        <p:spPr>
          <a:xfrm>
            <a:off x="6686550" y="180975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057"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0424E1A-3F71-44B2-8130-0C9C859A41EA}"/>
              </a:ext>
            </a:extLst>
          </p:cNvPr>
          <p:cNvSpPr>
            <a:spLocks noGrp="1"/>
          </p:cNvSpPr>
          <p:nvPr/>
        </p:nvSpPr>
        <p:spPr>
          <a:xfrm>
            <a:off x="7315200" y="178117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 lnSpcReduction="10000"/>
          </a:bodyPr>
          <a:lstStyle/>
          <a:p>
            <a:pPr>
              <a:buNone/>
              <a:defRPr sz="1725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動作が正しい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7C3B55-7856-4B5B-8715-907DDEE23E46}"/>
              </a:ext>
            </a:extLst>
          </p:cNvPr>
          <p:cNvSpPr>
            <a:spLocks noGrp="1"/>
          </p:cNvSpPr>
          <p:nvPr/>
        </p:nvSpPr>
        <p:spPr>
          <a:xfrm>
            <a:off x="7315200" y="2038350"/>
            <a:ext cx="3857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buNone/>
              <a:defRPr sz="1350" b="0">
                <a:solidFill>
                  <a:srgbClr val="5E6D7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E6D78"/>
                </a:solidFill>
                <a:latin typeface="Yu Gothic"/>
                <a:ea typeface="Yu Gothic"/>
                <a:cs typeface="Yu Gothic"/>
              </a:rPr>
              <a:t>道具が食物へ接触し、食物が道具に追従して移動する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CC6BB24-5649-4AFF-B59D-CDFD80A29826}"/>
              </a:ext>
            </a:extLst>
          </p:cNvPr>
          <p:cNvSpPr>
            <a:spLocks noGrp="1"/>
          </p:cNvSpPr>
          <p:nvPr/>
        </p:nvSpPr>
        <p:spPr>
          <a:xfrm>
            <a:off x="6686550" y="2952750"/>
            <a:ext cx="438150" cy="438150"/>
          </a:xfrm>
          <a:prstGeom prst="ellipse">
            <a:avLst/>
          </a:prstGeom>
          <a:solidFill>
            <a:srgbClr val="24834A"/>
          </a:solidFill>
          <a:ln w="0">
            <a:solidFill>
              <a:srgbClr val="2483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00B403-EBDD-4EAE-B30E-FD95AD346911}"/>
              </a:ext>
            </a:extLst>
          </p:cNvPr>
          <p:cNvSpPr>
            <a:spLocks noGrp="1"/>
          </p:cNvSpPr>
          <p:nvPr/>
        </p:nvSpPr>
        <p:spPr>
          <a:xfrm>
            <a:off x="6686550" y="29432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057"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C1EAA2-1D01-4EED-9C5B-A172523C4D4C}"/>
              </a:ext>
            </a:extLst>
          </p:cNvPr>
          <p:cNvSpPr>
            <a:spLocks noGrp="1"/>
          </p:cNvSpPr>
          <p:nvPr/>
        </p:nvSpPr>
        <p:spPr>
          <a:xfrm>
            <a:off x="7315200" y="291465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 lnSpcReduction="10000"/>
          </a:bodyPr>
          <a:lstStyle/>
          <a:p>
            <a:pPr>
              <a:buNone/>
              <a:defRPr sz="1725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写真として自然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6A4802A-87A6-432E-A870-05761E130B2B}"/>
              </a:ext>
            </a:extLst>
          </p:cNvPr>
          <p:cNvSpPr>
            <a:spLocks noGrp="1"/>
          </p:cNvSpPr>
          <p:nvPr/>
        </p:nvSpPr>
        <p:spPr>
          <a:xfrm>
            <a:off x="7315200" y="3171825"/>
            <a:ext cx="3857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350" b="0">
                <a:solidFill>
                  <a:srgbClr val="5E6D7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E6D78"/>
                </a:solidFill>
                <a:latin typeface="Yu Gothic"/>
                <a:ea typeface="Yu Gothic"/>
                <a:cs typeface="Yu Gothic"/>
              </a:rPr>
              <a:t>道具・食物に破綻や不自然な変形が見られない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179D9DB-CD0F-44EA-B6C3-85B659C7E9DA}"/>
              </a:ext>
            </a:extLst>
          </p:cNvPr>
          <p:cNvSpPr>
            <a:spLocks noGrp="1"/>
          </p:cNvSpPr>
          <p:nvPr/>
        </p:nvSpPr>
        <p:spPr>
          <a:xfrm>
            <a:off x="6686550" y="4086225"/>
            <a:ext cx="438150" cy="438150"/>
          </a:xfrm>
          <a:prstGeom prst="ellipse">
            <a:avLst/>
          </a:prstGeom>
          <a:solidFill>
            <a:srgbClr val="24834A"/>
          </a:solidFill>
          <a:ln w="0">
            <a:solidFill>
              <a:srgbClr val="2483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3A9F80-0F43-4CD7-A2B4-0757CCBA6B29}"/>
              </a:ext>
            </a:extLst>
          </p:cNvPr>
          <p:cNvSpPr>
            <a:spLocks noGrp="1"/>
          </p:cNvSpPr>
          <p:nvPr/>
        </p:nvSpPr>
        <p:spPr>
          <a:xfrm>
            <a:off x="6686550" y="4076700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057"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A763CC9-E4D7-46B1-842F-DFF5808AA248}"/>
              </a:ext>
            </a:extLst>
          </p:cNvPr>
          <p:cNvSpPr>
            <a:spLocks noGrp="1"/>
          </p:cNvSpPr>
          <p:nvPr/>
        </p:nvSpPr>
        <p:spPr>
          <a:xfrm>
            <a:off x="7315200" y="4048125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6667" lnSpcReduction="10000"/>
          </a:bodyPr>
          <a:lstStyle/>
          <a:p>
            <a:pPr>
              <a:buNone/>
              <a:defRPr sz="1725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背景を保持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ACBBA7-1092-4922-B3E6-B098CA3B3950}"/>
              </a:ext>
            </a:extLst>
          </p:cNvPr>
          <p:cNvSpPr>
            <a:spLocks noGrp="1"/>
          </p:cNvSpPr>
          <p:nvPr/>
        </p:nvSpPr>
        <p:spPr>
          <a:xfrm>
            <a:off x="7315200" y="4305300"/>
            <a:ext cx="3857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148"/>
          </a:bodyPr>
          <a:lstStyle/>
          <a:p>
            <a:pPr>
              <a:buNone/>
              <a:defRPr sz="1350" b="0">
                <a:solidFill>
                  <a:srgbClr val="5E6D78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E6D78"/>
                </a:solidFill>
                <a:latin typeface="Yu Gothic"/>
                <a:ea typeface="Yu Gothic"/>
                <a:cs typeface="Yu Gothic"/>
              </a:rPr>
              <a:t>容器・机・背景など、非編集領域が入力と一致する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4AB4157-7E72-4AFA-B9D9-1D5D39DA3E8F}"/>
              </a:ext>
            </a:extLst>
          </p:cNvPr>
          <p:cNvSpPr>
            <a:spLocks noGrp="1"/>
          </p:cNvSpPr>
          <p:nvPr/>
        </p:nvSpPr>
        <p:spPr>
          <a:xfrm>
            <a:off x="1409700" y="5715000"/>
            <a:ext cx="9372600" cy="495300"/>
          </a:xfrm>
          <a:prstGeom prst="roundRect">
            <a:avLst>
              <a:gd name="adj" fmla="val 15385"/>
            </a:avLst>
          </a:prstGeom>
          <a:solidFill>
            <a:srgbClr val="FFF1F1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E4CD65-31CA-4032-9673-8D8AD02ECECD}"/>
              </a:ext>
            </a:extLst>
          </p:cNvPr>
          <p:cNvSpPr>
            <a:spLocks noGrp="1"/>
          </p:cNvSpPr>
          <p:nvPr/>
        </p:nvSpPr>
        <p:spPr>
          <a:xfrm>
            <a:off x="1619250" y="5800725"/>
            <a:ext cx="8953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406"/>
          </a:bodyPr>
          <a:lstStyle/>
          <a:p>
            <a:pPr>
              <a:buNone/>
              <a:defRPr sz="1725" b="1">
                <a:solidFill>
                  <a:srgbClr val="C6282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C62828"/>
                </a:solidFill>
                <a:latin typeface="Yu Gothic"/>
                <a:ea typeface="Yu Gothic"/>
                <a:cs typeface="Yu Gothic"/>
              </a:rPr>
              <a:t>三条件をすべて満たした場合のみ 成功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A838A9-B849-4338-9476-D81F6B56D1B0}"/>
              </a:ext>
            </a:extLst>
          </p:cNvPr>
          <p:cNvSpPr>
            <a:spLocks noGrp="1"/>
          </p:cNvSpPr>
          <p:nvPr/>
        </p:nvSpPr>
        <p:spPr>
          <a:xfrm>
            <a:off x="8743950" y="628650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5833" lnSpcReduction="10000"/>
          </a:bodyPr>
          <a:lstStyle/>
          <a:p>
            <a:pPr>
              <a:buNone/>
              <a:defRPr sz="900" b="0">
                <a:solidFill>
                  <a:srgbClr val="8D99A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8D99A2"/>
                </a:solidFill>
                <a:latin typeface="Yu Gothic"/>
                <a:ea typeface="Yu Gothic"/>
                <a:cs typeface="Yu Gothic"/>
              </a:rPr>
              <a:t>Strict = Action × Photo × Preservation</a:t>
            </a:r>
          </a:p>
        </p:txBody>
      </p:sp>
    </p:spTree>
    <p:extLst>
      <p:ext uri="{BB962C8B-B14F-4D97-AF65-F5344CB8AC3E}">
        <p14:creationId xmlns:p14="http://schemas.microsoft.com/office/powerpoint/2010/main" val="158094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32B7ABC-1662-4580-AB57-17DBCDF8BA4A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関連手法と本研究での位置づけ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950D27-A545-4908-9966-E0CB85F58023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A19427-AE37-4D27-A85A-18F6474D232D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9263BC-0EAE-49E4-886B-2FFE0D8940B2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4928F1-2470-4F3C-9D4A-FA180C851183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VACE [1]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317356-A0DA-46EE-AC8E-3C594C227FE7}"/>
              </a:ext>
            </a:extLst>
          </p:cNvPr>
          <p:cNvSpPr>
            <a:spLocks noGrp="1"/>
          </p:cNvSpPr>
          <p:nvPr/>
        </p:nvSpPr>
        <p:spPr>
          <a:xfrm>
            <a:off x="2886075" y="1733550"/>
            <a:ext cx="8620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画像・動画・マスクを受け取る条件付き動画生成。本研究の生成器。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851B95-8CE0-4A6E-A136-FE50F3A06023}"/>
              </a:ext>
            </a:extLst>
          </p:cNvPr>
          <p:cNvSpPr>
            <a:spLocks noGrp="1"/>
          </p:cNvSpPr>
          <p:nvPr/>
        </p:nvSpPr>
        <p:spPr>
          <a:xfrm>
            <a:off x="685800" y="2105025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Z. Jiang et al. VACE: All-in-One Video Creation and Editing. arXiv:2503.07598, 2025.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8B1FA8-BA84-411B-B48B-59BE0EFD504B}"/>
              </a:ext>
            </a:extLst>
          </p:cNvPr>
          <p:cNvSpPr>
            <a:spLocks noGrp="1"/>
          </p:cNvSpPr>
          <p:nvPr/>
        </p:nvSpPr>
        <p:spPr>
          <a:xfrm>
            <a:off x="685800" y="2466975"/>
            <a:ext cx="1082040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C80060F-CBED-4BF2-B30C-A0FAC348A260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Qwen Image [4]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5B401F-BE9D-44AE-9AD8-8D7299725B40}"/>
              </a:ext>
            </a:extLst>
          </p:cNvPr>
          <p:cNvSpPr>
            <a:spLocks noGrp="1"/>
          </p:cNvSpPr>
          <p:nvPr/>
        </p:nvSpPr>
        <p:spPr>
          <a:xfrm>
            <a:off x="2886075" y="2562225"/>
            <a:ext cx="8620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指示文による静止画編集。本実験では Qwen-Image-Edit-2511 と比較。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7CD8F0-8F42-47AE-A5A5-E8C0FB483722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C. Wu et al. Qwen-Image Technical Report. arXiv:2508.02324, 2025.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471631-19F3-4F98-9CB9-968BDECD32A7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1082040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561E51-0880-40DD-B966-5E5236B62CB2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ChordEdit [5]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ED9EF8-E885-4939-85B6-B78F98FD22FB}"/>
              </a:ext>
            </a:extLst>
          </p:cNvPr>
          <p:cNvSpPr>
            <a:spLocks noGrp="1"/>
          </p:cNvSpPr>
          <p:nvPr/>
        </p:nvSpPr>
        <p:spPr>
          <a:xfrm>
            <a:off x="2886075" y="3390900"/>
            <a:ext cx="8620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一段階の輸送による画像編集。本実験の外部比較手法。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93563B-13F2-4463-96BD-3C831AD69A04}"/>
              </a:ext>
            </a:extLst>
          </p:cNvPr>
          <p:cNvSpPr>
            <a:spLocks noGrp="1"/>
          </p:cNvSpPr>
          <p:nvPr/>
        </p:nvSpPr>
        <p:spPr>
          <a:xfrm>
            <a:off x="685800" y="3762375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L. Lu et al. ChordEdit: One-Step Low-Energy Transport for Image Editing. arXiv:2602.19083, 2026.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4A86BE-BE47-4EB2-952D-7E2650C1C73C}"/>
              </a:ext>
            </a:extLst>
          </p:cNvPr>
          <p:cNvSpPr>
            <a:spLocks noGrp="1"/>
          </p:cNvSpPr>
          <p:nvPr/>
        </p:nvSpPr>
        <p:spPr>
          <a:xfrm>
            <a:off x="685800" y="4124325"/>
            <a:ext cx="1082040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423C8D-9D23-44CB-AB9E-E0F86C5FF63B}"/>
              </a:ext>
            </a:extLst>
          </p:cNvPr>
          <p:cNvSpPr>
            <a:spLocks noGrp="1"/>
          </p:cNvSpPr>
          <p:nvPr/>
        </p:nvSpPr>
        <p:spPr>
          <a:xfrm>
            <a:off x="685800" y="4219575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GeoEdit [2]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9597D4-D4E2-4AD2-BE77-D81734F39361}"/>
              </a:ext>
            </a:extLst>
          </p:cNvPr>
          <p:cNvSpPr>
            <a:spLocks noGrp="1"/>
          </p:cNvSpPr>
          <p:nvPr/>
        </p:nvSpPr>
        <p:spPr>
          <a:xfrm>
            <a:off x="2886075" y="4219575"/>
            <a:ext cx="8620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3D幾何条件による物体編集。関連研究であり、主生成経路には未接続。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3BD9A1-1C6C-43FE-AC9F-19DE65E27D91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Y. He et al. GeoEdit: Geometry-Aware Object Editing via Dual-Branch Denoising. arXiv:2606.30003, 2026.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61B1ED-55AA-498C-9DAE-E2F8043F6F3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CF6599-4049-402F-B80A-07AB086B7404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SAM3 [3]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FD96302-E880-4937-9E84-B737BD016685}"/>
              </a:ext>
            </a:extLst>
          </p:cNvPr>
          <p:cNvSpPr>
            <a:spLocks noGrp="1"/>
          </p:cNvSpPr>
          <p:nvPr/>
        </p:nvSpPr>
        <p:spPr>
          <a:xfrm>
            <a:off x="2886075" y="5048250"/>
            <a:ext cx="8620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概念プロンプトから領域を抽出。現行マスクは手続き的に作り、SAM3は未接続。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AC7092-87EE-430D-818F-46B05692F220}"/>
              </a:ext>
            </a:extLst>
          </p:cNvPr>
          <p:cNvSpPr>
            <a:spLocks noGrp="1"/>
          </p:cNvSpPr>
          <p:nvPr/>
        </p:nvSpPr>
        <p:spPr>
          <a:xfrm>
            <a:off x="685800" y="5419725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N. Carion et al. SAM 3: Segment Anything with Concepts. arXiv:2511.16719, 2025.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CDFA4C1-685A-4144-BA83-C6632B4DDCBA}"/>
              </a:ext>
            </a:extLst>
          </p:cNvPr>
          <p:cNvSpPr>
            <a:spLocks noGrp="1"/>
          </p:cNvSpPr>
          <p:nvPr/>
        </p:nvSpPr>
        <p:spPr>
          <a:xfrm>
            <a:off x="685800" y="6057900"/>
            <a:ext cx="108204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350" b="0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使用するVACE実装・重み [6] は次頁、LoRA [7] の適用範囲は生成例の頁に記載。</a:t>
            </a:r>
          </a:p>
        </p:txBody>
      </p:sp>
    </p:spTree>
    <p:extLst>
      <p:ext uri="{BB962C8B-B14F-4D97-AF65-F5344CB8AC3E}">
        <p14:creationId xmlns:p14="http://schemas.microsoft.com/office/powerpoint/2010/main" val="55162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19E82059-B499-40F9-9BD7-52B0B9586600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VACEの原論文モデル図と本研究の追加処理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1BFE5F-EA79-466E-9060-A787864B41E7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93C258-758F-4A22-B233-72DE0B05F05C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3625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VACE本体：原論文 Fig. 3 [1]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19E469-E9AE-4974-B49D-CADFFBA05FF8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53625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00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公開済み重みを使用し、新規学習は行わない。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4ED153-624B-457C-A49F-416DED7F83E7}"/>
              </a:ext>
            </a:extLst>
          </p:cNvPr>
          <p:cNvSpPr>
            <a:spLocks noGrp="1"/>
          </p:cNvSpPr>
          <p:nvPr/>
        </p:nvSpPr>
        <p:spPr>
          <a:xfrm>
            <a:off x="685800" y="2314575"/>
            <a:ext cx="53625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図中の学習マークは原著の学習設定を示す。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E4B83-E3A6-40A3-A06F-CBBABD601897}"/>
              </a:ext>
            </a:extLst>
          </p:cNvPr>
          <p:cNvSpPr>
            <a:spLocks noGrp="1"/>
          </p:cNvSpPr>
          <p:nvPr/>
        </p:nvSpPr>
        <p:spPr>
          <a:xfrm>
            <a:off x="6219825" y="1695450"/>
            <a:ext cx="5286375" cy="723900"/>
          </a:xfrm>
          <a:prstGeom prst="rect">
            <a:avLst/>
          </a:prstGeom>
          <a:solidFill>
            <a:srgbClr val="F4FBF6"/>
          </a:solidFill>
          <a:ln w="28575">
            <a:solidFill>
              <a:srgbClr val="14804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745A60-126D-4B87-8CA7-F04C02138CA1}"/>
              </a:ext>
            </a:extLst>
          </p:cNvPr>
          <p:cNvSpPr>
            <a:spLocks noGrp="1"/>
          </p:cNvSpPr>
          <p:nvPr/>
        </p:nvSpPr>
        <p:spPr>
          <a:xfrm>
            <a:off x="6381750" y="1752600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14804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4804A"/>
                </a:solidFill>
                <a:latin typeface="Yu Gothic"/>
                <a:ea typeface="Yu Gothic"/>
                <a:cs typeface="Yu Gothic"/>
              </a:rPr>
              <a:t>① 相対3D制御の構築（本研究）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AFB7F7-67EE-44D1-8ADE-01E6C00E1019}"/>
              </a:ext>
            </a:extLst>
          </p:cNvPr>
          <p:cNvSpPr>
            <a:spLocks noGrp="1"/>
          </p:cNvSpPr>
          <p:nvPr/>
        </p:nvSpPr>
        <p:spPr>
          <a:xfrm>
            <a:off x="6381750" y="2105025"/>
            <a:ext cx="4953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入力画像・手動指定 → 投影 → RGB列 C とマスク M</a:t>
            </a: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686050"/>
            <a:ext cx="10820400" cy="2890648"/>
          </a:xfrm>
          <a:prstGeom prst="rect">
            <a:avLst/>
          </a:prstGeom>
        </p:spPr>
      </p:pic>
      <p:sp>
        <p:nvSpPr>
          <p:cNvPr id="10" name="Our additional data-flow arrow">
            <a:extLst>
              <a:ext uri="{FF2B5EF4-FFF2-40B4-BE49-F238E27FC236}">
                <a16:creationId xmlns:a16="http://schemas.microsoft.com/office/drawing/2014/main" id="{15F5EDAC-0555-46A2-8942-A9494CE6F1EC}"/>
              </a:ext>
            </a:extLst>
          </p:cNvPr>
          <p:cNvSpPr>
            <a:spLocks noGrp="1"/>
          </p:cNvSpPr>
          <p:nvPr/>
        </p:nvSpPr>
        <p:spPr>
          <a:xfrm>
            <a:off x="7677150" y="2428875"/>
            <a:ext cx="171450" cy="276225"/>
          </a:xfrm>
          <a:prstGeom prst="downArrow">
            <a:avLst/>
          </a:prstGeom>
          <a:solidFill>
            <a:srgbClr val="14804A"/>
          </a:solidFill>
          <a:ln w="0">
            <a:solidFill>
              <a:srgbClr val="14804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Our additional data-flow arrow">
            <a:extLst>
              <a:ext uri="{FF2B5EF4-FFF2-40B4-BE49-F238E27FC236}">
                <a16:creationId xmlns:a16="http://schemas.microsoft.com/office/drawing/2014/main" id="{EF932B15-1938-4382-9DBE-A0FDD6CCA6F0}"/>
              </a:ext>
            </a:extLst>
          </p:cNvPr>
          <p:cNvSpPr>
            <a:spLocks noGrp="1"/>
          </p:cNvSpPr>
          <p:nvPr/>
        </p:nvSpPr>
        <p:spPr>
          <a:xfrm>
            <a:off x="8496300" y="2428875"/>
            <a:ext cx="171450" cy="276225"/>
          </a:xfrm>
          <a:prstGeom prst="downArrow">
            <a:avLst/>
          </a:prstGeom>
          <a:solidFill>
            <a:srgbClr val="14804A"/>
          </a:solidFill>
          <a:ln w="0">
            <a:solidFill>
              <a:srgbClr val="14804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Our additional data-flow arrow">
            <a:extLst>
              <a:ext uri="{FF2B5EF4-FFF2-40B4-BE49-F238E27FC236}">
                <a16:creationId xmlns:a16="http://schemas.microsoft.com/office/drawing/2014/main" id="{F77B0817-796F-434B-8A23-91067DB97285}"/>
              </a:ext>
            </a:extLst>
          </p:cNvPr>
          <p:cNvSpPr>
            <a:spLocks noGrp="1"/>
          </p:cNvSpPr>
          <p:nvPr/>
        </p:nvSpPr>
        <p:spPr>
          <a:xfrm>
            <a:off x="8420451" y="5576698"/>
            <a:ext cx="171450" cy="200025"/>
          </a:xfrm>
          <a:prstGeom prst="downArrow">
            <a:avLst/>
          </a:prstGeom>
          <a:solidFill>
            <a:srgbClr val="14804A"/>
          </a:solidFill>
          <a:ln w="0">
            <a:solidFill>
              <a:srgbClr val="14804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50CAF4-7228-497C-A543-478EAC35DD57}"/>
              </a:ext>
            </a:extLst>
          </p:cNvPr>
          <p:cNvSpPr>
            <a:spLocks noGrp="1"/>
          </p:cNvSpPr>
          <p:nvPr/>
        </p:nvSpPr>
        <p:spPr>
          <a:xfrm>
            <a:off x="6657975" y="5781675"/>
            <a:ext cx="4848225" cy="561975"/>
          </a:xfrm>
          <a:prstGeom prst="rect">
            <a:avLst/>
          </a:prstGeom>
          <a:solidFill>
            <a:srgbClr val="F4FBF6"/>
          </a:solidFill>
          <a:ln w="28575">
            <a:solidFill>
              <a:srgbClr val="14804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68417C-AEFD-4308-9D63-F549DBD46C87}"/>
              </a:ext>
            </a:extLst>
          </p:cNvPr>
          <p:cNvSpPr>
            <a:spLocks noGrp="1"/>
          </p:cNvSpPr>
          <p:nvPr/>
        </p:nvSpPr>
        <p:spPr>
          <a:xfrm>
            <a:off x="6800850" y="5829300"/>
            <a:ext cx="4572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1">
                <a:solidFill>
                  <a:srgbClr val="14804A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4804A"/>
                </a:solidFill>
                <a:latin typeface="Yu Gothic"/>
                <a:ea typeface="Yu Gothic"/>
                <a:cs typeface="Yu Gothic"/>
              </a:rPr>
              <a:t>② 固定フレーム抽出・局所合成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29D27B-89B8-4750-944D-7090543B5EDB}"/>
              </a:ext>
            </a:extLst>
          </p:cNvPr>
          <p:cNvSpPr>
            <a:spLocks noGrp="1"/>
          </p:cNvSpPr>
          <p:nvPr/>
        </p:nvSpPr>
        <p:spPr>
          <a:xfrm>
            <a:off x="6800850" y="6115050"/>
            <a:ext cx="4572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生成動画 J → 最終画像（領域外は元画像）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EB290F-273B-4489-938C-536BB18D68A5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5810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1">
                <a:solidFill>
                  <a:srgbClr val="14804A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4804A"/>
                </a:solidFill>
                <a:latin typeface="Yu Gothic"/>
                <a:ea typeface="Yu Gothic"/>
                <a:cs typeface="Yu Gothic"/>
              </a:rPr>
              <a:t>緑の太枠・矢印：本研究で追加する入出力処理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D0E47AC-66D0-4E35-A39F-5B68074B04A2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581025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VACE内部の構造や重みは変更しない。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7D14E3-3D8C-4E7A-8DAB-9CCF84CD4C6D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[1] Jiang et al., VACE: All-in-One Video Creation and Editing, Fig. 3, arXiv:2503.07598v2, 2025（緑の注記を追加）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6BD308-B0E2-4FCF-989E-01BAC459B226}"/>
              </a:ext>
            </a:extLst>
          </p:cNvPr>
          <p:cNvSpPr>
            <a:spLocks noGrp="1"/>
          </p:cNvSpPr>
          <p:nvPr/>
        </p:nvSpPr>
        <p:spPr>
          <a:xfrm>
            <a:off x="685800" y="6619875"/>
            <a:ext cx="9791700" cy="16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[6] 使用実装：Alibaba PAI, Wan2.2-VACE-Fun-A14B（原著図は構造説明用）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354265-AA18-4E22-9484-DA02C379D16D}"/>
              </a:ext>
            </a:extLst>
          </p:cNvPr>
          <p:cNvSpPr>
            <a:spLocks noGrp="1"/>
          </p:cNvSpPr>
          <p:nvPr/>
        </p:nvSpPr>
        <p:spPr>
          <a:xfrm>
            <a:off x="10496550" y="65722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7618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>
            <a:extLst>
              <a:ext uri="{FF2B5EF4-FFF2-40B4-BE49-F238E27FC236}">
                <a16:creationId xmlns:a16="http://schemas.microsoft.com/office/drawing/2014/main" id="{B1B38061-2119-48B9-81A9-663B6291E21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108204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提案手法：操作条件の構築と領域限定合成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3D7679CE-83E2-491D-B26C-F6C103403087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9525"/>
          </a:xfrm>
          <a:custGeom>
            <a:avLst/>
            <a:gdLst/>
            <a:ahLst/>
            <a:cxnLst/>
            <a:rect l="0" t="0" r="0" b="0"/>
            <a:pathLst>
              <a:path w="704850" h="9525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/>
          <a:ln w="38100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80C4CD-C77D-4E82-A3B8-5A8E3B215F1D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07B28A-1B12-4858-BA04-4150FF852773}"/>
              </a:ext>
            </a:extLst>
          </p:cNvPr>
          <p:cNvSpPr>
            <a:spLocks noGrp="1"/>
          </p:cNvSpPr>
          <p:nvPr/>
        </p:nvSpPr>
        <p:spPr>
          <a:xfrm>
            <a:off x="11068050" y="6524625"/>
            <a:ext cx="43815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5C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FC038A-FF4F-49C6-8C9D-3C5D5AF0A3C8}"/>
              </a:ext>
            </a:extLst>
          </p:cNvPr>
          <p:cNvSpPr>
            <a:spLocks noGrp="1"/>
          </p:cNvSpPr>
          <p:nvPr/>
        </p:nvSpPr>
        <p:spPr>
          <a:xfrm>
            <a:off x="685800" y="2643378"/>
            <a:ext cx="1370584" cy="2434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91" b="1">
                <a:solidFill>
                  <a:srgbClr val="233341"/>
                </a:solidFill>
                <a:latin typeface="Arial"/>
                <a:ea typeface="Arial"/>
                <a:cs typeface="Arial"/>
              </a:defRPr>
            </a:pPr>
            <a:r>
              <a:rPr sz="1491" b="1">
                <a:solidFill>
                  <a:srgbClr val="233341"/>
                </a:solidFill>
                <a:latin typeface="Arial"/>
                <a:ea typeface="Arial"/>
                <a:cs typeface="Arial"/>
              </a:rPr>
              <a:t>Input image I</a:t>
            </a: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99" y="2949956"/>
            <a:ext cx="1370387" cy="101982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713BFB7-0B82-4C67-B28E-8BAA9A557AC5}"/>
              </a:ext>
            </a:extLst>
          </p:cNvPr>
          <p:cNvSpPr>
            <a:spLocks noGrp="1"/>
          </p:cNvSpPr>
          <p:nvPr/>
        </p:nvSpPr>
        <p:spPr>
          <a:xfrm>
            <a:off x="685800" y="4050030"/>
            <a:ext cx="1370584" cy="2073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136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688 × 512 × 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A155C9-ADF5-4D6D-9D3F-6C17A1F0DA14}"/>
              </a:ext>
            </a:extLst>
          </p:cNvPr>
          <p:cNvSpPr>
            <a:spLocks noGrp="1"/>
          </p:cNvSpPr>
          <p:nvPr/>
        </p:nvSpPr>
        <p:spPr>
          <a:xfrm>
            <a:off x="685800" y="4527931"/>
            <a:ext cx="1370584" cy="2164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8" b="1">
                <a:solidFill>
                  <a:srgbClr val="233341"/>
                </a:solidFill>
                <a:latin typeface="Arial"/>
                <a:ea typeface="Arial"/>
                <a:cs typeface="Arial"/>
              </a:defRPr>
            </a:pPr>
            <a:r>
              <a:rPr sz="1278" b="1">
                <a:solidFill>
                  <a:srgbClr val="233341"/>
                </a:solidFill>
                <a:latin typeface="Arial"/>
                <a:ea typeface="Arial"/>
                <a:cs typeface="Arial"/>
              </a:rPr>
              <a:t>Action + material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FB08B4-2ECE-4089-B1F8-C99764625194}"/>
              </a:ext>
            </a:extLst>
          </p:cNvPr>
          <p:cNvSpPr>
            <a:spLocks noGrp="1"/>
          </p:cNvSpPr>
          <p:nvPr/>
        </p:nvSpPr>
        <p:spPr>
          <a:xfrm>
            <a:off x="685800" y="4789424"/>
            <a:ext cx="1370584" cy="44183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7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207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“Lift one bite”</a:t>
            </a:r>
          </a:p>
          <a:p>
            <a:pPr>
              <a:buNone/>
              <a:defRPr sz="1207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207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Cake / fork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B8329F8-06FB-4BBF-AC21-63ED74BB8757}"/>
              </a:ext>
            </a:extLst>
          </p:cNvPr>
          <p:cNvSpPr>
            <a:spLocks noGrp="1"/>
          </p:cNvSpPr>
          <p:nvPr/>
        </p:nvSpPr>
        <p:spPr>
          <a:xfrm>
            <a:off x="2119503" y="3454908"/>
            <a:ext cx="288544" cy="9525"/>
          </a:xfrm>
          <a:custGeom>
            <a:avLst/>
            <a:gdLst/>
            <a:ahLst/>
            <a:cxnLst/>
            <a:rect l="0" t="0" r="0" b="0"/>
            <a:pathLst>
              <a:path w="288544" h="9525">
                <a:moveTo>
                  <a:pt x="0" y="0"/>
                </a:moveTo>
                <a:lnTo>
                  <a:pt x="288544" y="0"/>
                </a:lnTo>
              </a:path>
            </a:pathLst>
          </a:custGeom>
          <a:noFill/>
          <a:ln w="16231">
            <a:solidFill>
              <a:srgbClr val="2333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7DBA1F8-8006-409F-965F-97F793E103AF}"/>
              </a:ext>
            </a:extLst>
          </p:cNvPr>
          <p:cNvSpPr>
            <a:spLocks noGrp="1"/>
          </p:cNvSpPr>
          <p:nvPr/>
        </p:nvSpPr>
        <p:spPr>
          <a:xfrm>
            <a:off x="2351212" y="3427453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233341"/>
          </a:solidFill>
          <a:ln w="0">
            <a:solidFill>
              <a:srgbClr val="2333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95A931-EC8C-4054-8A23-23CB4606048B}"/>
              </a:ext>
            </a:extLst>
          </p:cNvPr>
          <p:cNvSpPr>
            <a:spLocks noGrp="1"/>
          </p:cNvSpPr>
          <p:nvPr/>
        </p:nvSpPr>
        <p:spPr>
          <a:xfrm>
            <a:off x="2453132" y="2318766"/>
            <a:ext cx="1568958" cy="2344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91" b="1">
                <a:solidFill>
                  <a:srgbClr val="B6403B"/>
                </a:solidFill>
                <a:latin typeface="Arial"/>
                <a:ea typeface="Arial"/>
                <a:cs typeface="Arial"/>
              </a:defRPr>
            </a:pPr>
            <a:r>
              <a:rPr sz="1491" b="1">
                <a:solidFill>
                  <a:srgbClr val="B6403B"/>
                </a:solidFill>
                <a:latin typeface="Arial"/>
                <a:ea typeface="Arial"/>
                <a:cs typeface="Arial"/>
              </a:rPr>
              <a:t>Relative 3D state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5F91AC-65B8-491A-9B72-7DEA8DF4C584}"/>
              </a:ext>
            </a:extLst>
          </p:cNvPr>
          <p:cNvSpPr>
            <a:spLocks noGrp="1"/>
          </p:cNvSpPr>
          <p:nvPr/>
        </p:nvSpPr>
        <p:spPr>
          <a:xfrm>
            <a:off x="2380996" y="2598293"/>
            <a:ext cx="1686179" cy="225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065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manual anchors + depth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2E833869-9402-49A9-946B-FB6F5BD5E02C}"/>
              </a:ext>
            </a:extLst>
          </p:cNvPr>
          <p:cNvSpPr>
            <a:spLocks noGrp="1"/>
          </p:cNvSpPr>
          <p:nvPr/>
        </p:nvSpPr>
        <p:spPr>
          <a:xfrm>
            <a:off x="2633472" y="4086098"/>
            <a:ext cx="622173" cy="9525"/>
          </a:xfrm>
          <a:custGeom>
            <a:avLst/>
            <a:gdLst/>
            <a:ahLst/>
            <a:cxnLst/>
            <a:rect l="0" t="0" r="0" b="0"/>
            <a:pathLst>
              <a:path w="622173" h="9525">
                <a:moveTo>
                  <a:pt x="0" y="0"/>
                </a:moveTo>
                <a:lnTo>
                  <a:pt x="622173" y="0"/>
                </a:lnTo>
              </a:path>
            </a:pathLst>
          </a:custGeom>
          <a:noFill/>
          <a:ln w="9017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A55CC5A1-3066-4BB1-91FA-1540F9F9CD7D}"/>
              </a:ext>
            </a:extLst>
          </p:cNvPr>
          <p:cNvSpPr>
            <a:spLocks noGrp="1"/>
          </p:cNvSpPr>
          <p:nvPr/>
        </p:nvSpPr>
        <p:spPr>
          <a:xfrm>
            <a:off x="3198810" y="4058643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73808B"/>
          </a:solidFill>
          <a:ln w="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9CA9E12-4390-4AC9-8E9C-002090DFFA6F}"/>
              </a:ext>
            </a:extLst>
          </p:cNvPr>
          <p:cNvSpPr>
            <a:spLocks noGrp="1"/>
          </p:cNvSpPr>
          <p:nvPr/>
        </p:nvSpPr>
        <p:spPr>
          <a:xfrm>
            <a:off x="2633472" y="3265551"/>
            <a:ext cx="9525" cy="820547"/>
          </a:xfrm>
          <a:custGeom>
            <a:avLst/>
            <a:gdLst/>
            <a:ahLst/>
            <a:cxnLst/>
            <a:rect l="0" t="0" r="0" b="0"/>
            <a:pathLst>
              <a:path w="9525" h="820547">
                <a:moveTo>
                  <a:pt x="0" y="820547"/>
                </a:moveTo>
                <a:lnTo>
                  <a:pt x="0" y="0"/>
                </a:lnTo>
              </a:path>
            </a:pathLst>
          </a:custGeom>
          <a:noFill/>
          <a:ln w="9017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F0D8CB25-3D9C-4C9D-B943-05BFC9A86E43}"/>
              </a:ext>
            </a:extLst>
          </p:cNvPr>
          <p:cNvSpPr>
            <a:spLocks noGrp="1"/>
          </p:cNvSpPr>
          <p:nvPr/>
        </p:nvSpPr>
        <p:spPr>
          <a:xfrm>
            <a:off x="2606017" y="3265551"/>
            <a:ext cx="54909" cy="56835"/>
          </a:xfrm>
          <a:custGeom>
            <a:avLst/>
            <a:gdLst/>
            <a:ahLst/>
            <a:cxnLst/>
            <a:rect l="0" t="0" r="0" b="0"/>
            <a:pathLst>
              <a:path w="54909" h="56835">
                <a:moveTo>
                  <a:pt x="27455" y="0"/>
                </a:moveTo>
                <a:lnTo>
                  <a:pt x="54909" y="56835"/>
                </a:lnTo>
                <a:lnTo>
                  <a:pt x="0" y="56835"/>
                </a:lnTo>
                <a:close/>
              </a:path>
            </a:pathLst>
          </a:custGeom>
          <a:solidFill>
            <a:srgbClr val="73808B"/>
          </a:solidFill>
          <a:ln w="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9641F44-8468-4D1B-B0C0-242F9FFA56B0}"/>
              </a:ext>
            </a:extLst>
          </p:cNvPr>
          <p:cNvSpPr>
            <a:spLocks noGrp="1"/>
          </p:cNvSpPr>
          <p:nvPr/>
        </p:nvSpPr>
        <p:spPr>
          <a:xfrm>
            <a:off x="2417064" y="4086098"/>
            <a:ext cx="216408" cy="189357"/>
          </a:xfrm>
          <a:custGeom>
            <a:avLst/>
            <a:gdLst/>
            <a:ahLst/>
            <a:cxnLst/>
            <a:rect l="0" t="0" r="0" b="0"/>
            <a:pathLst>
              <a:path w="216408" h="189357">
                <a:moveTo>
                  <a:pt x="216408" y="0"/>
                </a:moveTo>
                <a:lnTo>
                  <a:pt x="0" y="189357"/>
                </a:lnTo>
              </a:path>
            </a:pathLst>
          </a:custGeom>
          <a:noFill/>
          <a:ln w="9017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97C3B1C8-6D42-4046-9DB6-8B221419280D}"/>
              </a:ext>
            </a:extLst>
          </p:cNvPr>
          <p:cNvSpPr>
            <a:spLocks noGrp="1"/>
          </p:cNvSpPr>
          <p:nvPr/>
        </p:nvSpPr>
        <p:spPr>
          <a:xfrm>
            <a:off x="2417064" y="4217367"/>
            <a:ext cx="60852" cy="58088"/>
          </a:xfrm>
          <a:custGeom>
            <a:avLst/>
            <a:gdLst/>
            <a:ahLst/>
            <a:cxnLst/>
            <a:rect l="0" t="0" r="0" b="0"/>
            <a:pathLst>
              <a:path w="60852" h="58088">
                <a:moveTo>
                  <a:pt x="0" y="58088"/>
                </a:moveTo>
                <a:lnTo>
                  <a:pt x="24694" y="0"/>
                </a:lnTo>
                <a:lnTo>
                  <a:pt x="60852" y="41323"/>
                </a:lnTo>
                <a:close/>
              </a:path>
            </a:pathLst>
          </a:custGeom>
          <a:solidFill>
            <a:srgbClr val="73808B"/>
          </a:solidFill>
          <a:ln w="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38EE318-7645-4F4A-92D3-4305A0239FDE}"/>
              </a:ext>
            </a:extLst>
          </p:cNvPr>
          <p:cNvSpPr>
            <a:spLocks noGrp="1"/>
          </p:cNvSpPr>
          <p:nvPr/>
        </p:nvSpPr>
        <p:spPr>
          <a:xfrm>
            <a:off x="3210560" y="4086098"/>
            <a:ext cx="180340" cy="1803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23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58FC8B-31E7-4058-85D0-6463B5661951}"/>
              </a:ext>
            </a:extLst>
          </p:cNvPr>
          <p:cNvSpPr>
            <a:spLocks noGrp="1"/>
          </p:cNvSpPr>
          <p:nvPr/>
        </p:nvSpPr>
        <p:spPr>
          <a:xfrm>
            <a:off x="2552319" y="3076194"/>
            <a:ext cx="180340" cy="1803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23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Y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76F1C7-A244-4BCE-8D0A-8AEDEBE78AB7}"/>
              </a:ext>
            </a:extLst>
          </p:cNvPr>
          <p:cNvSpPr>
            <a:spLocks noGrp="1"/>
          </p:cNvSpPr>
          <p:nvPr/>
        </p:nvSpPr>
        <p:spPr>
          <a:xfrm>
            <a:off x="2281809" y="4284472"/>
            <a:ext cx="180340" cy="1803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23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E955D60E-7D3F-4ABF-A507-CF519DC9F431}"/>
              </a:ext>
            </a:extLst>
          </p:cNvPr>
          <p:cNvSpPr>
            <a:spLocks noGrp="1"/>
          </p:cNvSpPr>
          <p:nvPr/>
        </p:nvSpPr>
        <p:spPr>
          <a:xfrm>
            <a:off x="2840863" y="3490976"/>
            <a:ext cx="387731" cy="432816"/>
          </a:xfrm>
          <a:custGeom>
            <a:avLst/>
            <a:gdLst/>
            <a:ahLst/>
            <a:cxnLst/>
            <a:rect l="0" t="0" r="0" b="0"/>
            <a:pathLst>
              <a:path w="387731" h="432816">
                <a:moveTo>
                  <a:pt x="0" y="0"/>
                </a:moveTo>
                <a:lnTo>
                  <a:pt x="387731" y="0"/>
                </a:lnTo>
                <a:lnTo>
                  <a:pt x="387731" y="432816"/>
                </a:lnTo>
                <a:lnTo>
                  <a:pt x="0" y="432816"/>
                </a:lnTo>
                <a:close/>
              </a:path>
            </a:pathLst>
          </a:custGeom>
          <a:solidFill>
            <a:srgbClr val="F8F1E3"/>
          </a:solidFill>
          <a:ln w="1082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9AB7758-2D4C-4A53-83FC-A3591097C8E2}"/>
              </a:ext>
            </a:extLst>
          </p:cNvPr>
          <p:cNvSpPr>
            <a:spLocks noGrp="1"/>
          </p:cNvSpPr>
          <p:nvPr/>
        </p:nvSpPr>
        <p:spPr>
          <a:xfrm>
            <a:off x="2840863" y="3346704"/>
            <a:ext cx="532003" cy="144272"/>
          </a:xfrm>
          <a:custGeom>
            <a:avLst/>
            <a:gdLst/>
            <a:ahLst/>
            <a:cxnLst/>
            <a:rect l="0" t="0" r="0" b="0"/>
            <a:pathLst>
              <a:path w="532003" h="144272">
                <a:moveTo>
                  <a:pt x="0" y="144272"/>
                </a:moveTo>
                <a:lnTo>
                  <a:pt x="144272" y="0"/>
                </a:lnTo>
                <a:lnTo>
                  <a:pt x="532003" y="0"/>
                </a:lnTo>
                <a:lnTo>
                  <a:pt x="387731" y="144272"/>
                </a:lnTo>
                <a:close/>
              </a:path>
            </a:pathLst>
          </a:custGeom>
          <a:solidFill>
            <a:srgbClr val="FFFDF7"/>
          </a:solidFill>
          <a:ln w="1082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BE72BB07-2A1F-4FEF-84A6-63E11FEEA8EE}"/>
              </a:ext>
            </a:extLst>
          </p:cNvPr>
          <p:cNvSpPr>
            <a:spLocks noGrp="1"/>
          </p:cNvSpPr>
          <p:nvPr/>
        </p:nvSpPr>
        <p:spPr>
          <a:xfrm>
            <a:off x="3228594" y="3346704"/>
            <a:ext cx="144272" cy="577088"/>
          </a:xfrm>
          <a:custGeom>
            <a:avLst/>
            <a:gdLst/>
            <a:ahLst/>
            <a:cxnLst/>
            <a:rect l="0" t="0" r="0" b="0"/>
            <a:pathLst>
              <a:path w="144272" h="577088">
                <a:moveTo>
                  <a:pt x="0" y="144272"/>
                </a:moveTo>
                <a:lnTo>
                  <a:pt x="144272" y="0"/>
                </a:lnTo>
                <a:lnTo>
                  <a:pt x="144272" y="432816"/>
                </a:lnTo>
                <a:lnTo>
                  <a:pt x="0" y="577088"/>
                </a:lnTo>
                <a:close/>
              </a:path>
            </a:pathLst>
          </a:custGeom>
          <a:solidFill>
            <a:srgbClr val="E9DDC6"/>
          </a:solidFill>
          <a:ln w="1082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D774E9BB-B787-4A2D-98C7-53F1F56594A1}"/>
              </a:ext>
            </a:extLst>
          </p:cNvPr>
          <p:cNvSpPr>
            <a:spLocks noGrp="1"/>
          </p:cNvSpPr>
          <p:nvPr/>
        </p:nvSpPr>
        <p:spPr>
          <a:xfrm>
            <a:off x="3147441" y="3031109"/>
            <a:ext cx="387731" cy="432816"/>
          </a:xfrm>
          <a:custGeom>
            <a:avLst/>
            <a:gdLst/>
            <a:ahLst/>
            <a:cxnLst/>
            <a:rect l="0" t="0" r="0" b="0"/>
            <a:pathLst>
              <a:path w="387731" h="432816">
                <a:moveTo>
                  <a:pt x="0" y="0"/>
                </a:moveTo>
                <a:lnTo>
                  <a:pt x="387731" y="0"/>
                </a:lnTo>
                <a:lnTo>
                  <a:pt x="387731" y="432816"/>
                </a:lnTo>
                <a:lnTo>
                  <a:pt x="0" y="432816"/>
                </a:lnTo>
                <a:close/>
              </a:path>
            </a:pathLst>
          </a:custGeom>
          <a:solidFill>
            <a:srgbClr val="F8F1E3"/>
          </a:solidFill>
          <a:ln w="10820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ABF0850C-496F-457B-9DE9-29E0B8FBFA56}"/>
              </a:ext>
            </a:extLst>
          </p:cNvPr>
          <p:cNvSpPr>
            <a:spLocks noGrp="1"/>
          </p:cNvSpPr>
          <p:nvPr/>
        </p:nvSpPr>
        <p:spPr>
          <a:xfrm>
            <a:off x="3147441" y="2886837"/>
            <a:ext cx="532003" cy="144272"/>
          </a:xfrm>
          <a:custGeom>
            <a:avLst/>
            <a:gdLst/>
            <a:ahLst/>
            <a:cxnLst/>
            <a:rect l="0" t="0" r="0" b="0"/>
            <a:pathLst>
              <a:path w="532003" h="144272">
                <a:moveTo>
                  <a:pt x="0" y="144272"/>
                </a:moveTo>
                <a:lnTo>
                  <a:pt x="144272" y="0"/>
                </a:lnTo>
                <a:lnTo>
                  <a:pt x="532003" y="0"/>
                </a:lnTo>
                <a:lnTo>
                  <a:pt x="387731" y="144272"/>
                </a:lnTo>
                <a:close/>
              </a:path>
            </a:pathLst>
          </a:custGeom>
          <a:solidFill>
            <a:srgbClr val="FFFDF7"/>
          </a:solidFill>
          <a:ln w="10820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B208C0B8-11DB-43FF-9D8F-97C9A347E5A3}"/>
              </a:ext>
            </a:extLst>
          </p:cNvPr>
          <p:cNvSpPr>
            <a:spLocks noGrp="1"/>
          </p:cNvSpPr>
          <p:nvPr/>
        </p:nvSpPr>
        <p:spPr>
          <a:xfrm>
            <a:off x="3535172" y="2886837"/>
            <a:ext cx="144272" cy="577088"/>
          </a:xfrm>
          <a:custGeom>
            <a:avLst/>
            <a:gdLst/>
            <a:ahLst/>
            <a:cxnLst/>
            <a:rect l="0" t="0" r="0" b="0"/>
            <a:pathLst>
              <a:path w="144272" h="577088">
                <a:moveTo>
                  <a:pt x="0" y="144272"/>
                </a:moveTo>
                <a:lnTo>
                  <a:pt x="144272" y="0"/>
                </a:lnTo>
                <a:lnTo>
                  <a:pt x="144272" y="432816"/>
                </a:lnTo>
                <a:lnTo>
                  <a:pt x="0" y="577088"/>
                </a:lnTo>
                <a:close/>
              </a:path>
            </a:pathLst>
          </a:custGeom>
          <a:solidFill>
            <a:srgbClr val="E9DDC6"/>
          </a:solidFill>
          <a:ln w="10820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516ED677-E07B-433D-BDF8-B67FA8AC8D61}"/>
              </a:ext>
            </a:extLst>
          </p:cNvPr>
          <p:cNvSpPr>
            <a:spLocks noGrp="1"/>
          </p:cNvSpPr>
          <p:nvPr/>
        </p:nvSpPr>
        <p:spPr>
          <a:xfrm>
            <a:off x="3192526" y="3274568"/>
            <a:ext cx="117221" cy="207391"/>
          </a:xfrm>
          <a:custGeom>
            <a:avLst/>
            <a:gdLst/>
            <a:ahLst/>
            <a:cxnLst/>
            <a:rect l="0" t="0" r="0" b="0"/>
            <a:pathLst>
              <a:path w="117221" h="207391">
                <a:moveTo>
                  <a:pt x="0" y="207391"/>
                </a:moveTo>
                <a:lnTo>
                  <a:pt x="117221" y="0"/>
                </a:lnTo>
              </a:path>
            </a:pathLst>
          </a:custGeom>
          <a:noFill/>
          <a:ln w="13526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A113CB6C-0DF5-4C1B-8A1E-7FB79276C4D3}"/>
              </a:ext>
            </a:extLst>
          </p:cNvPr>
          <p:cNvSpPr>
            <a:spLocks noGrp="1"/>
          </p:cNvSpPr>
          <p:nvPr/>
        </p:nvSpPr>
        <p:spPr>
          <a:xfrm>
            <a:off x="3257880" y="3274568"/>
            <a:ext cx="51867" cy="62988"/>
          </a:xfrm>
          <a:custGeom>
            <a:avLst/>
            <a:gdLst/>
            <a:ahLst/>
            <a:cxnLst/>
            <a:rect l="0" t="0" r="0" b="0"/>
            <a:pathLst>
              <a:path w="51867" h="62988">
                <a:moveTo>
                  <a:pt x="51867" y="0"/>
                </a:moveTo>
                <a:lnTo>
                  <a:pt x="47802" y="62988"/>
                </a:lnTo>
                <a:lnTo>
                  <a:pt x="0" y="35969"/>
                </a:lnTo>
                <a:close/>
              </a:path>
            </a:pathLst>
          </a:custGeom>
          <a:solidFill>
            <a:srgbClr val="B6403B"/>
          </a:solidFill>
          <a:ln w="0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8DD258F-6B74-4AE5-BF5C-4E98A738A049}"/>
              </a:ext>
            </a:extLst>
          </p:cNvPr>
          <p:cNvSpPr>
            <a:spLocks noGrp="1"/>
          </p:cNvSpPr>
          <p:nvPr/>
        </p:nvSpPr>
        <p:spPr>
          <a:xfrm>
            <a:off x="3553206" y="3184398"/>
            <a:ext cx="54102" cy="54102"/>
          </a:xfrm>
          <a:prstGeom prst="ellipse">
            <a:avLst/>
          </a:prstGeom>
          <a:solidFill>
            <a:srgbClr val="B6403B"/>
          </a:solidFill>
          <a:ln w="0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A71CFD2C-6EDE-4663-B0B4-43754627810A}"/>
              </a:ext>
            </a:extLst>
          </p:cNvPr>
          <p:cNvSpPr>
            <a:spLocks noGrp="1"/>
          </p:cNvSpPr>
          <p:nvPr/>
        </p:nvSpPr>
        <p:spPr>
          <a:xfrm>
            <a:off x="3571240" y="2886837"/>
            <a:ext cx="306578" cy="333629"/>
          </a:xfrm>
          <a:custGeom>
            <a:avLst/>
            <a:gdLst/>
            <a:ahLst/>
            <a:cxnLst/>
            <a:rect l="0" t="0" r="0" b="0"/>
            <a:pathLst>
              <a:path w="306578" h="333629">
                <a:moveTo>
                  <a:pt x="0" y="333629"/>
                </a:moveTo>
                <a:lnTo>
                  <a:pt x="306578" y="0"/>
                </a:lnTo>
              </a:path>
            </a:pathLst>
          </a:custGeom>
          <a:noFill/>
          <a:ln w="27051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27A1C798-B4C5-4FAA-9449-6ED7E6355249}"/>
              </a:ext>
            </a:extLst>
          </p:cNvPr>
          <p:cNvSpPr>
            <a:spLocks noGrp="1"/>
          </p:cNvSpPr>
          <p:nvPr/>
        </p:nvSpPr>
        <p:spPr>
          <a:xfrm>
            <a:off x="3553206" y="2949956"/>
            <a:ext cx="288544" cy="324612"/>
          </a:xfrm>
          <a:custGeom>
            <a:avLst/>
            <a:gdLst/>
            <a:ahLst/>
            <a:cxnLst/>
            <a:rect l="0" t="0" r="0" b="0"/>
            <a:pathLst>
              <a:path w="288544" h="324612">
                <a:moveTo>
                  <a:pt x="0" y="324612"/>
                </a:moveTo>
                <a:lnTo>
                  <a:pt x="288544" y="0"/>
                </a:lnTo>
              </a:path>
            </a:pathLst>
          </a:custGeom>
          <a:noFill/>
          <a:ln w="18034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A0CBF9B-40ED-4FB3-8414-582F3DE19325}"/>
              </a:ext>
            </a:extLst>
          </p:cNvPr>
          <p:cNvSpPr>
            <a:spLocks noGrp="1"/>
          </p:cNvSpPr>
          <p:nvPr/>
        </p:nvSpPr>
        <p:spPr>
          <a:xfrm>
            <a:off x="3390900" y="3472942"/>
            <a:ext cx="649224" cy="1893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94" b="0">
                <a:solidFill>
                  <a:srgbClr val="B6403B"/>
                </a:solidFill>
                <a:latin typeface="Arial"/>
                <a:ea typeface="Arial"/>
                <a:cs typeface="Arial"/>
              </a:defRPr>
            </a:pPr>
            <a:r>
              <a:rPr sz="994" b="0">
                <a:solidFill>
                  <a:srgbClr val="B6403B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0DF660A-AC4D-401F-8175-473D4330C090}"/>
              </a:ext>
            </a:extLst>
          </p:cNvPr>
          <p:cNvSpPr>
            <a:spLocks noGrp="1"/>
          </p:cNvSpPr>
          <p:nvPr/>
        </p:nvSpPr>
        <p:spPr>
          <a:xfrm>
            <a:off x="2353945" y="4419727"/>
            <a:ext cx="1749298" cy="20739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0">
                <a:solidFill>
                  <a:srgbClr val="233341"/>
                </a:solidFill>
                <a:latin typeface="Arial"/>
                <a:ea typeface="Arial"/>
                <a:cs typeface="Arial"/>
              </a:defRPr>
            </a:pPr>
            <a:r>
              <a:rPr sz="1136" b="0">
                <a:solidFill>
                  <a:srgbClr val="233341"/>
                </a:solidFill>
                <a:latin typeface="Arial"/>
                <a:ea typeface="Arial"/>
                <a:cs typeface="Arial"/>
              </a:rPr>
              <a:t>Vₜ, Pₜ ∈ relative XYZ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100AAA6-40AE-413D-90CC-385A6786E78A}"/>
              </a:ext>
            </a:extLst>
          </p:cNvPr>
          <p:cNvSpPr>
            <a:spLocks noGrp="1"/>
          </p:cNvSpPr>
          <p:nvPr/>
        </p:nvSpPr>
        <p:spPr>
          <a:xfrm>
            <a:off x="2362962" y="4726305"/>
            <a:ext cx="1749298" cy="450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136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Approach → contact</a:t>
            </a:r>
          </a:p>
          <a:p>
            <a:pPr>
              <a:buNone/>
              <a:defRPr sz="1136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136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→ lift → hold</a:t>
            </a: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F1014656-0696-4789-BCD0-9618980A293F}"/>
              </a:ext>
            </a:extLst>
          </p:cNvPr>
          <p:cNvSpPr>
            <a:spLocks noGrp="1"/>
          </p:cNvSpPr>
          <p:nvPr/>
        </p:nvSpPr>
        <p:spPr>
          <a:xfrm>
            <a:off x="3977005" y="3454908"/>
            <a:ext cx="351663" cy="9525"/>
          </a:xfrm>
          <a:custGeom>
            <a:avLst/>
            <a:gdLst/>
            <a:ahLst/>
            <a:cxnLst/>
            <a:rect l="0" t="0" r="0" b="0"/>
            <a:pathLst>
              <a:path w="351663" h="9525">
                <a:moveTo>
                  <a:pt x="0" y="0"/>
                </a:moveTo>
                <a:lnTo>
                  <a:pt x="351663" y="0"/>
                </a:lnTo>
              </a:path>
            </a:pathLst>
          </a:custGeom>
          <a:noFill/>
          <a:ln w="16231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2BA51CE-E8A7-4498-B8BE-CD7600C10F73}"/>
              </a:ext>
            </a:extLst>
          </p:cNvPr>
          <p:cNvSpPr>
            <a:spLocks noGrp="1"/>
          </p:cNvSpPr>
          <p:nvPr/>
        </p:nvSpPr>
        <p:spPr>
          <a:xfrm>
            <a:off x="4271833" y="3427453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B6403B"/>
          </a:solidFill>
          <a:ln w="0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FC200E5-124E-41D0-B209-C6E1AB6AA8CA}"/>
              </a:ext>
            </a:extLst>
          </p:cNvPr>
          <p:cNvSpPr>
            <a:spLocks noGrp="1"/>
          </p:cNvSpPr>
          <p:nvPr/>
        </p:nvSpPr>
        <p:spPr>
          <a:xfrm>
            <a:off x="4139311" y="2138426"/>
            <a:ext cx="1911604" cy="2434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0" b="1">
                <a:solidFill>
                  <a:srgbClr val="B6403B"/>
                </a:solidFill>
                <a:latin typeface="Arial"/>
                <a:ea typeface="Arial"/>
                <a:cs typeface="Arial"/>
              </a:defRPr>
            </a:pPr>
            <a:r>
              <a:rPr sz="1420" b="1">
                <a:solidFill>
                  <a:srgbClr val="B6403B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0CC7168-C661-4099-BE9A-ACC254318D84}"/>
              </a:ext>
            </a:extLst>
          </p:cNvPr>
          <p:cNvSpPr>
            <a:spLocks noGrp="1"/>
          </p:cNvSpPr>
          <p:nvPr/>
        </p:nvSpPr>
        <p:spPr>
          <a:xfrm>
            <a:off x="4220464" y="2463038"/>
            <a:ext cx="1731264" cy="450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8" b="0">
                <a:solidFill>
                  <a:srgbClr val="233341"/>
                </a:solidFill>
                <a:latin typeface="Arial"/>
                <a:ea typeface="Arial"/>
                <a:cs typeface="Arial"/>
              </a:defRPr>
            </a:pPr>
            <a:r>
              <a:rPr sz="1278" b="0">
                <a:solidFill>
                  <a:srgbClr val="233341"/>
                </a:solidFill>
                <a:latin typeface="Arial"/>
                <a:ea typeface="Arial"/>
                <a:cs typeface="Arial"/>
              </a:rPr>
              <a:t>u = fₓX/Z + cₓ</a:t>
            </a:r>
          </a:p>
          <a:p>
            <a:pPr>
              <a:buNone/>
              <a:defRPr sz="1278" b="0">
                <a:solidFill>
                  <a:srgbClr val="233341"/>
                </a:solidFill>
                <a:latin typeface="Arial"/>
                <a:ea typeface="Arial"/>
                <a:cs typeface="Arial"/>
              </a:defRPr>
            </a:pPr>
            <a:r>
              <a:rPr sz="1278" b="0">
                <a:solidFill>
                  <a:srgbClr val="233341"/>
                </a:solidFill>
                <a:latin typeface="Arial"/>
                <a:ea typeface="Arial"/>
                <a:cs typeface="Arial"/>
              </a:rPr>
              <a:t>v = fᵧY/Z + cᵧ</a:t>
            </a:r>
          </a:p>
        </p:txBody>
      </p:sp>
      <p:pic>
        <p:nvPicPr>
          <p:cNvPr id="150" name="图片 1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45889" y="3031214"/>
            <a:ext cx="1199261" cy="892473"/>
          </a:xfrm>
          <a:prstGeom prst="rect">
            <a:avLst/>
          </a:prstGeom>
        </p:spPr>
      </p:pic>
      <p:pic>
        <p:nvPicPr>
          <p:cNvPr id="151" name="图片 15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63110" y="3148435"/>
            <a:ext cx="1199261" cy="892473"/>
          </a:xfrm>
          <a:prstGeom prst="rect">
            <a:avLst/>
          </a:prstGeom>
        </p:spPr>
      </p:pic>
      <p:pic>
        <p:nvPicPr>
          <p:cNvPr id="152" name="图片 15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680331" y="3265656"/>
            <a:ext cx="1199261" cy="892473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0F4E5F47-EFEE-40CA-B86A-12E7C1717A54}"/>
              </a:ext>
            </a:extLst>
          </p:cNvPr>
          <p:cNvSpPr>
            <a:spLocks noGrp="1"/>
          </p:cNvSpPr>
          <p:nvPr/>
        </p:nvSpPr>
        <p:spPr>
          <a:xfrm>
            <a:off x="4391787" y="4248404"/>
            <a:ext cx="1586992" cy="2344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49" b="1">
                <a:solidFill>
                  <a:srgbClr val="B6403B"/>
                </a:solidFill>
                <a:latin typeface="Arial"/>
                <a:ea typeface="Arial"/>
                <a:cs typeface="Arial"/>
              </a:defRPr>
            </a:pPr>
            <a:r>
              <a:rPr sz="1349" b="1">
                <a:solidFill>
                  <a:srgbClr val="B6403B"/>
                </a:solidFill>
                <a:latin typeface="Arial"/>
                <a:ea typeface="Arial"/>
                <a:cs typeface="Arial"/>
              </a:rPr>
              <a:t>RGB control C₀:₂₀</a:t>
            </a:r>
          </a:p>
        </p:txBody>
      </p:sp>
      <p:pic>
        <p:nvPicPr>
          <p:cNvPr id="154" name="图片 15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644263" y="4681367"/>
            <a:ext cx="748411" cy="556957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DE68B16D-CF1C-40EA-B4CA-A1FA38D9F7B9}"/>
              </a:ext>
            </a:extLst>
          </p:cNvPr>
          <p:cNvSpPr>
            <a:spLocks noGrp="1"/>
          </p:cNvSpPr>
          <p:nvPr/>
        </p:nvSpPr>
        <p:spPr>
          <a:xfrm>
            <a:off x="5383657" y="4852543"/>
            <a:ext cx="676275" cy="2164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136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Mask M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8EED65C-6487-47C5-AF17-B26CAAA6B9E0}"/>
              </a:ext>
            </a:extLst>
          </p:cNvPr>
          <p:cNvSpPr>
            <a:spLocks noGrp="1"/>
          </p:cNvSpPr>
          <p:nvPr/>
        </p:nvSpPr>
        <p:spPr>
          <a:xfrm>
            <a:off x="4364736" y="5312410"/>
            <a:ext cx="1713230" cy="39674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065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C: 21 × H × W × 3</a:t>
            </a:r>
          </a:p>
          <a:p>
            <a:pPr>
              <a:buNone/>
              <a:defRPr sz="1065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M: 21 × H × W × 1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29D06B9A-34B3-404E-9A1B-26F03AA31546}"/>
              </a:ext>
            </a:extLst>
          </p:cNvPr>
          <p:cNvSpPr>
            <a:spLocks noGrp="1"/>
          </p:cNvSpPr>
          <p:nvPr/>
        </p:nvSpPr>
        <p:spPr>
          <a:xfrm>
            <a:off x="5942711" y="3680333"/>
            <a:ext cx="261493" cy="9525"/>
          </a:xfrm>
          <a:custGeom>
            <a:avLst/>
            <a:gdLst/>
            <a:ahLst/>
            <a:cxnLst/>
            <a:rect l="0" t="0" r="0" b="0"/>
            <a:pathLst>
              <a:path w="261493" h="9525">
                <a:moveTo>
                  <a:pt x="0" y="0"/>
                </a:moveTo>
                <a:lnTo>
                  <a:pt x="261493" y="0"/>
                </a:lnTo>
              </a:path>
            </a:pathLst>
          </a:custGeom>
          <a:noFill/>
          <a:ln w="15329">
            <a:solidFill>
              <a:srgbClr val="2333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FFAEB73B-A0CC-4D31-9CEC-F95201E4A27B}"/>
              </a:ext>
            </a:extLst>
          </p:cNvPr>
          <p:cNvSpPr>
            <a:spLocks noGrp="1"/>
          </p:cNvSpPr>
          <p:nvPr/>
        </p:nvSpPr>
        <p:spPr>
          <a:xfrm>
            <a:off x="6147369" y="3652878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233341"/>
          </a:solidFill>
          <a:ln w="0">
            <a:solidFill>
              <a:srgbClr val="2333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F545875-6015-4EBA-95F9-BD6DA1034A5C}"/>
              </a:ext>
            </a:extLst>
          </p:cNvPr>
          <p:cNvSpPr>
            <a:spLocks noGrp="1"/>
          </p:cNvSpPr>
          <p:nvPr/>
        </p:nvSpPr>
        <p:spPr>
          <a:xfrm>
            <a:off x="6276340" y="3193415"/>
            <a:ext cx="477901" cy="982853"/>
          </a:xfrm>
          <a:prstGeom prst="rect">
            <a:avLst/>
          </a:prstGeom>
          <a:solidFill>
            <a:srgbClr val="EEF3F7"/>
          </a:solidFill>
          <a:ln w="12624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B7F08D9-C93C-4EE3-A8FD-BA220122ABCB}"/>
              </a:ext>
            </a:extLst>
          </p:cNvPr>
          <p:cNvSpPr>
            <a:spLocks noGrp="1"/>
          </p:cNvSpPr>
          <p:nvPr/>
        </p:nvSpPr>
        <p:spPr>
          <a:xfrm>
            <a:off x="6294374" y="3554095"/>
            <a:ext cx="441833" cy="2524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7" b="1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207" b="1">
                <a:solidFill>
                  <a:srgbClr val="245C83"/>
                </a:solidFill>
                <a:latin typeface="Arial"/>
                <a:ea typeface="Arial"/>
                <a:cs typeface="Arial"/>
              </a:rPr>
              <a:t>VAE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5EF0D69-5F33-40F8-86B7-3B49C318141B}"/>
              </a:ext>
            </a:extLst>
          </p:cNvPr>
          <p:cNvSpPr>
            <a:spLocks noGrp="1"/>
          </p:cNvSpPr>
          <p:nvPr/>
        </p:nvSpPr>
        <p:spPr>
          <a:xfrm>
            <a:off x="6186170" y="2904871"/>
            <a:ext cx="631190" cy="2344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0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136" b="0">
                <a:solidFill>
                  <a:srgbClr val="245C83"/>
                </a:solidFill>
                <a:latin typeface="Arial"/>
                <a:ea typeface="Arial"/>
                <a:cs typeface="Arial"/>
              </a:rPr>
              <a:t>I, C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3A246BD4-293B-4750-99FA-CFCB481CE02A}"/>
              </a:ext>
            </a:extLst>
          </p:cNvPr>
          <p:cNvSpPr>
            <a:spLocks noGrp="1"/>
          </p:cNvSpPr>
          <p:nvPr/>
        </p:nvSpPr>
        <p:spPr>
          <a:xfrm>
            <a:off x="5509895" y="4031996"/>
            <a:ext cx="1641094" cy="1118108"/>
          </a:xfrm>
          <a:custGeom>
            <a:avLst/>
            <a:gdLst/>
            <a:ahLst/>
            <a:cxnLst/>
            <a:rect l="0" t="0" r="0" b="0"/>
            <a:pathLst>
              <a:path w="1641094" h="1118108">
                <a:moveTo>
                  <a:pt x="0" y="1118108"/>
                </a:moveTo>
                <a:lnTo>
                  <a:pt x="1316482" y="1118108"/>
                </a:lnTo>
                <a:lnTo>
                  <a:pt x="1316482" y="369697"/>
                </a:lnTo>
                <a:lnTo>
                  <a:pt x="1641094" y="369697"/>
                </a:lnTo>
                <a:lnTo>
                  <a:pt x="1641094" y="0"/>
                </a:lnTo>
              </a:path>
            </a:pathLst>
          </a:custGeom>
          <a:noFill/>
          <a:ln w="1082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169DAA90-CAE5-426F-9A73-36AB518B2E6B}"/>
              </a:ext>
            </a:extLst>
          </p:cNvPr>
          <p:cNvSpPr>
            <a:spLocks noGrp="1"/>
          </p:cNvSpPr>
          <p:nvPr/>
        </p:nvSpPr>
        <p:spPr>
          <a:xfrm>
            <a:off x="7123534" y="4031996"/>
            <a:ext cx="54909" cy="56835"/>
          </a:xfrm>
          <a:custGeom>
            <a:avLst/>
            <a:gdLst/>
            <a:ahLst/>
            <a:cxnLst/>
            <a:rect l="0" t="0" r="0" b="0"/>
            <a:pathLst>
              <a:path w="54909" h="56835">
                <a:moveTo>
                  <a:pt x="27455" y="0"/>
                </a:moveTo>
                <a:lnTo>
                  <a:pt x="54909" y="56835"/>
                </a:lnTo>
                <a:lnTo>
                  <a:pt x="0" y="56835"/>
                </a:lnTo>
                <a:close/>
              </a:path>
            </a:pathLst>
          </a:custGeom>
          <a:solidFill>
            <a:srgbClr val="73808B"/>
          </a:solidFill>
          <a:ln w="0">
            <a:solidFill>
              <a:srgbClr val="73808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88193E60-18AA-4DB0-AACE-D4B39F57338D}"/>
              </a:ext>
            </a:extLst>
          </p:cNvPr>
          <p:cNvSpPr>
            <a:spLocks noGrp="1"/>
          </p:cNvSpPr>
          <p:nvPr/>
        </p:nvSpPr>
        <p:spPr>
          <a:xfrm>
            <a:off x="6763258" y="3680333"/>
            <a:ext cx="198374" cy="9525"/>
          </a:xfrm>
          <a:custGeom>
            <a:avLst/>
            <a:gdLst/>
            <a:ahLst/>
            <a:cxnLst/>
            <a:rect l="0" t="0" r="0" b="0"/>
            <a:pathLst>
              <a:path w="198374" h="9525">
                <a:moveTo>
                  <a:pt x="0" y="0"/>
                </a:moveTo>
                <a:lnTo>
                  <a:pt x="198374" y="0"/>
                </a:lnTo>
              </a:path>
            </a:pathLst>
          </a:custGeom>
          <a:noFill/>
          <a:ln w="15329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375CFD06-FAE9-486F-B9AE-4AECE24CED85}"/>
              </a:ext>
            </a:extLst>
          </p:cNvPr>
          <p:cNvSpPr>
            <a:spLocks noGrp="1"/>
          </p:cNvSpPr>
          <p:nvPr/>
        </p:nvSpPr>
        <p:spPr>
          <a:xfrm>
            <a:off x="6904797" y="3652878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245C83"/>
          </a:solidFill>
          <a:ln w="0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1F217DC4-0B1F-4AA2-81B7-08840375A2B0}"/>
              </a:ext>
            </a:extLst>
          </p:cNvPr>
          <p:cNvSpPr>
            <a:spLocks noGrp="1"/>
          </p:cNvSpPr>
          <p:nvPr/>
        </p:nvSpPr>
        <p:spPr>
          <a:xfrm>
            <a:off x="7123938" y="3238500"/>
            <a:ext cx="234442" cy="667258"/>
          </a:xfrm>
          <a:prstGeom prst="rect">
            <a:avLst/>
          </a:prstGeom>
          <a:solidFill>
            <a:srgbClr val="DCE8F0"/>
          </a:solidFill>
          <a:ln w="9017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CC327C3-EA59-4759-835F-37BF0F6D9875}"/>
              </a:ext>
            </a:extLst>
          </p:cNvPr>
          <p:cNvSpPr>
            <a:spLocks noGrp="1"/>
          </p:cNvSpPr>
          <p:nvPr/>
        </p:nvSpPr>
        <p:spPr>
          <a:xfrm>
            <a:off x="7078853" y="3283585"/>
            <a:ext cx="234442" cy="667258"/>
          </a:xfrm>
          <a:prstGeom prst="rect">
            <a:avLst/>
          </a:prstGeom>
          <a:solidFill>
            <a:srgbClr val="DCE8F0"/>
          </a:solidFill>
          <a:ln w="9017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7A544A2-AF91-4A1A-8402-903BD24C712E}"/>
              </a:ext>
            </a:extLst>
          </p:cNvPr>
          <p:cNvSpPr>
            <a:spLocks noGrp="1"/>
          </p:cNvSpPr>
          <p:nvPr/>
        </p:nvSpPr>
        <p:spPr>
          <a:xfrm>
            <a:off x="7033768" y="3328670"/>
            <a:ext cx="234442" cy="667258"/>
          </a:xfrm>
          <a:prstGeom prst="rect">
            <a:avLst/>
          </a:prstGeom>
          <a:solidFill>
            <a:srgbClr val="DCE8F0"/>
          </a:solidFill>
          <a:ln w="9017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97BDA9B-F880-4F8F-90AF-B7760D8E77E3}"/>
              </a:ext>
            </a:extLst>
          </p:cNvPr>
          <p:cNvSpPr>
            <a:spLocks noGrp="1"/>
          </p:cNvSpPr>
          <p:nvPr/>
        </p:nvSpPr>
        <p:spPr>
          <a:xfrm>
            <a:off x="6880479" y="4095115"/>
            <a:ext cx="937768" cy="19837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23" b="0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923" b="0">
                <a:solidFill>
                  <a:srgbClr val="245C83"/>
                </a:solidFill>
                <a:latin typeface="Arial"/>
                <a:ea typeface="Arial"/>
                <a:cs typeface="Arial"/>
              </a:rPr>
              <a:t>vace_context</a:t>
            </a: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43C3D4A1-07B3-41F0-BDC9-7C821D0FBB02}"/>
              </a:ext>
            </a:extLst>
          </p:cNvPr>
          <p:cNvSpPr>
            <a:spLocks noGrp="1"/>
          </p:cNvSpPr>
          <p:nvPr/>
        </p:nvSpPr>
        <p:spPr>
          <a:xfrm>
            <a:off x="7367397" y="3635248"/>
            <a:ext cx="189357" cy="9525"/>
          </a:xfrm>
          <a:custGeom>
            <a:avLst/>
            <a:gdLst/>
            <a:ahLst/>
            <a:cxnLst/>
            <a:rect l="0" t="0" r="0" b="0"/>
            <a:pathLst>
              <a:path w="189357" h="9525">
                <a:moveTo>
                  <a:pt x="0" y="0"/>
                </a:moveTo>
                <a:lnTo>
                  <a:pt x="189357" y="0"/>
                </a:lnTo>
              </a:path>
            </a:pathLst>
          </a:custGeom>
          <a:noFill/>
          <a:ln w="15329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52D7762A-96B6-499C-AC24-225AFE320EB0}"/>
              </a:ext>
            </a:extLst>
          </p:cNvPr>
          <p:cNvSpPr>
            <a:spLocks noGrp="1"/>
          </p:cNvSpPr>
          <p:nvPr/>
        </p:nvSpPr>
        <p:spPr>
          <a:xfrm>
            <a:off x="7499919" y="3607793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245C83"/>
          </a:solidFill>
          <a:ln w="0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1193EBD-E980-4341-B857-A0994C2B048A}"/>
              </a:ext>
            </a:extLst>
          </p:cNvPr>
          <p:cNvSpPr>
            <a:spLocks noGrp="1"/>
          </p:cNvSpPr>
          <p:nvPr/>
        </p:nvSpPr>
        <p:spPr>
          <a:xfrm>
            <a:off x="7628890" y="3247517"/>
            <a:ext cx="919734" cy="694309"/>
          </a:xfrm>
          <a:prstGeom prst="rect">
            <a:avLst/>
          </a:prstGeom>
          <a:solidFill>
            <a:srgbClr val="EEF3F7"/>
          </a:solidFill>
          <a:ln w="11722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096F069-EAF2-42AC-8857-CBF1AE9B913A}"/>
              </a:ext>
            </a:extLst>
          </p:cNvPr>
          <p:cNvSpPr>
            <a:spLocks noGrp="1"/>
          </p:cNvSpPr>
          <p:nvPr/>
        </p:nvSpPr>
        <p:spPr>
          <a:xfrm>
            <a:off x="7673975" y="3364738"/>
            <a:ext cx="829564" cy="44183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8" b="1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278" b="1">
                <a:solidFill>
                  <a:srgbClr val="245C83"/>
                </a:solidFill>
                <a:latin typeface="Arial"/>
                <a:ea typeface="Arial"/>
                <a:cs typeface="Arial"/>
              </a:rPr>
              <a:t>VACE</a:t>
            </a:r>
          </a:p>
          <a:p>
            <a:pPr>
              <a:buNone/>
              <a:defRPr sz="1278" b="1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278" b="1">
                <a:solidFill>
                  <a:srgbClr val="245C83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08567865-9558-4980-B71C-8060EA841009}"/>
              </a:ext>
            </a:extLst>
          </p:cNvPr>
          <p:cNvSpPr>
            <a:spLocks noGrp="1"/>
          </p:cNvSpPr>
          <p:nvPr/>
        </p:nvSpPr>
        <p:spPr>
          <a:xfrm>
            <a:off x="6231255" y="2670429"/>
            <a:ext cx="2497709" cy="225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7" b="1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207" b="1">
                <a:solidFill>
                  <a:srgbClr val="245C83"/>
                </a:solidFill>
                <a:latin typeface="Arial"/>
                <a:ea typeface="Arial"/>
                <a:cs typeface="Arial"/>
              </a:rPr>
              <a:t>pretrained / frozen</a:t>
            </a:r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E3EFA5FC-7BC5-4BE9-B003-AE6DB47F9852}"/>
              </a:ext>
            </a:extLst>
          </p:cNvPr>
          <p:cNvSpPr>
            <a:spLocks noGrp="1"/>
          </p:cNvSpPr>
          <p:nvPr/>
        </p:nvSpPr>
        <p:spPr>
          <a:xfrm>
            <a:off x="8088757" y="3941826"/>
            <a:ext cx="9525" cy="459867"/>
          </a:xfrm>
          <a:custGeom>
            <a:avLst/>
            <a:gdLst/>
            <a:ahLst/>
            <a:cxnLst/>
            <a:rect l="0" t="0" r="0" b="0"/>
            <a:pathLst>
              <a:path w="9525" h="459867">
                <a:moveTo>
                  <a:pt x="0" y="0"/>
                </a:moveTo>
                <a:lnTo>
                  <a:pt x="0" y="459867"/>
                </a:lnTo>
              </a:path>
            </a:pathLst>
          </a:custGeom>
          <a:noFill/>
          <a:ln w="16231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8B2477EE-EB4D-41E4-9AD0-29903CB500C3}"/>
              </a:ext>
            </a:extLst>
          </p:cNvPr>
          <p:cNvSpPr>
            <a:spLocks noGrp="1"/>
          </p:cNvSpPr>
          <p:nvPr/>
        </p:nvSpPr>
        <p:spPr>
          <a:xfrm>
            <a:off x="8061302" y="4344858"/>
            <a:ext cx="54909" cy="56835"/>
          </a:xfrm>
          <a:custGeom>
            <a:avLst/>
            <a:gdLst/>
            <a:ahLst/>
            <a:cxnLst/>
            <a:rect l="0" t="0" r="0" b="0"/>
            <a:pathLst>
              <a:path w="54909" h="56835">
                <a:moveTo>
                  <a:pt x="27455" y="56835"/>
                </a:moveTo>
                <a:lnTo>
                  <a:pt x="0" y="0"/>
                </a:lnTo>
                <a:lnTo>
                  <a:pt x="54909" y="0"/>
                </a:lnTo>
                <a:close/>
              </a:path>
            </a:pathLst>
          </a:custGeom>
          <a:solidFill>
            <a:srgbClr val="245C83"/>
          </a:solidFill>
          <a:ln w="0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D28B01F-5D3B-43BD-83CE-12D7FF0406F3}"/>
              </a:ext>
            </a:extLst>
          </p:cNvPr>
          <p:cNvSpPr>
            <a:spLocks noGrp="1"/>
          </p:cNvSpPr>
          <p:nvPr/>
        </p:nvSpPr>
        <p:spPr>
          <a:xfrm>
            <a:off x="8224012" y="4077081"/>
            <a:ext cx="631190" cy="19837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065" b="0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065" b="0">
                <a:solidFill>
                  <a:srgbClr val="245C83"/>
                </a:solidFill>
                <a:latin typeface="Arial"/>
                <a:ea typeface="Arial"/>
                <a:cs typeface="Arial"/>
              </a:rPr>
              <a:t>s · hint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E3AFB21-BD12-4AB7-974C-7B7846D76387}"/>
              </a:ext>
            </a:extLst>
          </p:cNvPr>
          <p:cNvSpPr>
            <a:spLocks noGrp="1"/>
          </p:cNvSpPr>
          <p:nvPr/>
        </p:nvSpPr>
        <p:spPr>
          <a:xfrm>
            <a:off x="7655941" y="4536948"/>
            <a:ext cx="892683" cy="559054"/>
          </a:xfrm>
          <a:prstGeom prst="rect">
            <a:avLst/>
          </a:prstGeom>
          <a:solidFill>
            <a:srgbClr val="EDF2F6"/>
          </a:solidFill>
          <a:ln w="11722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7375390-5B73-4A65-9C0E-E1DE5C148F8F}"/>
              </a:ext>
            </a:extLst>
          </p:cNvPr>
          <p:cNvSpPr>
            <a:spLocks noGrp="1"/>
          </p:cNvSpPr>
          <p:nvPr/>
        </p:nvSpPr>
        <p:spPr>
          <a:xfrm>
            <a:off x="7610856" y="4582033"/>
            <a:ext cx="892683" cy="559054"/>
          </a:xfrm>
          <a:prstGeom prst="rect">
            <a:avLst/>
          </a:prstGeom>
          <a:solidFill>
            <a:srgbClr val="FFFFFF"/>
          </a:solidFill>
          <a:ln w="11722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8DA8F1D-A473-47E5-9FA5-1883619B3646}"/>
              </a:ext>
            </a:extLst>
          </p:cNvPr>
          <p:cNvSpPr>
            <a:spLocks noGrp="1"/>
          </p:cNvSpPr>
          <p:nvPr/>
        </p:nvSpPr>
        <p:spPr>
          <a:xfrm>
            <a:off x="7655941" y="4726305"/>
            <a:ext cx="802513" cy="2705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49" b="1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349" b="1">
                <a:solidFill>
                  <a:srgbClr val="245C83"/>
                </a:solidFill>
                <a:latin typeface="Arial"/>
                <a:ea typeface="Arial"/>
                <a:cs typeface="Arial"/>
              </a:rPr>
              <a:t>Wan DiT</a:t>
            </a: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F1C06D94-47B2-4A68-BF73-7A8396BF489E}"/>
              </a:ext>
            </a:extLst>
          </p:cNvPr>
          <p:cNvSpPr>
            <a:spLocks noGrp="1"/>
          </p:cNvSpPr>
          <p:nvPr/>
        </p:nvSpPr>
        <p:spPr>
          <a:xfrm>
            <a:off x="6934581" y="4861560"/>
            <a:ext cx="631190" cy="9525"/>
          </a:xfrm>
          <a:custGeom>
            <a:avLst/>
            <a:gdLst/>
            <a:ahLst/>
            <a:cxnLst/>
            <a:rect l="0" t="0" r="0" b="0"/>
            <a:pathLst>
              <a:path w="631190" h="9525">
                <a:moveTo>
                  <a:pt x="0" y="0"/>
                </a:moveTo>
                <a:lnTo>
                  <a:pt x="631190" y="0"/>
                </a:lnTo>
              </a:path>
            </a:pathLst>
          </a:custGeom>
          <a:noFill/>
          <a:ln w="13526">
            <a:solidFill>
              <a:srgbClr val="2333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E22C46BA-C40B-4B5F-9894-BD21E85302D7}"/>
              </a:ext>
            </a:extLst>
          </p:cNvPr>
          <p:cNvSpPr>
            <a:spLocks noGrp="1"/>
          </p:cNvSpPr>
          <p:nvPr/>
        </p:nvSpPr>
        <p:spPr>
          <a:xfrm>
            <a:off x="7508936" y="4834105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233341"/>
          </a:solidFill>
          <a:ln w="0">
            <a:solidFill>
              <a:srgbClr val="23334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AA98B45-EC1F-4CDB-9D82-D6B296E2A703}"/>
              </a:ext>
            </a:extLst>
          </p:cNvPr>
          <p:cNvSpPr>
            <a:spLocks noGrp="1"/>
          </p:cNvSpPr>
          <p:nvPr/>
        </p:nvSpPr>
        <p:spPr>
          <a:xfrm>
            <a:off x="6952615" y="4563999"/>
            <a:ext cx="613156" cy="2344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94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994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zₖ + text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A5779068-0315-4AD8-AA6D-CF6FEBA3FD53}"/>
              </a:ext>
            </a:extLst>
          </p:cNvPr>
          <p:cNvSpPr>
            <a:spLocks noGrp="1"/>
          </p:cNvSpPr>
          <p:nvPr/>
        </p:nvSpPr>
        <p:spPr>
          <a:xfrm>
            <a:off x="7160006" y="5267325"/>
            <a:ext cx="1650111" cy="2344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7" b="0">
                <a:solidFill>
                  <a:srgbClr val="245C83"/>
                </a:solidFill>
                <a:latin typeface="Arial"/>
                <a:ea typeface="Arial"/>
                <a:cs typeface="Arial"/>
              </a:defRPr>
            </a:pPr>
            <a:r>
              <a:rPr sz="1207" b="0">
                <a:solidFill>
                  <a:srgbClr val="245C83"/>
                </a:solidFill>
                <a:latin typeface="Arial"/>
                <a:ea typeface="Arial"/>
                <a:cs typeface="Arial"/>
              </a:rPr>
              <a:t>x ← x + s · hint</a:t>
            </a:r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E61A2CF9-6DD8-4E51-B331-F847CBE61D6C}"/>
              </a:ext>
            </a:extLst>
          </p:cNvPr>
          <p:cNvSpPr>
            <a:spLocks noGrp="1"/>
          </p:cNvSpPr>
          <p:nvPr/>
        </p:nvSpPr>
        <p:spPr>
          <a:xfrm>
            <a:off x="8575675" y="4861560"/>
            <a:ext cx="459867" cy="9525"/>
          </a:xfrm>
          <a:custGeom>
            <a:avLst/>
            <a:gdLst/>
            <a:ahLst/>
            <a:cxnLst/>
            <a:rect l="0" t="0" r="0" b="0"/>
            <a:pathLst>
              <a:path w="459867" h="9525">
                <a:moveTo>
                  <a:pt x="0" y="0"/>
                </a:moveTo>
                <a:lnTo>
                  <a:pt x="459867" y="0"/>
                </a:lnTo>
              </a:path>
            </a:pathLst>
          </a:custGeom>
          <a:noFill/>
          <a:ln w="15329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D66018FF-1E4D-4FB1-99C5-C1E7D6285E56}"/>
              </a:ext>
            </a:extLst>
          </p:cNvPr>
          <p:cNvSpPr>
            <a:spLocks noGrp="1"/>
          </p:cNvSpPr>
          <p:nvPr/>
        </p:nvSpPr>
        <p:spPr>
          <a:xfrm>
            <a:off x="8978707" y="4834105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245C83"/>
          </a:solidFill>
          <a:ln w="0">
            <a:solidFill>
              <a:srgbClr val="245C8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FB9D1BB-87F1-4DC9-B60B-29DFA2176845}"/>
              </a:ext>
            </a:extLst>
          </p:cNvPr>
          <p:cNvSpPr>
            <a:spLocks noGrp="1"/>
          </p:cNvSpPr>
          <p:nvPr/>
        </p:nvSpPr>
        <p:spPr>
          <a:xfrm>
            <a:off x="8593709" y="4482846"/>
            <a:ext cx="775462" cy="2434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94" b="0">
                <a:solidFill>
                  <a:srgbClr val="73808B"/>
                </a:solidFill>
                <a:latin typeface="Arial"/>
                <a:ea typeface="Arial"/>
                <a:cs typeface="Arial"/>
              </a:defRPr>
            </a:pPr>
            <a:r>
              <a:rPr sz="994" b="0">
                <a:solidFill>
                  <a:srgbClr val="73808B"/>
                </a:solidFill>
                <a:latin typeface="Arial"/>
                <a:ea typeface="Arial"/>
                <a:cs typeface="Arial"/>
              </a:rPr>
              <a:t>decode / t*</a:t>
            </a:r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2C427CB0-88C4-4E68-A6CC-D2C45776F96D}"/>
              </a:ext>
            </a:extLst>
          </p:cNvPr>
          <p:cNvSpPr>
            <a:spLocks noGrp="1"/>
          </p:cNvSpPr>
          <p:nvPr/>
        </p:nvSpPr>
        <p:spPr>
          <a:xfrm>
            <a:off x="9125712" y="4708271"/>
            <a:ext cx="306578" cy="306578"/>
          </a:xfrm>
          <a:prstGeom prst="ellipse">
            <a:avLst/>
          </a:prstGeom>
          <a:solidFill>
            <a:srgbClr val="FFFFFF"/>
          </a:solidFill>
          <a:ln w="13526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D1FD722-D9D2-4347-A4DA-6E8B954E6781}"/>
              </a:ext>
            </a:extLst>
          </p:cNvPr>
          <p:cNvSpPr>
            <a:spLocks noGrp="1"/>
          </p:cNvSpPr>
          <p:nvPr/>
        </p:nvSpPr>
        <p:spPr>
          <a:xfrm>
            <a:off x="9125712" y="4717288"/>
            <a:ext cx="306578" cy="27051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04" b="0">
                <a:solidFill>
                  <a:srgbClr val="438565"/>
                </a:solidFill>
                <a:latin typeface="Arial"/>
                <a:ea typeface="Arial"/>
                <a:cs typeface="Arial"/>
              </a:defRPr>
            </a:pPr>
            <a:r>
              <a:rPr sz="1704" b="0">
                <a:solidFill>
                  <a:srgbClr val="438565"/>
                </a:solidFill>
                <a:latin typeface="Arial"/>
                <a:ea typeface="Arial"/>
                <a:cs typeface="Arial"/>
              </a:rPr>
              <a:t>⊕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DD9FE21-A89B-48F2-BB27-CFADC0A5ED46}"/>
              </a:ext>
            </a:extLst>
          </p:cNvPr>
          <p:cNvSpPr>
            <a:spLocks noGrp="1"/>
          </p:cNvSpPr>
          <p:nvPr/>
        </p:nvSpPr>
        <p:spPr>
          <a:xfrm>
            <a:off x="9197848" y="4383659"/>
            <a:ext cx="180340" cy="21640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8" b="0">
                <a:solidFill>
                  <a:srgbClr val="438565"/>
                </a:solidFill>
                <a:latin typeface="Arial"/>
                <a:ea typeface="Arial"/>
                <a:cs typeface="Arial"/>
              </a:defRPr>
            </a:pPr>
            <a:r>
              <a:rPr sz="1278" b="0">
                <a:solidFill>
                  <a:srgbClr val="438565"/>
                </a:solidFill>
                <a:latin typeface="Arial"/>
                <a:ea typeface="Arial"/>
                <a:cs typeface="Arial"/>
              </a:rPr>
              <a:t>α</a:t>
            </a:r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8C6FCDEA-FD70-4E8E-9342-8E4E277A4D37}"/>
              </a:ext>
            </a:extLst>
          </p:cNvPr>
          <p:cNvSpPr>
            <a:spLocks noGrp="1"/>
          </p:cNvSpPr>
          <p:nvPr/>
        </p:nvSpPr>
        <p:spPr>
          <a:xfrm>
            <a:off x="9279001" y="4609084"/>
            <a:ext cx="9525" cy="81153"/>
          </a:xfrm>
          <a:custGeom>
            <a:avLst/>
            <a:gdLst/>
            <a:ahLst/>
            <a:cxnLst/>
            <a:rect l="0" t="0" r="0" b="0"/>
            <a:pathLst>
              <a:path w="9525" h="81153">
                <a:moveTo>
                  <a:pt x="0" y="0"/>
                </a:moveTo>
                <a:lnTo>
                  <a:pt x="0" y="81153"/>
                </a:lnTo>
              </a:path>
            </a:pathLst>
          </a:custGeom>
          <a:noFill/>
          <a:ln w="10820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1755263C-EA63-41A8-A947-729E90626EC4}"/>
              </a:ext>
            </a:extLst>
          </p:cNvPr>
          <p:cNvSpPr>
            <a:spLocks noGrp="1"/>
          </p:cNvSpPr>
          <p:nvPr/>
        </p:nvSpPr>
        <p:spPr>
          <a:xfrm>
            <a:off x="9251546" y="4633402"/>
            <a:ext cx="54909" cy="56835"/>
          </a:xfrm>
          <a:custGeom>
            <a:avLst/>
            <a:gdLst/>
            <a:ahLst/>
            <a:cxnLst/>
            <a:rect l="0" t="0" r="0" b="0"/>
            <a:pathLst>
              <a:path w="54909" h="56835">
                <a:moveTo>
                  <a:pt x="27455" y="56835"/>
                </a:moveTo>
                <a:lnTo>
                  <a:pt x="0" y="0"/>
                </a:lnTo>
                <a:lnTo>
                  <a:pt x="54909" y="0"/>
                </a:lnTo>
                <a:close/>
              </a:path>
            </a:pathLst>
          </a:custGeom>
          <a:solidFill>
            <a:srgbClr val="438565"/>
          </a:solidFill>
          <a:ln w="0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630EC637-2649-4C51-B4A9-3C31ECF65A80}"/>
              </a:ext>
            </a:extLst>
          </p:cNvPr>
          <p:cNvSpPr>
            <a:spLocks noGrp="1"/>
          </p:cNvSpPr>
          <p:nvPr/>
        </p:nvSpPr>
        <p:spPr>
          <a:xfrm>
            <a:off x="9468358" y="3797554"/>
            <a:ext cx="757428" cy="1064006"/>
          </a:xfrm>
          <a:custGeom>
            <a:avLst/>
            <a:gdLst/>
            <a:ahLst/>
            <a:cxnLst/>
            <a:rect l="0" t="0" r="0" b="0"/>
            <a:pathLst>
              <a:path w="757428" h="1064006">
                <a:moveTo>
                  <a:pt x="0" y="1064006"/>
                </a:moveTo>
                <a:lnTo>
                  <a:pt x="459867" y="1064006"/>
                </a:lnTo>
                <a:lnTo>
                  <a:pt x="459867" y="0"/>
                </a:lnTo>
                <a:lnTo>
                  <a:pt x="757428" y="0"/>
                </a:lnTo>
              </a:path>
            </a:pathLst>
          </a:custGeom>
          <a:noFill/>
          <a:ln w="16231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7920D02-3EA3-474A-A5C7-EEF06C40DCA6}"/>
              </a:ext>
            </a:extLst>
          </p:cNvPr>
          <p:cNvSpPr>
            <a:spLocks noGrp="1"/>
          </p:cNvSpPr>
          <p:nvPr/>
        </p:nvSpPr>
        <p:spPr>
          <a:xfrm>
            <a:off x="10168951" y="3770099"/>
            <a:ext cx="56835" cy="54909"/>
          </a:xfrm>
          <a:custGeom>
            <a:avLst/>
            <a:gdLst/>
            <a:ahLst/>
            <a:cxnLst/>
            <a:rect l="0" t="0" r="0" b="0"/>
            <a:pathLst>
              <a:path w="56835" h="54909">
                <a:moveTo>
                  <a:pt x="56835" y="27455"/>
                </a:moveTo>
                <a:lnTo>
                  <a:pt x="0" y="54909"/>
                </a:lnTo>
                <a:lnTo>
                  <a:pt x="0" y="0"/>
                </a:lnTo>
                <a:close/>
              </a:path>
            </a:pathLst>
          </a:custGeom>
          <a:solidFill>
            <a:srgbClr val="438565"/>
          </a:solidFill>
          <a:ln w="0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5" name="图片 19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135715" y="3013075"/>
            <a:ext cx="1370387" cy="1019823"/>
          </a:xfrm>
          <a:prstGeom prst="rect">
            <a:avLst/>
          </a:prstGeom>
        </p:spPr>
      </p:pic>
      <p:sp>
        <p:nvSpPr>
          <p:cNvPr id="87" name="矩形 86">
            <a:extLst>
              <a:ext uri="{FF2B5EF4-FFF2-40B4-BE49-F238E27FC236}">
                <a16:creationId xmlns:a16="http://schemas.microsoft.com/office/drawing/2014/main" id="{63E45A36-54E4-4DD1-96D1-8771723AD4F5}"/>
              </a:ext>
            </a:extLst>
          </p:cNvPr>
          <p:cNvSpPr>
            <a:spLocks noGrp="1"/>
          </p:cNvSpPr>
          <p:nvPr/>
        </p:nvSpPr>
        <p:spPr>
          <a:xfrm>
            <a:off x="10135616" y="2652395"/>
            <a:ext cx="1370584" cy="2524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91" b="1">
                <a:solidFill>
                  <a:srgbClr val="438565"/>
                </a:solidFill>
                <a:latin typeface="Arial"/>
                <a:ea typeface="Arial"/>
                <a:cs typeface="Arial"/>
              </a:defRPr>
            </a:pPr>
            <a:r>
              <a:rPr sz="1491" b="1">
                <a:solidFill>
                  <a:srgbClr val="438565"/>
                </a:solidFill>
                <a:latin typeface="Arial"/>
                <a:ea typeface="Arial"/>
                <a:cs typeface="Arial"/>
              </a:rPr>
              <a:t>Final image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13F0027-1604-4645-99BD-9DD81A255FDA}"/>
              </a:ext>
            </a:extLst>
          </p:cNvPr>
          <p:cNvSpPr>
            <a:spLocks noGrp="1"/>
          </p:cNvSpPr>
          <p:nvPr/>
        </p:nvSpPr>
        <p:spPr>
          <a:xfrm>
            <a:off x="9504426" y="5222240"/>
            <a:ext cx="2001774" cy="2524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7" b="0">
                <a:solidFill>
                  <a:srgbClr val="438565"/>
                </a:solidFill>
                <a:latin typeface="Arial"/>
                <a:ea typeface="Arial"/>
                <a:cs typeface="Arial"/>
              </a:defRPr>
            </a:pPr>
            <a:r>
              <a:rPr sz="1207" b="0">
                <a:solidFill>
                  <a:srgbClr val="438565"/>
                </a:solidFill>
                <a:latin typeface="Arial"/>
                <a:ea typeface="Arial"/>
                <a:cs typeface="Arial"/>
              </a:rPr>
              <a:t>Iout = αJₜ* + (1−α)I</a:t>
            </a:r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C96EC193-BA72-48FA-A6AF-8665DD012052}"/>
              </a:ext>
            </a:extLst>
          </p:cNvPr>
          <p:cNvSpPr>
            <a:spLocks noGrp="1"/>
          </p:cNvSpPr>
          <p:nvPr/>
        </p:nvSpPr>
        <p:spPr>
          <a:xfrm>
            <a:off x="541528" y="3454908"/>
            <a:ext cx="8737473" cy="2335403"/>
          </a:xfrm>
          <a:custGeom>
            <a:avLst/>
            <a:gdLst/>
            <a:ahLst/>
            <a:cxnLst/>
            <a:rect l="0" t="0" r="0" b="0"/>
            <a:pathLst>
              <a:path w="8737473" h="2335403">
                <a:moveTo>
                  <a:pt x="144272" y="0"/>
                </a:moveTo>
                <a:lnTo>
                  <a:pt x="0" y="0"/>
                </a:lnTo>
                <a:lnTo>
                  <a:pt x="0" y="2335403"/>
                </a:lnTo>
                <a:lnTo>
                  <a:pt x="8737473" y="2335403"/>
                </a:lnTo>
                <a:lnTo>
                  <a:pt x="8737473" y="1586992"/>
                </a:lnTo>
              </a:path>
            </a:pathLst>
          </a:custGeom>
          <a:noFill/>
          <a:ln w="11722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AC3A90EC-2DBC-48AE-84A3-AF9417861120}"/>
              </a:ext>
            </a:extLst>
          </p:cNvPr>
          <p:cNvSpPr>
            <a:spLocks noGrp="1"/>
          </p:cNvSpPr>
          <p:nvPr/>
        </p:nvSpPr>
        <p:spPr>
          <a:xfrm>
            <a:off x="9251546" y="5041900"/>
            <a:ext cx="54909" cy="56835"/>
          </a:xfrm>
          <a:custGeom>
            <a:avLst/>
            <a:gdLst/>
            <a:ahLst/>
            <a:cxnLst/>
            <a:rect l="0" t="0" r="0" b="0"/>
            <a:pathLst>
              <a:path w="54909" h="56835">
                <a:moveTo>
                  <a:pt x="27455" y="0"/>
                </a:moveTo>
                <a:lnTo>
                  <a:pt x="54909" y="56835"/>
                </a:lnTo>
                <a:lnTo>
                  <a:pt x="0" y="56835"/>
                </a:lnTo>
                <a:close/>
              </a:path>
            </a:pathLst>
          </a:custGeom>
          <a:solidFill>
            <a:srgbClr val="438565"/>
          </a:solidFill>
          <a:ln w="0">
            <a:solidFill>
              <a:srgbClr val="43856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FF1DE003-9C10-4716-9991-8D0C629F5A45}"/>
              </a:ext>
            </a:extLst>
          </p:cNvPr>
          <p:cNvSpPr>
            <a:spLocks noGrp="1"/>
          </p:cNvSpPr>
          <p:nvPr/>
        </p:nvSpPr>
        <p:spPr>
          <a:xfrm>
            <a:off x="1803908" y="5420614"/>
            <a:ext cx="2407539" cy="225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94" b="0">
                <a:solidFill>
                  <a:srgbClr val="438565"/>
                </a:solidFill>
                <a:latin typeface="Arial"/>
                <a:ea typeface="Arial"/>
                <a:cs typeface="Arial"/>
              </a:defRPr>
            </a:pPr>
            <a:r>
              <a:rPr sz="994" b="0">
                <a:solidFill>
                  <a:srgbClr val="438565"/>
                </a:solidFill>
                <a:latin typeface="Arial"/>
                <a:ea typeface="Arial"/>
                <a:cs typeface="Arial"/>
              </a:rPr>
              <a:t>Original I · background preservation</a:t>
            </a: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9C7F9FC2-2906-4F59-9B85-F160E831DC40}"/>
              </a:ext>
            </a:extLst>
          </p:cNvPr>
          <p:cNvSpPr>
            <a:spLocks noGrp="1"/>
          </p:cNvSpPr>
          <p:nvPr/>
        </p:nvSpPr>
        <p:spPr>
          <a:xfrm>
            <a:off x="2399030" y="1949069"/>
            <a:ext cx="3642868" cy="45085"/>
          </a:xfrm>
          <a:custGeom>
            <a:avLst/>
            <a:gdLst/>
            <a:ahLst/>
            <a:cxnLst/>
            <a:rect l="0" t="0" r="0" b="0"/>
            <a:pathLst>
              <a:path w="3642868" h="45085">
                <a:moveTo>
                  <a:pt x="0" y="0"/>
                </a:moveTo>
                <a:lnTo>
                  <a:pt x="0" y="45085"/>
                </a:lnTo>
                <a:lnTo>
                  <a:pt x="3642868" y="45085"/>
                </a:lnTo>
                <a:lnTo>
                  <a:pt x="3642868" y="0"/>
                </a:lnTo>
              </a:path>
            </a:pathLst>
          </a:custGeom>
          <a:noFill/>
          <a:ln w="9017">
            <a:solidFill>
              <a:srgbClr val="B6403B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210DFB31-C6C4-45BC-9197-8BB2EDC6F515}"/>
              </a:ext>
            </a:extLst>
          </p:cNvPr>
          <p:cNvSpPr>
            <a:spLocks noGrp="1"/>
          </p:cNvSpPr>
          <p:nvPr/>
        </p:nvSpPr>
        <p:spPr>
          <a:xfrm>
            <a:off x="2399030" y="2057273"/>
            <a:ext cx="3642868" cy="2524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 lnSpcReduction="10000"/>
          </a:bodyPr>
          <a:lstStyle/>
          <a:p>
            <a:endParaRPr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E2833EB-3523-4F64-B093-568EDCEDF66E}"/>
              </a:ext>
            </a:extLst>
          </p:cNvPr>
          <p:cNvSpPr>
            <a:spLocks noGrp="1"/>
          </p:cNvSpPr>
          <p:nvPr/>
        </p:nvSpPr>
        <p:spPr>
          <a:xfrm>
            <a:off x="2326894" y="1732661"/>
            <a:ext cx="3814191" cy="2524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1">
                <a:solidFill>
                  <a:srgbClr val="B6403B"/>
                </a:solidFill>
                <a:latin typeface="Arial"/>
                <a:ea typeface="Arial"/>
                <a:cs typeface="Arial"/>
              </a:defRPr>
            </a:pPr>
            <a:r>
              <a:rPr sz="1136" b="1">
                <a:solidFill>
                  <a:srgbClr val="B6403B"/>
                </a:solidFill>
                <a:latin typeface="Arial"/>
                <a:ea typeface="Arial"/>
                <a:cs typeface="Arial"/>
              </a:rPr>
              <a:t>Ours: procedural action control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07DA13A-20DB-4C90-9E6C-E73DC92801A2}"/>
              </a:ext>
            </a:extLst>
          </p:cNvPr>
          <p:cNvSpPr>
            <a:spLocks noGrp="1"/>
          </p:cNvSpPr>
          <p:nvPr/>
        </p:nvSpPr>
        <p:spPr>
          <a:xfrm>
            <a:off x="9279001" y="2192528"/>
            <a:ext cx="2227199" cy="2344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136" b="1">
                <a:solidFill>
                  <a:srgbClr val="438565"/>
                </a:solidFill>
                <a:latin typeface="Arial"/>
                <a:ea typeface="Arial"/>
                <a:cs typeface="Arial"/>
              </a:defRPr>
            </a:pPr>
            <a:r>
              <a:rPr sz="1136" b="1">
                <a:solidFill>
                  <a:srgbClr val="438565"/>
                </a:solidFill>
                <a:latin typeface="Arial"/>
                <a:ea typeface="Arial"/>
                <a:cs typeface="Arial"/>
              </a:rPr>
              <a:t>Ours: local compositing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594B07E-051E-412D-B40A-754E9C4F1231}"/>
              </a:ext>
            </a:extLst>
          </p:cNvPr>
          <p:cNvSpPr>
            <a:spLocks noGrp="1"/>
          </p:cNvSpPr>
          <p:nvPr/>
        </p:nvSpPr>
        <p:spPr>
          <a:xfrm>
            <a:off x="685800" y="6086475"/>
            <a:ext cx="10820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350" b="0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赤：本研究の制御構築　青：既存VACEの生成処理 [1, 6]　緑：本研究の局所合成</a:t>
            </a:r>
          </a:p>
        </p:txBody>
      </p:sp>
    </p:spTree>
    <p:extLst>
      <p:ext uri="{BB962C8B-B14F-4D97-AF65-F5344CB8AC3E}">
        <p14:creationId xmlns:p14="http://schemas.microsoft.com/office/powerpoint/2010/main" val="92206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6DF2FBE-A50C-4785-A7C7-EA3E5CF059D5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相対3D制御：指定した一口を投影する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AFA7B3-3E24-4D0C-8CED-D739B362BC56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E701E6-BDAC-40F8-8C70-6F1105A60B77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3BDFB0-7E22-4606-BF2F-BDE3D12B559A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10BA65-3CF5-4C48-AB02-F4BF057F6259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31051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① 画像上で位置を指定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1AAA51-87E8-4A58-83FB-4C55DDB18E68}"/>
              </a:ext>
            </a:extLst>
          </p:cNvPr>
          <p:cNvSpPr>
            <a:spLocks noGrp="1"/>
          </p:cNvSpPr>
          <p:nvPr/>
        </p:nvSpPr>
        <p:spPr>
          <a:xfrm>
            <a:off x="4476750" y="1762125"/>
            <a:ext cx="31051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② 相対座標で操作を記述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4CBD23-A27C-4915-9435-5D34D5088507}"/>
              </a:ext>
            </a:extLst>
          </p:cNvPr>
          <p:cNvSpPr>
            <a:spLocks noGrp="1"/>
          </p:cNvSpPr>
          <p:nvPr/>
        </p:nvSpPr>
        <p:spPr>
          <a:xfrm>
            <a:off x="8267700" y="1762125"/>
            <a:ext cx="3238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③ RGB制御列を描画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2459" y="2209800"/>
            <a:ext cx="2751832" cy="204787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11034" y="2209800"/>
            <a:ext cx="2751832" cy="20478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775D5A7-C37E-4C61-AD67-2CBF8E988C36}"/>
              </a:ext>
            </a:extLst>
          </p:cNvPr>
          <p:cNvSpPr>
            <a:spLocks noGrp="1"/>
          </p:cNvSpPr>
          <p:nvPr/>
        </p:nvSpPr>
        <p:spPr>
          <a:xfrm>
            <a:off x="3933825" y="3048000"/>
            <a:ext cx="4095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2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849F65-E5FE-4C7D-9F8E-FDC18221DD9D}"/>
              </a:ext>
            </a:extLst>
          </p:cNvPr>
          <p:cNvSpPr>
            <a:spLocks noGrp="1"/>
          </p:cNvSpPr>
          <p:nvPr/>
        </p:nvSpPr>
        <p:spPr>
          <a:xfrm>
            <a:off x="7762875" y="3048000"/>
            <a:ext cx="4095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2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35849A-1941-4EA3-A860-3C5EF7D0F758}"/>
              </a:ext>
            </a:extLst>
          </p:cNvPr>
          <p:cNvSpPr>
            <a:spLocks noGrp="1"/>
          </p:cNvSpPr>
          <p:nvPr/>
        </p:nvSpPr>
        <p:spPr>
          <a:xfrm>
            <a:off x="4476750" y="2247900"/>
            <a:ext cx="31051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65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画素 (u, v) と相対深度 Z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328818-96DD-40AF-93C3-2AD9E6BC0A83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31051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X = (u − cₓ) Z / f</a:t>
            </a:r>
          </a:p>
          <a:p>
            <a:pPr>
              <a:buNone/>
              <a:def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Y = (v − cᵧ) Z / f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2622F5-9853-4434-BDA9-5B0F31AF931D}"/>
              </a:ext>
            </a:extLst>
          </p:cNvPr>
          <p:cNvSpPr>
            <a:spLocks noGrp="1"/>
          </p:cNvSpPr>
          <p:nvPr/>
        </p:nvSpPr>
        <p:spPr>
          <a:xfrm>
            <a:off x="4476750" y="3562350"/>
            <a:ext cx="31051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Pₜ = Rᵧ(θₜ)P + tₜ</a:t>
            </a:r>
          </a:p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uₜ = f Xₜ / Zₜ + cₓ</a:t>
            </a:r>
          </a:p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vₜ = f Yₜ / Zₜ + cᵧ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EC2C6B-F37C-4192-86B1-2681901FFC6F}"/>
              </a:ext>
            </a:extLst>
          </p:cNvPr>
          <p:cNvSpPr>
            <a:spLocks noGrp="1"/>
          </p:cNvSpPr>
          <p:nvPr/>
        </p:nvSpPr>
        <p:spPr>
          <a:xfrm>
            <a:off x="685800" y="4448175"/>
            <a:ext cx="31051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一口・接触点を手動設定</a:t>
            </a:r>
          </a:p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ケーキ：8頂点 × XYZ</a:t>
            </a:r>
          </a:p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道具：線分・曲線で構成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C0FE3C-7364-40C9-A41A-E1EE957FFAC7}"/>
              </a:ext>
            </a:extLst>
          </p:cNvPr>
          <p:cNvSpPr>
            <a:spLocks noGrp="1"/>
          </p:cNvSpPr>
          <p:nvPr/>
        </p:nvSpPr>
        <p:spPr>
          <a:xfrm>
            <a:off x="4476750" y="4686300"/>
            <a:ext cx="31051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深度は相対値を設計</a:t>
            </a:r>
          </a:p>
          <a:p>
            <a:pPr>
              <a:buNone/>
              <a:defRPr sz="135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実測3D・CAD・深度推定ではない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82B95F-5E8C-4838-899C-78052ECBC072}"/>
              </a:ext>
            </a:extLst>
          </p:cNvPr>
          <p:cNvSpPr>
            <a:spLocks noGrp="1"/>
          </p:cNvSpPr>
          <p:nvPr/>
        </p:nvSpPr>
        <p:spPr>
          <a:xfrm>
            <a:off x="8267700" y="4448175"/>
            <a:ext cx="3238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C：21 × 512 × 688 × 3</a:t>
            </a:r>
          </a:p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M：21 × 512 × 688 × 1</a:t>
            </a:r>
          </a:p>
          <a:p>
            <a:pPr>
              <a:buNone/>
              <a:def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RGB制御列と編集マスク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8A3655-CCEF-4E04-972A-48C6F6063036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1082040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7351CB-5C53-473D-AB85-87FDCBEA7722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接近 0–5 → 接触 6–8 → 持ち上げ 9–15 → 停留 16–20（0始まり）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81AD83-605F-4431-9AC2-A4700F47283C}"/>
              </a:ext>
            </a:extLst>
          </p:cNvPr>
          <p:cNvSpPr>
            <a:spLocks noGrp="1"/>
          </p:cNvSpPr>
          <p:nvPr/>
        </p:nvSpPr>
        <p:spPr>
          <a:xfrm>
            <a:off x="685800" y="6162675"/>
            <a:ext cx="108204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 = 825.6、(cₓ, cᵧ) = (344, 256)。M は描画領域の和集合＋膨張・境界平滑化で作成。</a:t>
            </a:r>
          </a:p>
        </p:txBody>
      </p:sp>
    </p:spTree>
    <p:extLst>
      <p:ext uri="{BB962C8B-B14F-4D97-AF65-F5344CB8AC3E}">
        <p14:creationId xmlns:p14="http://schemas.microsoft.com/office/powerpoint/2010/main" val="905972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95EC137-83F7-444A-AA92-CFE3D3C97FBE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VACEが変えるもの：制御の外観と露出領域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82BB53A-1B3A-49E8-A478-18BA52B404E2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83E127-9B2A-4243-8E72-45B58B5749FB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007098-3612-4835-B20B-07DC8325F81B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7CE13C-BA4B-4767-A0F9-CF80B01EF00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2590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入力画像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707869"/>
            <a:ext cx="2590800" cy="192803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A56A6D6-D098-4855-A1C6-5345865E1FE4}"/>
              </a:ext>
            </a:extLst>
          </p:cNvPr>
          <p:cNvSpPr>
            <a:spLocks noGrp="1"/>
          </p:cNvSpPr>
          <p:nvPr/>
        </p:nvSpPr>
        <p:spPr>
          <a:xfrm>
            <a:off x="3429000" y="1933575"/>
            <a:ext cx="2590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最終制御フレーム（t=20）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429000" y="2707869"/>
            <a:ext cx="2590800" cy="192803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4FCCD4-1025-4740-A6E8-4EBDAEC15A40}"/>
              </a:ext>
            </a:extLst>
          </p:cNvPr>
          <p:cNvSpPr>
            <a:spLocks noGrp="1"/>
          </p:cNvSpPr>
          <p:nvPr/>
        </p:nvSpPr>
        <p:spPr>
          <a:xfrm>
            <a:off x="6172200" y="1933575"/>
            <a:ext cx="2590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VACEの原始生成</a:t>
            </a: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72200" y="2707869"/>
            <a:ext cx="2590800" cy="192803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007B12C-EAB9-4C5E-A69F-9888750059C9}"/>
              </a:ext>
            </a:extLst>
          </p:cNvPr>
          <p:cNvSpPr>
            <a:spLocks noGrp="1"/>
          </p:cNvSpPr>
          <p:nvPr/>
        </p:nvSpPr>
        <p:spPr>
          <a:xfrm>
            <a:off x="8915400" y="1933575"/>
            <a:ext cx="2590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最終画像（局所合成）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915400" y="2707869"/>
            <a:ext cx="2590800" cy="192803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663C50B-30A6-475B-94C7-A6F6018A0EB2}"/>
              </a:ext>
            </a:extLst>
          </p:cNvPr>
          <p:cNvSpPr>
            <a:spLocks noGrp="1"/>
          </p:cNvSpPr>
          <p:nvPr/>
        </p:nvSpPr>
        <p:spPr>
          <a:xfrm>
            <a:off x="3429000" y="4972050"/>
            <a:ext cx="25908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位置・動作を指定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C06A96-DB09-4F3B-81F3-0CD03E7C17EE}"/>
              </a:ext>
            </a:extLst>
          </p:cNvPr>
          <p:cNvSpPr>
            <a:spLocks noGrp="1"/>
          </p:cNvSpPr>
          <p:nvPr/>
        </p:nvSpPr>
        <p:spPr>
          <a:xfrm>
            <a:off x="6172200" y="4972050"/>
            <a:ext cx="25908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食材・道具を再描画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8D1458-69C4-416A-9C89-93197A4AD5C4}"/>
              </a:ext>
            </a:extLst>
          </p:cNvPr>
          <p:cNvSpPr>
            <a:spLocks noGrp="1"/>
          </p:cNvSpPr>
          <p:nvPr/>
        </p:nvSpPr>
        <p:spPr>
          <a:xfrm>
            <a:off x="8915400" y="4972050"/>
            <a:ext cx="25908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領域外を元画像に戻す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203777-57B3-4199-A070-F4007876883E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82040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62B2D4-8A14-41E1-A8E6-FDFF657E4F11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8204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学習済みVACEを固定して利用。独自のCondition Encoderは学習していない。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50AF41-743E-44B6-A3D9-1827F23B48E6}"/>
              </a:ext>
            </a:extLst>
          </p:cNvPr>
          <p:cNvSpPr>
            <a:spLocks noGrp="1"/>
          </p:cNvSpPr>
          <p:nvPr/>
        </p:nvSpPr>
        <p:spPr>
          <a:xfrm>
            <a:off x="685800" y="6162675"/>
            <a:ext cx="108204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主比較は全食材でLoRA off。初期の麺・合成スープのLoRA診断 [7] とは区別する。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1A03613-513F-483F-A48E-D5B8AC66EE34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9620250" cy="15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82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[7] E. J. Hu et al., LoRA: Low-Rank Adaptation of Large Language Models. arXiv:2106.09685, 2021.</a:t>
            </a:r>
          </a:p>
        </p:txBody>
      </p:sp>
    </p:spTree>
    <p:extLst>
      <p:ext uri="{BB962C8B-B14F-4D97-AF65-F5344CB8AC3E}">
        <p14:creationId xmlns:p14="http://schemas.microsoft.com/office/powerpoint/2010/main" val="1638475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024A1094-AF4C-44D3-B80B-CA88634AC9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FC8C3E-7D41-4EE0-8E7E-81AC54614A8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9525"/>
          </a:xfrm>
          <a:prstGeom prst="rect">
            <a:avLst/>
          </a:prstGeom>
          <a:solidFill>
            <a:srgbClr val="AAB8C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5B9FF9-BD94-4931-9218-F62DBB4CD95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 lnSpcReduction="10000"/>
          </a:bodyPr>
          <a:lstStyle/>
          <a:p>
            <a:pPr>
              <a:buNone/>
              <a:defRPr sz="12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QUALITATIVE COMPARISON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09EB6B-D15B-4B83-995C-70B5C866BD2E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108204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325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外部編集手法との比較（スープ・炒飯）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BAF24E-B96E-43BD-BA5F-9DE3B8E210F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6D14DB-3989-4EE9-A51F-E45C71DC9D8F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17145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722" lnSpcReduction="10000"/>
          </a:bodyPr>
          <a:lstStyle/>
          <a:p>
            <a:pPr>
              <a:buNone/>
              <a:defRPr sz="900" b="0">
                <a:solidFill>
                  <a:srgbClr val="778792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778792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030CF0-1982-456F-B3CC-A972C5F290DD}"/>
              </a:ext>
            </a:extLst>
          </p:cNvPr>
          <p:cNvSpPr>
            <a:spLocks noGrp="1"/>
          </p:cNvSpPr>
          <p:nvPr/>
        </p:nvSpPr>
        <p:spPr>
          <a:xfrm>
            <a:off x="11087100" y="6505575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 lnSpcReduction="10000"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B1C887-AEE1-418C-9DDD-B46C16542643}"/>
              </a:ext>
            </a:extLst>
          </p:cNvPr>
          <p:cNvSpPr>
            <a:spLocks noGrp="1"/>
          </p:cNvSpPr>
          <p:nvPr/>
        </p:nvSpPr>
        <p:spPr>
          <a:xfrm>
            <a:off x="685800" y="1457325"/>
            <a:ext cx="108204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667" lnSpcReduction="10000"/>
          </a:bodyPr>
          <a:lstStyle/>
          <a:p>
            <a:pPr>
              <a:buNone/>
              <a:defRPr sz="1050" b="0">
                <a:solidFill>
                  <a:srgbClr val="5E6D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E6D78"/>
                </a:solidFill>
                <a:latin typeface="Yu Gothic"/>
                <a:ea typeface="Yu Gothic"/>
                <a:cs typeface="Yu Gothic"/>
              </a:rPr>
              <a:t>共通要求：選択した食物を道具で持ち上げ、元画像の容器・背景を保つ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0F7BD5A-6D3E-4792-A107-3024E23F4A8A}"/>
              </a:ext>
            </a:extLst>
          </p:cNvPr>
          <p:cNvSpPr>
            <a:spLocks noGrp="1"/>
          </p:cNvSpPr>
          <p:nvPr/>
        </p:nvSpPr>
        <p:spPr>
          <a:xfrm>
            <a:off x="981075" y="1752600"/>
            <a:ext cx="2343150" cy="266700"/>
          </a:xfrm>
          <a:prstGeom prst="roundRect">
            <a:avLst>
              <a:gd name="adj" fmla="val 28571"/>
            </a:avLst>
          </a:prstGeom>
          <a:solidFill>
            <a:srgbClr val="F5F7F9"/>
          </a:solidFill>
          <a:ln w="9525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FD14F0-6F7D-4F08-AFC7-82426B8114E0}"/>
              </a:ext>
            </a:extLst>
          </p:cNvPr>
          <p:cNvSpPr>
            <a:spLocks noGrp="1"/>
          </p:cNvSpPr>
          <p:nvPr/>
        </p:nvSpPr>
        <p:spPr>
          <a:xfrm>
            <a:off x="1028700" y="1771650"/>
            <a:ext cx="2247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583" lnSpcReduction="10000"/>
          </a:bodyPr>
          <a:lstStyle/>
          <a:p>
            <a:pPr>
              <a:buNone/>
              <a:defRPr sz="1200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0981AB3-C6F4-462D-9236-78E3ED956819}"/>
              </a:ext>
            </a:extLst>
          </p:cNvPr>
          <p:cNvSpPr>
            <a:spLocks noGrp="1"/>
          </p:cNvSpPr>
          <p:nvPr/>
        </p:nvSpPr>
        <p:spPr>
          <a:xfrm>
            <a:off x="3648075" y="1752600"/>
            <a:ext cx="2343150" cy="266700"/>
          </a:xfrm>
          <a:prstGeom prst="roundRect">
            <a:avLst>
              <a:gd name="adj" fmla="val 28571"/>
            </a:avLst>
          </a:prstGeom>
          <a:solidFill>
            <a:srgbClr val="F5F7F9"/>
          </a:solidFill>
          <a:ln w="9525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7A9BDB-0B34-4FFF-8EAE-89FA37A2C8D4}"/>
              </a:ext>
            </a:extLst>
          </p:cNvPr>
          <p:cNvSpPr>
            <a:spLocks noGrp="1"/>
          </p:cNvSpPr>
          <p:nvPr/>
        </p:nvSpPr>
        <p:spPr>
          <a:xfrm>
            <a:off x="3695700" y="1771650"/>
            <a:ext cx="2247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583" lnSpcReduction="10000"/>
          </a:bodyPr>
          <a:lstStyle/>
          <a:p>
            <a:pPr>
              <a:buNone/>
              <a:defRPr sz="1200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ChordEdit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6C5671F-EEEE-432D-AA9D-35FDC3669AF5}"/>
              </a:ext>
            </a:extLst>
          </p:cNvPr>
          <p:cNvSpPr>
            <a:spLocks noGrp="1"/>
          </p:cNvSpPr>
          <p:nvPr/>
        </p:nvSpPr>
        <p:spPr>
          <a:xfrm>
            <a:off x="6315075" y="1752600"/>
            <a:ext cx="2343150" cy="266700"/>
          </a:xfrm>
          <a:prstGeom prst="roundRect">
            <a:avLst>
              <a:gd name="adj" fmla="val 28571"/>
            </a:avLst>
          </a:prstGeom>
          <a:solidFill>
            <a:srgbClr val="F5F7F9"/>
          </a:solidFill>
          <a:ln w="9525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277A03-2906-4C87-B9B4-347CABEA92A2}"/>
              </a:ext>
            </a:extLst>
          </p:cNvPr>
          <p:cNvSpPr>
            <a:spLocks noGrp="1"/>
          </p:cNvSpPr>
          <p:nvPr/>
        </p:nvSpPr>
        <p:spPr>
          <a:xfrm>
            <a:off x="6362700" y="1771650"/>
            <a:ext cx="2247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583" lnSpcReduction="10000"/>
          </a:bodyPr>
          <a:lstStyle/>
          <a:p>
            <a:pPr>
              <a:buNone/>
              <a:defRPr sz="1200" b="1">
                <a:solidFill>
                  <a:srgbClr val="17364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17364F"/>
                </a:solidFill>
                <a:latin typeface="Yu Gothic"/>
                <a:ea typeface="Yu Gothic"/>
                <a:cs typeface="Yu Gothic"/>
              </a:rPr>
              <a:t>Qwen Image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5950BAF-6582-4886-8342-89C18179923A}"/>
              </a:ext>
            </a:extLst>
          </p:cNvPr>
          <p:cNvSpPr>
            <a:spLocks noGrp="1"/>
          </p:cNvSpPr>
          <p:nvPr/>
        </p:nvSpPr>
        <p:spPr>
          <a:xfrm>
            <a:off x="8982075" y="1752600"/>
            <a:ext cx="2343150" cy="266700"/>
          </a:xfrm>
          <a:prstGeom prst="roundRect">
            <a:avLst>
              <a:gd name="adj" fmla="val 28571"/>
            </a:avLst>
          </a:prstGeom>
          <a:solidFill>
            <a:srgbClr val="FFF1F1"/>
          </a:solidFill>
          <a:ln w="1714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E2923A-A69F-45D7-977A-852709AA4C15}"/>
              </a:ext>
            </a:extLst>
          </p:cNvPr>
          <p:cNvSpPr>
            <a:spLocks noGrp="1"/>
          </p:cNvSpPr>
          <p:nvPr/>
        </p:nvSpPr>
        <p:spPr>
          <a:xfrm>
            <a:off x="9029700" y="1771650"/>
            <a:ext cx="22479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583" lnSpcReduction="10000"/>
          </a:bodyPr>
          <a:lstStyle/>
          <a:p>
            <a:pPr>
              <a:buNone/>
              <a:defRPr sz="1200" b="1">
                <a:solidFill>
                  <a:srgbClr val="C6282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C62828"/>
                </a:solidFill>
                <a:latin typeface="Yu Gothic"/>
                <a:ea typeface="Yu Gothic"/>
                <a:cs typeface="Yu Gothic"/>
              </a:rPr>
              <a:t>FoodStateEdit (Ours)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A99E988-FC7F-43AF-9B69-F526044698C3}"/>
              </a:ext>
            </a:extLst>
          </p:cNvPr>
          <p:cNvSpPr>
            <a:spLocks noGrp="1"/>
          </p:cNvSpPr>
          <p:nvPr/>
        </p:nvSpPr>
        <p:spPr>
          <a:xfrm>
            <a:off x="962025" y="2114550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3"/>
          <a:srcRect t="2477" b="2477"/>
          <a:stretch>
            <a:fillRect/>
          </a:stretch>
        </p:blipFill>
        <p:spPr>
          <a:xfrm>
            <a:off x="981075" y="2133600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A896E06-CEAC-4AF0-8B19-A23900DB096A}"/>
              </a:ext>
            </a:extLst>
          </p:cNvPr>
          <p:cNvSpPr>
            <a:spLocks noGrp="1"/>
          </p:cNvSpPr>
          <p:nvPr/>
        </p:nvSpPr>
        <p:spPr>
          <a:xfrm>
            <a:off x="3629025" y="2114550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/>
        </p:nvPicPr>
        <p:blipFill>
          <a:blip r:embed="rId4"/>
          <a:srcRect t="2477" b="2477"/>
          <a:stretch>
            <a:fillRect/>
          </a:stretch>
        </p:blipFill>
        <p:spPr>
          <a:xfrm>
            <a:off x="3648075" y="2133600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93A7DC6-591F-443C-8B5B-7EE4198BCF50}"/>
              </a:ext>
            </a:extLst>
          </p:cNvPr>
          <p:cNvSpPr>
            <a:spLocks noGrp="1"/>
          </p:cNvSpPr>
          <p:nvPr/>
        </p:nvSpPr>
        <p:spPr>
          <a:xfrm>
            <a:off x="6296025" y="2114550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5"/>
          <a:srcRect t="3267" b="3267"/>
          <a:stretch>
            <a:fillRect/>
          </a:stretch>
        </p:blipFill>
        <p:spPr>
          <a:xfrm>
            <a:off x="6315075" y="2133600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A27DED0-E583-406B-948B-7C759CC8410D}"/>
              </a:ext>
            </a:extLst>
          </p:cNvPr>
          <p:cNvSpPr>
            <a:spLocks noGrp="1"/>
          </p:cNvSpPr>
          <p:nvPr/>
        </p:nvSpPr>
        <p:spPr>
          <a:xfrm>
            <a:off x="8963025" y="2114550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1" name="图片 70"/>
          <p:cNvPicPr>
            <a:picLocks noChangeAspect="1"/>
          </p:cNvPicPr>
          <p:nvPr/>
        </p:nvPicPr>
        <p:blipFill>
          <a:blip r:embed="rId6"/>
          <a:srcRect t="2477" b="2477"/>
          <a:stretch>
            <a:fillRect/>
          </a:stretch>
        </p:blipFill>
        <p:spPr>
          <a:xfrm>
            <a:off x="8982075" y="2133600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13BC13D-4291-470C-B673-8A451B8E953E}"/>
              </a:ext>
            </a:extLst>
          </p:cNvPr>
          <p:cNvSpPr>
            <a:spLocks noGrp="1"/>
          </p:cNvSpPr>
          <p:nvPr/>
        </p:nvSpPr>
        <p:spPr>
          <a:xfrm>
            <a:off x="1057275" y="2209800"/>
            <a:ext cx="723900" cy="238125"/>
          </a:xfrm>
          <a:prstGeom prst="roundRect">
            <a:avLst>
              <a:gd name="adj" fmla="val 32000"/>
            </a:avLst>
          </a:prstGeom>
          <a:solidFill>
            <a:srgbClr val="225C89"/>
          </a:solidFill>
          <a:ln w="0">
            <a:solidFill>
              <a:srgbClr val="225C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9E5ACA-2A38-43E4-ADC5-7DFBE0256564}"/>
              </a:ext>
            </a:extLst>
          </p:cNvPr>
          <p:cNvSpPr>
            <a:spLocks noGrp="1"/>
          </p:cNvSpPr>
          <p:nvPr/>
        </p:nvSpPr>
        <p:spPr>
          <a:xfrm>
            <a:off x="1095375" y="2219325"/>
            <a:ext cx="6477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77" lnSpcReduction="10000"/>
          </a:bodyPr>
          <a:lstStyle/>
          <a:p>
            <a:pPr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スープ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8035BE7-2D8F-4ABF-99B3-82976015FFF3}"/>
              </a:ext>
            </a:extLst>
          </p:cNvPr>
          <p:cNvSpPr>
            <a:spLocks noGrp="1"/>
          </p:cNvSpPr>
          <p:nvPr/>
        </p:nvSpPr>
        <p:spPr>
          <a:xfrm>
            <a:off x="962025" y="4105275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7"/>
          <a:srcRect t="2477" b="2477"/>
          <a:stretch>
            <a:fillRect/>
          </a:stretch>
        </p:blipFill>
        <p:spPr>
          <a:xfrm>
            <a:off x="981075" y="4124325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6A59859-6715-4C72-8467-953EB7188614}"/>
              </a:ext>
            </a:extLst>
          </p:cNvPr>
          <p:cNvSpPr>
            <a:spLocks noGrp="1"/>
          </p:cNvSpPr>
          <p:nvPr/>
        </p:nvSpPr>
        <p:spPr>
          <a:xfrm>
            <a:off x="3629025" y="4105275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8"/>
          <a:srcRect t="2477" b="2477"/>
          <a:stretch>
            <a:fillRect/>
          </a:stretch>
        </p:blipFill>
        <p:spPr>
          <a:xfrm>
            <a:off x="3648075" y="4124325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9005A22-BB9F-440D-BCE3-C7996206C168}"/>
              </a:ext>
            </a:extLst>
          </p:cNvPr>
          <p:cNvSpPr>
            <a:spLocks noGrp="1"/>
          </p:cNvSpPr>
          <p:nvPr/>
        </p:nvSpPr>
        <p:spPr>
          <a:xfrm>
            <a:off x="6296025" y="4105275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9"/>
          <a:srcRect t="3267" b="3267"/>
          <a:stretch>
            <a:fillRect/>
          </a:stretch>
        </p:blipFill>
        <p:spPr>
          <a:xfrm>
            <a:off x="6315075" y="4124325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F1BF5A5-F78F-455F-9345-C082F4E635AC}"/>
              </a:ext>
            </a:extLst>
          </p:cNvPr>
          <p:cNvSpPr>
            <a:spLocks noGrp="1"/>
          </p:cNvSpPr>
          <p:nvPr/>
        </p:nvSpPr>
        <p:spPr>
          <a:xfrm>
            <a:off x="8963025" y="4105275"/>
            <a:ext cx="23812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1430">
            <a:solidFill>
              <a:srgbClr val="CAD8E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10"/>
          <a:srcRect t="2477" b="2477"/>
          <a:stretch>
            <a:fillRect/>
          </a:stretch>
        </p:blipFill>
        <p:spPr>
          <a:xfrm>
            <a:off x="8982075" y="4124325"/>
            <a:ext cx="2343150" cy="1657350"/>
          </a:xfrm>
          <a:prstGeom prst="roundRect">
            <a:avLst>
              <a:gd name="adj" fmla="val 3448"/>
            </a:avLst>
          </a:prstGeom>
        </p:spPr>
      </p:pic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132E06C-1E88-4DF3-BB11-1151188A726C}"/>
              </a:ext>
            </a:extLst>
          </p:cNvPr>
          <p:cNvSpPr>
            <a:spLocks noGrp="1"/>
          </p:cNvSpPr>
          <p:nvPr/>
        </p:nvSpPr>
        <p:spPr>
          <a:xfrm>
            <a:off x="1057275" y="4200525"/>
            <a:ext cx="723900" cy="238125"/>
          </a:xfrm>
          <a:prstGeom prst="roundRect">
            <a:avLst>
              <a:gd name="adj" fmla="val 32000"/>
            </a:avLst>
          </a:prstGeom>
          <a:solidFill>
            <a:srgbClr val="225C89"/>
          </a:solidFill>
          <a:ln w="0">
            <a:solidFill>
              <a:srgbClr val="225C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066EFD-8367-4FC6-8031-E5C94613F73B}"/>
              </a:ext>
            </a:extLst>
          </p:cNvPr>
          <p:cNvSpPr>
            <a:spLocks noGrp="1"/>
          </p:cNvSpPr>
          <p:nvPr/>
        </p:nvSpPr>
        <p:spPr>
          <a:xfrm>
            <a:off x="1095375" y="4210050"/>
            <a:ext cx="6477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577" lnSpcReduction="10000"/>
          </a:bodyPr>
          <a:lstStyle/>
          <a:p>
            <a:pPr>
              <a:buNone/>
              <a:def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炒飯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EA2AE36-92BC-414A-81D6-9C33FF445402}"/>
              </a:ext>
            </a:extLst>
          </p:cNvPr>
          <p:cNvSpPr>
            <a:spLocks noGrp="1"/>
          </p:cNvSpPr>
          <p:nvPr/>
        </p:nvSpPr>
        <p:spPr>
          <a:xfrm>
            <a:off x="1428750" y="5981700"/>
            <a:ext cx="9334500" cy="400050"/>
          </a:xfrm>
          <a:prstGeom prst="roundRect">
            <a:avLst>
              <a:gd name="adj" fmla="val 19048"/>
            </a:avLst>
          </a:prstGeom>
          <a:solidFill>
            <a:srgbClr val="EAF3F8"/>
          </a:solidFill>
          <a:ln w="13335">
            <a:solidFill>
              <a:srgbClr val="225C8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70D9A0A-8C6F-4ACA-BE1F-BB0C73EE837A}"/>
              </a:ext>
            </a:extLst>
          </p:cNvPr>
          <p:cNvSpPr>
            <a:spLocks noGrp="1"/>
          </p:cNvSpPr>
          <p:nvPr/>
        </p:nvSpPr>
        <p:spPr>
          <a:xfrm>
            <a:off x="1619250" y="6048375"/>
            <a:ext cx="8953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667" lnSpcReduction="10000"/>
          </a:bodyPr>
          <a:lstStyle/>
          <a:p>
            <a:pPr>
              <a:buNone/>
              <a:defRPr sz="112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FoodStateEditは操作領域を限定して編集し、元画像の器・背景を保持する。図は選定した出力例。</a:t>
            </a:r>
          </a:p>
        </p:txBody>
      </p:sp>
    </p:spTree>
    <p:extLst>
      <p:ext uri="{BB962C8B-B14F-4D97-AF65-F5344CB8AC3E}">
        <p14:creationId xmlns:p14="http://schemas.microsoft.com/office/powerpoint/2010/main" val="727857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6B5AF34-056C-4A6D-9CCF-BA0B4106CAE3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ケーキの編集例：一口を持ち上げる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23039C-09B7-4069-9713-666297705A4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48AEEF-BBA4-410B-B462-CA3681F1CDCE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B40B97-E40F-43F4-B498-CEB66694AFF1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68EBE5-37C7-4769-AB61-C955517D4DE0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Input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333847"/>
            <a:ext cx="3352800" cy="24951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391F401-102A-46AD-BB42-C7798B041658}"/>
              </a:ext>
            </a:extLst>
          </p:cNvPr>
          <p:cNvSpPr>
            <a:spLocks noGrp="1"/>
          </p:cNvSpPr>
          <p:nvPr/>
        </p:nvSpPr>
        <p:spPr>
          <a:xfrm>
            <a:off x="4419600" y="18288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Qwen Image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47154" y="2333625"/>
            <a:ext cx="3297691" cy="249555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9C2AC67-DD0A-4201-B4EA-CEC1C3435C41}"/>
              </a:ext>
            </a:extLst>
          </p:cNvPr>
          <p:cNvSpPr>
            <a:spLocks noGrp="1"/>
          </p:cNvSpPr>
          <p:nvPr/>
        </p:nvSpPr>
        <p:spPr>
          <a:xfrm>
            <a:off x="8153400" y="182880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FoodStateEdit（Ours）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53400" y="2333847"/>
            <a:ext cx="3352800" cy="249510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77E3B196-B7C6-4699-8AE5-3FC833C2775F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共通の編集要求：フォークで一口分を持ち上げる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4E5C5F-5A1C-44FA-B89D-726A14DA369D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8204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FoodStateEdit：一口の配置を制御し、元画像の構図・皿・背景を保持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F17EAF-9E69-4006-8204-5D5C9A6591D2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108204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合成ケーキの選定例。入力と編集要求を共有し、モデル・後処理は各手法の設定を用いる。</a:t>
            </a:r>
          </a:p>
        </p:txBody>
      </p:sp>
    </p:spTree>
    <p:extLst>
      <p:ext uri="{BB962C8B-B14F-4D97-AF65-F5344CB8AC3E}">
        <p14:creationId xmlns:p14="http://schemas.microsoft.com/office/powerpoint/2010/main" val="40044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A9F9C38B-C1C4-4AEB-84A1-9C8DE3BA7D4B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VACEとの差分：操作を描いた条件列を加える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5ADDF4-D954-40A7-A0C1-62D0AEA4EAC9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AA40BB-80BF-407F-B4D7-79B813EA1F02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A938FB-450C-4190-A997-EB2DA924FCC7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5256EA-5D1D-4166-87F1-C4C927217A1D}"/>
              </a:ext>
            </a:extLst>
          </p:cNvPr>
          <p:cNvSpPr>
            <a:spLocks noGrp="1"/>
          </p:cNvSpPr>
          <p:nvPr/>
        </p:nvSpPr>
        <p:spPr>
          <a:xfrm>
            <a:off x="685800" y="1838325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入力画像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371947"/>
            <a:ext cx="3352800" cy="249510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110BF72-1EEB-47DE-B4E1-1F145EC543BD}"/>
              </a:ext>
            </a:extLst>
          </p:cNvPr>
          <p:cNvSpPr>
            <a:spLocks noGrp="1"/>
          </p:cNvSpPr>
          <p:nvPr/>
        </p:nvSpPr>
        <p:spPr>
          <a:xfrm>
            <a:off x="4419600" y="1838325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VACE：原画像反復条件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419600" y="2371947"/>
            <a:ext cx="3352800" cy="249510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302C23B-F3D4-41B8-908A-85C61E83DD62}"/>
              </a:ext>
            </a:extLst>
          </p:cNvPr>
          <p:cNvSpPr>
            <a:spLocks noGrp="1"/>
          </p:cNvSpPr>
          <p:nvPr/>
        </p:nvSpPr>
        <p:spPr>
          <a:xfrm>
            <a:off x="8153400" y="1838325"/>
            <a:ext cx="3352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53400" y="2371947"/>
            <a:ext cx="3352800" cy="249510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A7C949D-BBB6-47BC-A53B-AC40197B6CA1}"/>
              </a:ext>
            </a:extLst>
          </p:cNvPr>
          <p:cNvSpPr>
            <a:spLocks noGrp="1"/>
          </p:cNvSpPr>
          <p:nvPr/>
        </p:nvSpPr>
        <p:spPr>
          <a:xfrm>
            <a:off x="4419600" y="5067300"/>
            <a:ext cx="335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500" b="1" dirty="0" err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原画像を反復＋text</a:t>
            </a:r>
            <a:r>
              <a:rPr sz="1500" b="1" dirty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 / mask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FDEA59-D7FA-454E-9D52-A3B73CC862F8}"/>
              </a:ext>
            </a:extLst>
          </p:cNvPr>
          <p:cNvSpPr>
            <a:spLocks noGrp="1"/>
          </p:cNvSpPr>
          <p:nvPr/>
        </p:nvSpPr>
        <p:spPr>
          <a:xfrm>
            <a:off x="8153400" y="5067300"/>
            <a:ext cx="3352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操作RGB列＋同じtext / mask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D6A699-7685-4C87-BB95-1C489A67A8F2}"/>
              </a:ext>
            </a:extLst>
          </p:cNvPr>
          <p:cNvSpPr>
            <a:spLocks noGrp="1"/>
          </p:cNvSpPr>
          <p:nvPr/>
        </p:nvSpPr>
        <p:spPr>
          <a:xfrm>
            <a:off x="685800" y="5715000"/>
            <a:ext cx="10721109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 fontScale="92500"/>
          </a:bodyPr>
          <a:lstStyle/>
          <a:p>
            <a:pPr>
              <a:buNone/>
              <a:defRPr sz="172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725" b="1" dirty="0" err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同じ</a:t>
            </a:r>
            <a:r>
              <a:rPr lang="en-US" altLang="zh-CN" sz="1725" b="1" dirty="0" err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prompt</a:t>
            </a:r>
            <a:r>
              <a:rPr lang="zh-CN" altLang="en-US" sz="1725" b="1" dirty="0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：</a:t>
            </a:r>
            <a:r>
              <a:rPr lang="en-US" altLang="zh-CN" sz="1725" b="1" dirty="0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A realistic close-up photograph of the same potage. One stainless-steel spoon scoops and lifts a visible spoonful of thick soup above the surface. Liquid stays inside the concave spoon, with a natural meniscus. Preserve the soup crock, garnish, table and lighting. No hand, no spill, no crater.</a:t>
            </a:r>
            <a:endParaRPr sz="1725" b="1" dirty="0">
              <a:solidFill>
                <a:srgbClr val="225C89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674600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6FF9DE6-21F5-4B64-8B25-110368914721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評価：操作の成立と入力保持を確認する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352D8B-4CF2-4298-8E98-7AFC54C8BF8C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400C45-66D7-4A98-A327-2E2FAF3ED95B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17115E-A396-454A-A93E-6DD2968E9175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F4AEDB-F543-4018-9BA2-82679BA70013}"/>
              </a:ext>
            </a:extLst>
          </p:cNvPr>
          <p:cNvSpPr>
            <a:spLocks noGrp="1"/>
          </p:cNvSpPr>
          <p:nvPr/>
        </p:nvSpPr>
        <p:spPr>
          <a:xfrm>
            <a:off x="809625" y="1876425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Action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9083A9-D93F-4AA3-AC2E-5DC0F38D4408}"/>
              </a:ext>
            </a:extLst>
          </p:cNvPr>
          <p:cNvSpPr>
            <a:spLocks noGrp="1"/>
          </p:cNvSpPr>
          <p:nvPr/>
        </p:nvSpPr>
        <p:spPr>
          <a:xfrm>
            <a:off x="3209925" y="1876425"/>
            <a:ext cx="77914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道具・接触・持上げ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7A7290-7B88-4159-B656-9DAC1A40CC30}"/>
              </a:ext>
            </a:extLst>
          </p:cNvPr>
          <p:cNvSpPr>
            <a:spLocks noGrp="1"/>
          </p:cNvSpPr>
          <p:nvPr/>
        </p:nvSpPr>
        <p:spPr>
          <a:xfrm>
            <a:off x="3209925" y="2276475"/>
            <a:ext cx="77914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指定した道具が食物に接触し、運ぶ動作が成立する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627611-B08A-449A-AE41-CD03D8B3E168}"/>
              </a:ext>
            </a:extLst>
          </p:cNvPr>
          <p:cNvSpPr>
            <a:spLocks noGrp="1"/>
          </p:cNvSpPr>
          <p:nvPr/>
        </p:nvSpPr>
        <p:spPr>
          <a:xfrm>
            <a:off x="809625" y="2724150"/>
            <a:ext cx="1038225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F9B4-B5EC-4E57-A4D1-74F46F29CAA3}"/>
              </a:ext>
            </a:extLst>
          </p:cNvPr>
          <p:cNvSpPr>
            <a:spLocks noGrp="1"/>
          </p:cNvSpPr>
          <p:nvPr/>
        </p:nvSpPr>
        <p:spPr>
          <a:xfrm>
            <a:off x="809625" y="2914650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Photo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384BDF-6386-42F9-A356-AC0060ED02B2}"/>
              </a:ext>
            </a:extLst>
          </p:cNvPr>
          <p:cNvSpPr>
            <a:spLocks noGrp="1"/>
          </p:cNvSpPr>
          <p:nvPr/>
        </p:nvSpPr>
        <p:spPr>
          <a:xfrm>
            <a:off x="3209925" y="2914650"/>
            <a:ext cx="77914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写真としての自然さ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40E192-0FFE-4C65-9CDB-38D2B98FA522}"/>
              </a:ext>
            </a:extLst>
          </p:cNvPr>
          <p:cNvSpPr>
            <a:spLocks noGrp="1"/>
          </p:cNvSpPr>
          <p:nvPr/>
        </p:nvSpPr>
        <p:spPr>
          <a:xfrm>
            <a:off x="3209925" y="3314700"/>
            <a:ext cx="77914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道具や食物に目立つ変形・ぼけ・生成破綻がない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7F5F28-9590-424E-B835-A542ECC27369}"/>
              </a:ext>
            </a:extLst>
          </p:cNvPr>
          <p:cNvSpPr>
            <a:spLocks noGrp="1"/>
          </p:cNvSpPr>
          <p:nvPr/>
        </p:nvSpPr>
        <p:spPr>
          <a:xfrm>
            <a:off x="809625" y="3762375"/>
            <a:ext cx="1038225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0C68D4-022A-406A-8101-376EA2DE1EED}"/>
              </a:ext>
            </a:extLst>
          </p:cNvPr>
          <p:cNvSpPr>
            <a:spLocks noGrp="1"/>
          </p:cNvSpPr>
          <p:nvPr/>
        </p:nvSpPr>
        <p:spPr>
          <a:xfrm>
            <a:off x="809625" y="3952875"/>
            <a:ext cx="22002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Preservation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76F428-B76E-4920-AC64-ABE00E05D34D}"/>
              </a:ext>
            </a:extLst>
          </p:cNvPr>
          <p:cNvSpPr>
            <a:spLocks noGrp="1"/>
          </p:cNvSpPr>
          <p:nvPr/>
        </p:nvSpPr>
        <p:spPr>
          <a:xfrm>
            <a:off x="3209925" y="3952875"/>
            <a:ext cx="77914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72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非編集領域の保持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42186A-5C60-4AA2-82B4-6E3080D3DE76}"/>
              </a:ext>
            </a:extLst>
          </p:cNvPr>
          <p:cNvSpPr>
            <a:spLocks noGrp="1"/>
          </p:cNvSpPr>
          <p:nvPr/>
        </p:nvSpPr>
        <p:spPr>
          <a:xfrm>
            <a:off x="3209925" y="4352925"/>
            <a:ext cx="77914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器・机・背景の画素が元画像と一致する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D1ADE2-DFAF-453D-AF23-5F4208726392}"/>
              </a:ext>
            </a:extLst>
          </p:cNvPr>
          <p:cNvSpPr>
            <a:spLocks noGrp="1"/>
          </p:cNvSpPr>
          <p:nvPr/>
        </p:nvSpPr>
        <p:spPr>
          <a:xfrm>
            <a:off x="809625" y="5191125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025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Strict = Action ∧ Photo ∧ Preservation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0AB28E-5420-4141-A49D-DF74A5DDE415}"/>
              </a:ext>
            </a:extLst>
          </p:cNvPr>
          <p:cNvSpPr>
            <a:spLocks noGrp="1"/>
          </p:cNvSpPr>
          <p:nvPr/>
        </p:nvSpPr>
        <p:spPr>
          <a:xfrm>
            <a:off x="809625" y="5810250"/>
            <a:ext cx="10382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 b="0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PSNR / SSIM：入力との一致度　　領域外MAE：マスク外の平均絶対画素差（0–255）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92D29C-BEE5-4515-889C-6ADC95776192}"/>
              </a:ext>
            </a:extLst>
          </p:cNvPr>
          <p:cNvSpPr>
            <a:spLocks noGrp="1"/>
          </p:cNvSpPr>
          <p:nvPr/>
        </p:nvSpPr>
        <p:spPr>
          <a:xfrm>
            <a:off x="809625" y="6191250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次頁は合成スープ1例・seed 1の選定出力。✓/✗は内部判定であり、独立した人手評価ではない。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882722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CBD1456-8DEE-4C95-ABD8-400FDF85D9DB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選定例：動作・写真自然度・領域外保持を両立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C1AC8E-6424-4CCD-B1D3-7A2686D12C94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19B988-434F-4E29-90A4-85D96EB37299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EA611C-7D21-4A19-8DDF-360D89A6AF64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39757B-A938-4215-88A7-E8F60542BEC0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10820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同一の合成スープ入力・seed 1／3手法の最終出力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685800" y="2352675"/>
          <a:ext cx="10820400" cy="2543175"/>
        </p:xfrm>
        <a:graphic>
          <a:graphicData uri="http://schemas.openxmlformats.org/drawingml/2006/table">
            <a:tbl>
              <a:tblPr/>
              <a:tblGrid>
                <a:gridCol w="241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方法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PSNR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SSIM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領域外</a:t>
                      </a:r>
                    </a:p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MAE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領域外</a:t>
                      </a:r>
                    </a:p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完全一致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Action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Photo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Preser-</a:t>
                      </a:r>
                    </a:p>
                    <a:p>
                      <a:r>
                        <a:rPr sz="1350" b="1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vation</a:t>
                      </a:r>
                    </a:p>
                  </a:txBody>
                  <a:tcPr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ChordEdit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31.78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0.982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Qwen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15.73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0.628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18.192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03343"/>
                          </a:solidFill>
                          <a:latin typeface="Yu Gothic"/>
                          <a:ea typeface="Yu Gothic"/>
                          <a:cs typeface="Yu Gothi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FoodStateEdit</a:t>
                      </a:r>
                    </a:p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（Ours）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20.68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0.965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0.000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100.0%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✓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✓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B53D37"/>
                          </a:solidFill>
                          <a:latin typeface="Yu Gothic"/>
                          <a:ea typeface="Yu Gothic"/>
                          <a:cs typeface="Yu Gothic"/>
                        </a:rPr>
                        <a:t>✓</a:t>
                      </a:r>
                    </a:p>
                  </a:txBody>
                  <a:tcPr>
                    <a:solidFill>
                      <a:srgbClr val="FFF0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FD30FC18-0CAD-4AE5-8BE7-51F5FF07B582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8204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FoodStateEditは、この例で三条件を同時に満たした（内部判定）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BCFE7E-4CF4-4749-A93C-6E7C00055604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領域外保持は局所合成による効果。Qwenはraw出力を評価し、同じ合成処理は適用していない。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D68AE6-4637-48C1-962F-E376523A49D7}"/>
              </a:ext>
            </a:extLst>
          </p:cNvPr>
          <p:cNvSpPr>
            <a:spLocks noGrp="1"/>
          </p:cNvSpPr>
          <p:nvPr/>
        </p:nvSpPr>
        <p:spPr>
          <a:xfrm>
            <a:off x="685800" y="6143625"/>
            <a:ext cx="108204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1例の内部評価。PSNR/SSIMは入力保持の診断であり、動作品質・統計的優位性を示す値ではない。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1134190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FC44C05-5DC9-4965-ACC1-5516C08DE8A4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本研究で確認できた成果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6EE76A-8B36-4688-A496-4E935712306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7768AD-D1EC-4A46-B0B3-909524B42D28}"/>
              </a:ext>
            </a:extLst>
          </p:cNvPr>
          <p:cNvSpPr>
            <a:spLocks noGrp="1"/>
          </p:cNvSpPr>
          <p:nvPr/>
        </p:nvSpPr>
        <p:spPr>
          <a:xfrm>
            <a:off x="809625" y="1885950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3300" b="1">
                <a:solidFill>
                  <a:srgbClr val="B53D37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B53D37"/>
                </a:solidFill>
                <a:latin typeface="Yu Gothic"/>
                <a:ea typeface="Yu Gothic"/>
                <a:cs typeface="Yu Gothic"/>
              </a:rPr>
              <a:t>領域限定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4193A5-2E3D-4F24-BB4C-FB60917658B3}"/>
              </a:ext>
            </a:extLst>
          </p:cNvPr>
          <p:cNvSpPr>
            <a:spLocks noGrp="1"/>
          </p:cNvSpPr>
          <p:nvPr/>
        </p:nvSpPr>
        <p:spPr>
          <a:xfrm>
            <a:off x="2857500" y="1876425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02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局所合成後、マスク外の画素を100%保持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CB180E-2B81-4259-8E96-C9DCECC91DB6}"/>
              </a:ext>
            </a:extLst>
          </p:cNvPr>
          <p:cNvSpPr>
            <a:spLocks noGrp="1"/>
          </p:cNvSpPr>
          <p:nvPr/>
        </p:nvSpPr>
        <p:spPr>
          <a:xfrm>
            <a:off x="2857500" y="2314575"/>
            <a:ext cx="8572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マスク外は元画像を用いる局所合成による保持。生成器単体の性能ではない。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D8AA33-90C1-4B0F-9E2E-E3808474526B}"/>
              </a:ext>
            </a:extLst>
          </p:cNvPr>
          <p:cNvSpPr>
            <a:spLocks noGrp="1"/>
          </p:cNvSpPr>
          <p:nvPr/>
        </p:nvSpPr>
        <p:spPr>
          <a:xfrm>
            <a:off x="809625" y="2962275"/>
            <a:ext cx="1038225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E68420A-9F34-4D27-A607-C44EADCE259B}"/>
              </a:ext>
            </a:extLst>
          </p:cNvPr>
          <p:cNvSpPr>
            <a:spLocks noGrp="1"/>
          </p:cNvSpPr>
          <p:nvPr/>
        </p:nvSpPr>
        <p:spPr>
          <a:xfrm>
            <a:off x="809625" y="3209925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5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三条件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73B1CC-8D02-4D61-8AF6-EE795A012BF5}"/>
              </a:ext>
            </a:extLst>
          </p:cNvPr>
          <p:cNvSpPr>
            <a:spLocks noGrp="1"/>
          </p:cNvSpPr>
          <p:nvPr/>
        </p:nvSpPr>
        <p:spPr>
          <a:xfrm>
            <a:off x="2857500" y="318135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02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操作の成立・写真自然度・領域外保持を両立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C73A9A-B37A-4521-8B28-75031C361DD4}"/>
              </a:ext>
            </a:extLst>
          </p:cNvPr>
          <p:cNvSpPr>
            <a:spLocks noGrp="1"/>
          </p:cNvSpPr>
          <p:nvPr/>
        </p:nvSpPr>
        <p:spPr>
          <a:xfrm>
            <a:off x="2857500" y="3638550"/>
            <a:ext cx="8572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選定した合成スープ1例・seed 1の内部判定（前頁）。全例の成功率ではない。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AF3E3A-87B9-4F91-98D2-A3232ACEC3F7}"/>
              </a:ext>
            </a:extLst>
          </p:cNvPr>
          <p:cNvSpPr>
            <a:spLocks noGrp="1"/>
          </p:cNvSpPr>
          <p:nvPr/>
        </p:nvSpPr>
        <p:spPr>
          <a:xfrm>
            <a:off x="809625" y="4210050"/>
            <a:ext cx="1038225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6B602C-4E00-43B1-84AE-BEB8670E6D97}"/>
              </a:ext>
            </a:extLst>
          </p:cNvPr>
          <p:cNvSpPr>
            <a:spLocks noGrp="1"/>
          </p:cNvSpPr>
          <p:nvPr/>
        </p:nvSpPr>
        <p:spPr>
          <a:xfrm>
            <a:off x="809625" y="4467225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95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追加学習なし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EB5CC7-86B9-4D98-99F5-A19112544561}"/>
              </a:ext>
            </a:extLst>
          </p:cNvPr>
          <p:cNvSpPr>
            <a:spLocks noGrp="1"/>
          </p:cNvSpPr>
          <p:nvPr/>
        </p:nvSpPr>
        <p:spPr>
          <a:xfrm>
            <a:off x="2857500" y="4429125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02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既存VACEへ接続し、複数食材の編集例を作成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2C4CD5-D3A8-49B8-B3EE-B306D1A32B31}"/>
              </a:ext>
            </a:extLst>
          </p:cNvPr>
          <p:cNvSpPr>
            <a:spLocks noGrp="1"/>
          </p:cNvSpPr>
          <p:nvPr/>
        </p:nvSpPr>
        <p:spPr>
          <a:xfrm>
            <a:off x="2857500" y="4886325"/>
            <a:ext cx="8572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麺・スープ・炒飯・ケーキに適用。未使用画像への汎化や3Dの優位性は未検証。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27C206-E85A-4901-8BF2-DB4D8B4CE818}"/>
              </a:ext>
            </a:extLst>
          </p:cNvPr>
          <p:cNvSpPr>
            <a:spLocks noGrp="1"/>
          </p:cNvSpPr>
          <p:nvPr/>
        </p:nvSpPr>
        <p:spPr>
          <a:xfrm>
            <a:off x="809625" y="5562600"/>
            <a:ext cx="1038225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0429FD-FC86-4837-94F3-E4BA6A7F1B52}"/>
              </a:ext>
            </a:extLst>
          </p:cNvPr>
          <p:cNvSpPr>
            <a:spLocks noGrp="1"/>
          </p:cNvSpPr>
          <p:nvPr/>
        </p:nvSpPr>
        <p:spPr>
          <a:xfrm>
            <a:off x="809625" y="5791200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目指す価値：元の料理写真を活かし、「味わう直前」の状態を表現する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6E6A37-AC41-4B24-9901-EE47D9113796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3A949D-43EE-49E7-9481-6BC016FECA57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76584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80BA3EDF-5C3F-42B0-B272-79E71D7F9465}"/>
              </a:ext>
            </a:extLst>
          </p:cNvPr>
          <p:cNvSpPr>
            <a:spLocks noGrp="1"/>
          </p:cNvSpPr>
          <p:nvPr/>
        </p:nvSpPr>
        <p:spPr>
          <a:xfrm>
            <a:off x="685800" y="790575"/>
            <a:ext cx="10820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今後の課題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6C4E3AF-AB70-4902-9771-5003D326F0F0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704850" cy="38100"/>
          </a:xfrm>
          <a:prstGeom prst="rect">
            <a:avLst/>
          </a:prstGeom>
          <a:solidFill>
            <a:srgbClr val="225C89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ACB5AB-FDD4-42AB-91F4-E8C5D7F2B85C}"/>
              </a:ext>
            </a:extLst>
          </p:cNvPr>
          <p:cNvSpPr>
            <a:spLocks noGrp="1"/>
          </p:cNvSpPr>
          <p:nvPr/>
        </p:nvSpPr>
        <p:spPr>
          <a:xfrm>
            <a:off x="809625" y="1809750"/>
            <a:ext cx="2286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追加検証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AB95D5-4045-4952-9334-34E714E42A99}"/>
              </a:ext>
            </a:extLst>
          </p:cNvPr>
          <p:cNvSpPr>
            <a:spLocks noGrp="1"/>
          </p:cNvSpPr>
          <p:nvPr/>
        </p:nvSpPr>
        <p:spPr>
          <a:xfrm>
            <a:off x="809625" y="2305050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汎化性能と失敗要因の評価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1E2A88-7260-44A6-A966-AA320753DB45}"/>
              </a:ext>
            </a:extLst>
          </p:cNvPr>
          <p:cNvSpPr>
            <a:spLocks noGrp="1"/>
          </p:cNvSpPr>
          <p:nvPr/>
        </p:nvSpPr>
        <p:spPr>
          <a:xfrm>
            <a:off x="809625" y="2733675"/>
            <a:ext cx="50006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未使用の食物・道具、遮蔽や大きな動作で検証</a:t>
            </a:r>
          </a:p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失敗を分類し、相対3D制御の効果を比較する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2DCB51-F69A-4B57-B2E7-3107D5759B9F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持ち上げた食物と元領域の対応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DC8E95-8740-4653-9E3C-518D600ADFAC}"/>
              </a:ext>
            </a:extLst>
          </p:cNvPr>
          <p:cNvSpPr>
            <a:spLocks noGrp="1"/>
          </p:cNvSpPr>
          <p:nvPr/>
        </p:nvSpPr>
        <p:spPr>
          <a:xfrm>
            <a:off x="6419850" y="2733675"/>
            <a:ext cx="50006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食物の複製・取り違え・元領域の残留を評価</a:t>
            </a:r>
          </a:p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見た目だけでなく、選んだ一口との対応を確認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DDB677-02D8-4239-9C81-DDFB504CA538}"/>
              </a:ext>
            </a:extLst>
          </p:cNvPr>
          <p:cNvSpPr>
            <a:spLocks noGrp="1"/>
          </p:cNvSpPr>
          <p:nvPr/>
        </p:nvSpPr>
        <p:spPr>
          <a:xfrm>
            <a:off x="809625" y="3638550"/>
            <a:ext cx="10382250" cy="9525"/>
          </a:xfrm>
          <a:prstGeom prst="rect">
            <a:avLst/>
          </a:prstGeom>
          <a:solidFill>
            <a:srgbClr val="D3DFE7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FB444B-6C4F-4CEF-A1DF-3A4C5FE3F220}"/>
              </a:ext>
            </a:extLst>
          </p:cNvPr>
          <p:cNvSpPr>
            <a:spLocks noGrp="1"/>
          </p:cNvSpPr>
          <p:nvPr/>
        </p:nvSpPr>
        <p:spPr>
          <a:xfrm>
            <a:off x="809625" y="3829050"/>
            <a:ext cx="10382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手法の発展（未実装）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DE91D9F-3B53-48F1-8A4B-08B6A4BAA975}"/>
              </a:ext>
            </a:extLst>
          </p:cNvPr>
          <p:cNvSpPr>
            <a:spLocks noGrp="1"/>
          </p:cNvSpPr>
          <p:nvPr/>
        </p:nvSpPr>
        <p:spPr>
          <a:xfrm>
            <a:off x="809625" y="433387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生成途中での誤り検出・修正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2909C6-E131-475A-AD1F-864E6C619F8D}"/>
              </a:ext>
            </a:extLst>
          </p:cNvPr>
          <p:cNvSpPr>
            <a:spLocks noGrp="1"/>
          </p:cNvSpPr>
          <p:nvPr/>
        </p:nvSpPr>
        <p:spPr>
          <a:xfrm>
            <a:off x="809625" y="4762500"/>
            <a:ext cx="50006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接触や食物の対応を生成途中で確認し、</a:t>
            </a:r>
          </a:p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制御条件へ戻す仕組みを設計・検証する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E2522E-6FB3-450F-ABFF-EBC845310466}"/>
              </a:ext>
            </a:extLst>
          </p:cNvPr>
          <p:cNvSpPr>
            <a:spLocks noGrp="1"/>
          </p:cNvSpPr>
          <p:nvPr/>
        </p:nvSpPr>
        <p:spPr>
          <a:xfrm>
            <a:off x="6419850" y="4333875"/>
            <a:ext cx="5000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203343"/>
                </a:solidFill>
                <a:latin typeface="Yu Gothic"/>
                <a:ea typeface="Yu Gothic"/>
                <a:cs typeface="Yu Gothic"/>
              </a:rPr>
              <a:t>食物の状態遷移のモデル化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1789A9-E920-45C3-9D34-DAA55D01ED8C}"/>
              </a:ext>
            </a:extLst>
          </p:cNvPr>
          <p:cNvSpPr>
            <a:spLocks noGrp="1"/>
          </p:cNvSpPr>
          <p:nvPr/>
        </p:nvSpPr>
        <p:spPr>
          <a:xfrm>
            <a:off x="6419850" y="4762500"/>
            <a:ext cx="50006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元の食物・運ばれる一口・残る部分を対応付け、</a:t>
            </a:r>
          </a:p>
          <a:p>
            <a:pPr>
              <a:buNone/>
              <a:def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接触と支持関係の変化を明示的に扱う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8C9057-950E-437E-951D-15820896EE0B}"/>
              </a:ext>
            </a:extLst>
          </p:cNvPr>
          <p:cNvSpPr>
            <a:spLocks noGrp="1"/>
          </p:cNvSpPr>
          <p:nvPr/>
        </p:nvSpPr>
        <p:spPr>
          <a:xfrm>
            <a:off x="809625" y="5857875"/>
            <a:ext cx="103822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目標：元の料理を保ち、食物が実際に移動したと感じられる編集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AC5445-99BD-4451-A323-76ACB8F75DCA}"/>
              </a:ext>
            </a:extLst>
          </p:cNvPr>
          <p:cNvSpPr>
            <a:spLocks noGrp="1"/>
          </p:cNvSpPr>
          <p:nvPr/>
        </p:nvSpPr>
        <p:spPr>
          <a:xfrm>
            <a:off x="685800" y="6524625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96D7B"/>
                </a:solidFill>
                <a:latin typeface="Yu Gothic"/>
                <a:ea typeface="Yu Gothic"/>
                <a:cs typeface="Yu Gothic"/>
              </a:rPr>
              <a:t>FoodStateEdit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4CABB8-5E0D-4F2D-8D50-94088E78EDB9}"/>
              </a:ext>
            </a:extLst>
          </p:cNvPr>
          <p:cNvSpPr>
            <a:spLocks noGrp="1"/>
          </p:cNvSpPr>
          <p:nvPr/>
        </p:nvSpPr>
        <p:spPr>
          <a:xfrm>
            <a:off x="10496550" y="6496050"/>
            <a:ext cx="10096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225C89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76584278"/>
      </p:ext>
    </p:extLst>
  </p:cSld>
  <p:clrMapOvr>
    <a:masterClrMapping/>
  </p:clrMapOvr>
</p:sld>
</file>

<file path=ppt/theme/theme1.xml><?xml version="1.0" encoding="utf-8"?>
<a:theme xmlns:a="http://schemas.openxmlformats.org/drawingml/2006/main" name="foodstateedit_nakamizo">
  <a:themeElements>
    <a:clrScheme name="foodstateedit_nakamizo">
      <a:dk1>
        <a:srgbClr val="222222"/>
      </a:dk1>
      <a:lt1>
        <a:srgbClr val="FFFFFF"/>
      </a:lt1>
      <a:dk2>
        <a:srgbClr val="1F497D"/>
      </a:dk2>
      <a:lt2>
        <a:srgbClr val="FFFFFF"/>
      </a:lt2>
      <a:accent1>
        <a:srgbClr val="0070C0"/>
      </a:accent1>
      <a:accent2>
        <a:srgbClr val="E31B23"/>
      </a:accent2>
      <a:accent3>
        <a:srgbClr val="5BC0EB"/>
      </a:accent3>
      <a:accent4>
        <a:srgbClr val="0070C0"/>
      </a:accent4>
      <a:accent5>
        <a:srgbClr val="EAF6FC"/>
      </a:accent5>
      <a:accent6>
        <a:srgbClr val="666666"/>
      </a:accent6>
      <a:hlink>
        <a:srgbClr val="E31B23"/>
      </a:hlink>
      <a:folHlink>
        <a:srgbClr val="5BC0EB"/>
      </a:folHlink>
    </a:clrScheme>
    <a:fontScheme name="foodstateedit_nakamizo">
      <a:majorFont>
        <a:latin typeface="Arial"/>
        <a:ea typeface="Yu Gothic"/>
        <a:cs typeface="Arial"/>
        <a:font script="Jpan" typeface="Yu Gothic"/>
        <a:font script="Hang" typeface="Yu Gothic"/>
        <a:font script="Hans" typeface="Yu Gothic"/>
        <a:font script="Hant" typeface="Yu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Yu Gothic"/>
        <a:cs typeface="Arial"/>
        <a:font script="Jpan" typeface="Yu Gothic"/>
        <a:font script="Hang" typeface="Yu Gothic"/>
        <a:font script="Hans" typeface="Yu Gothic"/>
        <a:font script="Hant" typeface="Yu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odstateedit_nakamiz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oodstateedit_nakamizo">
  <a:themeElements>
    <a:clrScheme name="foodstateedit_nakamizo">
      <a:dk1>
        <a:srgbClr val="222222"/>
      </a:dk1>
      <a:lt1>
        <a:srgbClr val="FFFFFF"/>
      </a:lt1>
      <a:dk2>
        <a:srgbClr val="1F497D"/>
      </a:dk2>
      <a:lt2>
        <a:srgbClr val="FFFFFF"/>
      </a:lt2>
      <a:accent1>
        <a:srgbClr val="0070C0"/>
      </a:accent1>
      <a:accent2>
        <a:srgbClr val="E31B23"/>
      </a:accent2>
      <a:accent3>
        <a:srgbClr val="5BC0EB"/>
      </a:accent3>
      <a:accent4>
        <a:srgbClr val="0070C0"/>
      </a:accent4>
      <a:accent5>
        <a:srgbClr val="EAF6FC"/>
      </a:accent5>
      <a:accent6>
        <a:srgbClr val="666666"/>
      </a:accent6>
      <a:hlink>
        <a:srgbClr val="E31B23"/>
      </a:hlink>
      <a:folHlink>
        <a:srgbClr val="5BC0EB"/>
      </a:folHlink>
    </a:clrScheme>
    <a:fontScheme name="foodstateedit_nakamizo">
      <a:majorFont>
        <a:latin typeface="Arial"/>
        <a:ea typeface="Yu Gothic"/>
        <a:cs typeface="Arial"/>
        <a:font script="Jpan" typeface="Yu Gothic"/>
        <a:font script="Hang" typeface="Yu Gothic"/>
        <a:font script="Hans" typeface="Yu Gothic"/>
        <a:font script="Hant" typeface="Yu Gothi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Yu Gothic"/>
        <a:cs typeface="Arial"/>
        <a:font script="Jpan" typeface="Yu Gothic"/>
        <a:font script="Hang" typeface="Yu Gothic"/>
        <a:font script="Hans" typeface="Yu Gothic"/>
        <a:font script="Hant" typeface="Yu Gothi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odstateedit_nakamiz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1587</Words>
  <Application>Microsoft Office PowerPoint</Application>
  <DocSecurity>0</DocSecurity>
  <PresentationFormat>宽屏</PresentationFormat>
  <Paragraphs>305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Yu Gothic</vt:lpstr>
      <vt:lpstr>Arial</vt:lpstr>
      <vt:lpstr>foodstateedit_nakamizo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k2530030</cp:lastModifiedBy>
  <cp:revision>1</cp:revision>
  <dcterms:created xsi:type="dcterms:W3CDTF">2026-09-14T23:21:52Z</dcterms:created>
  <dcterms:modified xsi:type="dcterms:W3CDTF">2026-09-14T23:51:52Z</dcterms:modified>
</cp:coreProperties>
</file>